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49"/>
  </p:notesMasterIdLst>
  <p:sldIdLst>
    <p:sldId id="268" r:id="rId3"/>
    <p:sldId id="784" r:id="rId4"/>
    <p:sldId id="257" r:id="rId5"/>
    <p:sldId id="881" r:id="rId6"/>
    <p:sldId id="883" r:id="rId7"/>
    <p:sldId id="882" r:id="rId8"/>
    <p:sldId id="886" r:id="rId9"/>
    <p:sldId id="824" r:id="rId10"/>
    <p:sldId id="899" r:id="rId11"/>
    <p:sldId id="900" r:id="rId12"/>
    <p:sldId id="901" r:id="rId13"/>
    <p:sldId id="902" r:id="rId14"/>
    <p:sldId id="904" r:id="rId15"/>
    <p:sldId id="814" r:id="rId16"/>
    <p:sldId id="816" r:id="rId17"/>
    <p:sldId id="815" r:id="rId18"/>
    <p:sldId id="817" r:id="rId19"/>
    <p:sldId id="818" r:id="rId20"/>
    <p:sldId id="819" r:id="rId21"/>
    <p:sldId id="820" r:id="rId22"/>
    <p:sldId id="866" r:id="rId23"/>
    <p:sldId id="903" r:id="rId24"/>
    <p:sldId id="822" r:id="rId25"/>
    <p:sldId id="823" r:id="rId26"/>
    <p:sldId id="868" r:id="rId27"/>
    <p:sldId id="872" r:id="rId28"/>
    <p:sldId id="869" r:id="rId29"/>
    <p:sldId id="876" r:id="rId30"/>
    <p:sldId id="877" r:id="rId31"/>
    <p:sldId id="878" r:id="rId32"/>
    <p:sldId id="880" r:id="rId33"/>
    <p:sldId id="879" r:id="rId34"/>
    <p:sldId id="874" r:id="rId35"/>
    <p:sldId id="895" r:id="rId36"/>
    <p:sldId id="821" r:id="rId37"/>
    <p:sldId id="905" r:id="rId38"/>
    <p:sldId id="873" r:id="rId39"/>
    <p:sldId id="870" r:id="rId40"/>
    <p:sldId id="875" r:id="rId41"/>
    <p:sldId id="887" r:id="rId42"/>
    <p:sldId id="888" r:id="rId43"/>
    <p:sldId id="889" r:id="rId44"/>
    <p:sldId id="896" r:id="rId45"/>
    <p:sldId id="898" r:id="rId46"/>
    <p:sldId id="890" r:id="rId47"/>
    <p:sldId id="891" r:id="rId48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DECFD4B-07A4-4EF5-AC07-D097E100D9BF}">
          <p14:sldIdLst>
            <p14:sldId id="268"/>
            <p14:sldId id="784"/>
            <p14:sldId id="257"/>
          </p14:sldIdLst>
        </p14:section>
        <p14:section name="Getting ready" id="{97C6310E-9C98-4631-9DEF-07EEA2F306E7}">
          <p14:sldIdLst>
            <p14:sldId id="881"/>
            <p14:sldId id="883"/>
            <p14:sldId id="882"/>
            <p14:sldId id="886"/>
          </p14:sldIdLst>
        </p14:section>
        <p14:section name="Why LLMs" id="{F7BBE8C6-D884-4B95-9D62-BF9FEBBAC5DF}">
          <p14:sldIdLst/>
        </p14:section>
        <p14:section name="Fine tuning" id="{D12FE25A-9AF2-48DD-A4BA-A7C5489923AB}">
          <p14:sldIdLst>
            <p14:sldId id="824"/>
            <p14:sldId id="899"/>
            <p14:sldId id="900"/>
            <p14:sldId id="901"/>
            <p14:sldId id="902"/>
            <p14:sldId id="904"/>
          </p14:sldIdLst>
        </p14:section>
        <p14:section name="Quantization" id="{26924518-B0ED-4A0F-9769-FC0AB52810A3}">
          <p14:sldIdLst>
            <p14:sldId id="814"/>
            <p14:sldId id="816"/>
            <p14:sldId id="815"/>
            <p14:sldId id="817"/>
            <p14:sldId id="818"/>
            <p14:sldId id="819"/>
            <p14:sldId id="820"/>
            <p14:sldId id="866"/>
            <p14:sldId id="903"/>
            <p14:sldId id="822"/>
            <p14:sldId id="823"/>
            <p14:sldId id="868"/>
            <p14:sldId id="872"/>
            <p14:sldId id="869"/>
            <p14:sldId id="876"/>
            <p14:sldId id="877"/>
            <p14:sldId id="878"/>
            <p14:sldId id="880"/>
            <p14:sldId id="879"/>
          </p14:sldIdLst>
        </p14:section>
        <p14:section name="Conclusions &amp; wrap up" id="{EC4C7A25-74C7-4E7F-BD0A-7A800E8C8FEB}">
          <p14:sldIdLst>
            <p14:sldId id="874"/>
            <p14:sldId id="895"/>
            <p14:sldId id="821"/>
            <p14:sldId id="905"/>
          </p14:sldIdLst>
        </p14:section>
        <p14:section name="Appendices" id="{F3955B0F-5A83-4AC3-9AE3-A7620E350455}">
          <p14:sldIdLst>
            <p14:sldId id="873"/>
            <p14:sldId id="870"/>
            <p14:sldId id="875"/>
            <p14:sldId id="887"/>
            <p14:sldId id="888"/>
            <p14:sldId id="889"/>
            <p14:sldId id="896"/>
            <p14:sldId id="898"/>
            <p14:sldId id="890"/>
            <p14:sldId id="8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6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6CA10-77A8-48CF-B8BB-9A6F09EF999A}" type="datetimeFigureOut">
              <a:rPr lang="LID4096" smtClean="0"/>
              <a:t>01/30/2026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CCFB3-7F5B-4C65-BBB5-73724EC28DC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6286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72ACA-E21A-FAB1-8B69-733D6E599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05FC2-FA14-3CA7-0F56-A0BE0C73CF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3BD32-A4F9-1503-A864-F4B381E89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3F2C-B818-4B8C-9AC9-F1F58AFDE7C6}" type="datetime1">
              <a:rPr lang="LID4096" smtClean="0"/>
              <a:t>01/30/2026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B42A6-3E0A-6E8A-2318-744183562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48507-85CE-1A05-9A96-4285790D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4385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4B464-1F55-AD35-53C8-6F7B9313D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667E8-6B1D-B761-60AA-15B94A32B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DAA97-37A0-8DCE-A321-154D8B2BA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D84F-F300-485B-A204-781A035BF124}" type="datetime1">
              <a:rPr lang="LID4096" smtClean="0"/>
              <a:t>01/30/2026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CEFEE-8A9D-9F3F-0A6F-58047B5C3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DD56F-AF22-E72D-07E2-93BFB3302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19297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D0C41-4445-F2E6-2EB0-2CFE71284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8520B-70B4-B5AF-BBD1-B3CA5FE5B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12803-D7D8-99FC-2FE1-59211F3F2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499A6-9F54-4C9F-A94C-BFA7D4FBB21B}" type="datetime1">
              <a:rPr lang="LID4096" smtClean="0"/>
              <a:t>01/30/2026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2B787-27AA-DA35-ACBD-8D3E7A528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6FCC6-8AC3-2474-5B46-D0DD747F4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934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6C70F-DB8F-33CE-5A79-127AA37A1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0F95E-1B5B-3D9E-5C8C-8782F3FAC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CC2BF-6285-C384-E2FD-E6CA15FB1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9DBB8-D867-5032-550D-D72DC271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74D85-C055-49FC-B1C7-71CF589CD3BE}" type="datetime1">
              <a:rPr lang="LID4096" smtClean="0"/>
              <a:t>01/30/2026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AE0252-04FD-BA17-D0B0-5537A89B0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D98A0-D73A-CA71-EA88-DD2A911E2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68185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9986D-2922-CB43-69C1-388010C6B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184A3-2F99-DCA1-B9F8-BFD385877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A5111-2550-1D4E-F67E-78E5F7558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A59DFF-B228-7743-B06C-2691BD06EF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D5B6A0-1583-58A3-6BE4-FC9B3CCFB8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A16F60-07D2-6CD0-61CA-722C29FC1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C621-78E4-474C-B522-F9EAB1322641}" type="datetime1">
              <a:rPr lang="LID4096" smtClean="0"/>
              <a:t>01/30/2026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3EDA6D-CE13-AC46-EFFE-37806FCB2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68FB79-83D6-47D1-2B02-B1F3B627C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7780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541A3-8492-5607-7CF1-93A1E5E75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4FEDD9-98DD-4404-EFEB-6349332F0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4A1E-04A4-4E65-A600-394CD1772B64}" type="datetime1">
              <a:rPr lang="LID4096" smtClean="0"/>
              <a:t>01/30/2026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3A67DB-9C97-CBF8-B77B-AF4204C7C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CE99F-3D32-90C7-4524-54EEACE84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959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05BD27-D034-476F-2C0B-81BBCE242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70D2-0C90-42ED-AA66-9B8CBA5C543D}" type="datetime1">
              <a:rPr lang="LID4096" smtClean="0"/>
              <a:t>01/30/2026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DD9A2B-B06E-80C1-AA09-B612F57F0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2AA03-A244-2F5E-7C21-643EC4EFA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31097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0B81A-8AE5-A3BE-0D1B-F8F131531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B4213-3733-25EF-80E9-1DB0F0AB3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E5D2DC-9265-6340-ADE4-A35D314A2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E3A22-2739-6B60-06E9-1DD3E1619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DBDB-5E8E-4B83-805E-D72602863BC8}" type="datetime1">
              <a:rPr lang="LID4096" smtClean="0"/>
              <a:t>01/30/2026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9D7F1-8851-D5EF-7CC2-58C335DE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036C2-0CAC-5D5A-A546-713F427BF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28589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B0E4E-007A-346A-CDE4-B46474516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AA096C-8BCE-33E7-346D-EBC2D0EF5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41669-A7E5-D0A1-67F9-7C93B49FD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76520-1278-77A7-922C-4E694839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6E00-DB4B-44DD-8B2F-5EA95B528F60}" type="datetime1">
              <a:rPr lang="LID4096" smtClean="0"/>
              <a:t>01/30/2026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C381A-88B1-70A1-D11F-183C9A8EB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D4315-533C-5DE0-57A8-05DE15F42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82091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C29F8-50BD-01B2-E185-835B5CFF2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9265D1-8034-98EB-55D4-F1D9580A4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EF544-42D2-1C67-2E8D-D01C5F5C3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E8536-8941-4A8C-86FC-1079B35B0344}" type="datetime1">
              <a:rPr lang="LID4096" smtClean="0"/>
              <a:t>01/30/2026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8AB73-C428-07C2-9790-55EECC704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DF852-88E0-1230-7460-4CD212DC1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5076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1BD4DB-A3D8-1B1E-18C0-8084AF8D64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55070-9FBD-2156-3DF8-B86F9E5C4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5930B-A378-AD68-9F6E-FD7F9FA83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C0863-424E-47F8-A54B-EC4DEC67C244}" type="datetime1">
              <a:rPr lang="LID4096" smtClean="0"/>
              <a:t>01/30/2026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0292D-E1E8-0AD7-48A3-4DFDCF8C3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89225-C885-D11D-018F-B901CD441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8474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648" y="392643"/>
            <a:ext cx="1844351" cy="71869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175985" y="-3456972"/>
            <a:ext cx="3833929" cy="121981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52396" y="6352792"/>
            <a:ext cx="2743200" cy="365125"/>
          </a:xfrm>
          <a:prstGeom prst="rect">
            <a:avLst/>
          </a:prstGeom>
        </p:spPr>
        <p:txBody>
          <a:bodyPr/>
          <a:lstStyle/>
          <a:p>
            <a:fld id="{12D417FB-DB75-4510-8AD7-5416595AADD8}" type="datetime1">
              <a:rPr lang="en-US" smtClean="0"/>
              <a:t>2026-01-30</a:t>
            </a:fld>
            <a:endParaRPr lang="en-US"/>
          </a:p>
        </p:txBody>
      </p:sp>
      <p:sp>
        <p:nvSpPr>
          <p:cNvPr id="5" name="Footer Placeholder 4" hidden="1"/>
          <p:cNvSpPr>
            <a:spLocks noGrp="1"/>
          </p:cNvSpPr>
          <p:nvPr>
            <p:ph type="ftr" sz="quarter" idx="11"/>
          </p:nvPr>
        </p:nvSpPr>
        <p:spPr>
          <a:xfrm>
            <a:off x="8610599" y="6356350"/>
            <a:ext cx="2121243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8" name="Rectangle 6"/>
          <p:cNvSpPr/>
          <p:nvPr userDrawn="1"/>
        </p:nvSpPr>
        <p:spPr>
          <a:xfrm flipH="1">
            <a:off x="0" y="4725859"/>
            <a:ext cx="12192000" cy="2162432"/>
          </a:xfrm>
          <a:custGeom>
            <a:avLst/>
            <a:gdLst>
              <a:gd name="connsiteX0" fmla="*/ 0 w 12192000"/>
              <a:gd name="connsiteY0" fmla="*/ 0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0 h 2162432"/>
              <a:gd name="connsiteX0" fmla="*/ 0 w 12192000"/>
              <a:gd name="connsiteY0" fmla="*/ 1169773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1169773 h 2162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2162432">
                <a:moveTo>
                  <a:pt x="0" y="1169773"/>
                </a:moveTo>
                <a:lnTo>
                  <a:pt x="12192000" y="0"/>
                </a:lnTo>
                <a:lnTo>
                  <a:pt x="12192000" y="2162432"/>
                </a:lnTo>
                <a:lnTo>
                  <a:pt x="0" y="2162432"/>
                </a:lnTo>
                <a:lnTo>
                  <a:pt x="0" y="116977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4695568"/>
            <a:ext cx="12192000" cy="2162432"/>
          </a:xfrm>
          <a:custGeom>
            <a:avLst/>
            <a:gdLst>
              <a:gd name="connsiteX0" fmla="*/ 0 w 12192000"/>
              <a:gd name="connsiteY0" fmla="*/ 0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0 h 2162432"/>
              <a:gd name="connsiteX0" fmla="*/ 0 w 12192000"/>
              <a:gd name="connsiteY0" fmla="*/ 1169773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1169773 h 2162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2162432">
                <a:moveTo>
                  <a:pt x="0" y="1169773"/>
                </a:moveTo>
                <a:lnTo>
                  <a:pt x="12192000" y="0"/>
                </a:lnTo>
                <a:lnTo>
                  <a:pt x="12192000" y="2162432"/>
                </a:lnTo>
                <a:lnTo>
                  <a:pt x="0" y="2162432"/>
                </a:lnTo>
                <a:lnTo>
                  <a:pt x="0" y="1169773"/>
                </a:lnTo>
                <a:close/>
              </a:path>
            </a:pathLst>
          </a:custGeom>
          <a:solidFill>
            <a:srgbClr val="DB6D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44" y="5970673"/>
            <a:ext cx="3997596" cy="710771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10347648" y="6245614"/>
            <a:ext cx="1791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FlandersArtSans-Medium" panose="00000600000000000000" pitchFamily="2" charset="0"/>
              </a:rPr>
              <a:t>vscentrum</a:t>
            </a:r>
            <a:r>
              <a:rPr lang="en-US" dirty="0">
                <a:solidFill>
                  <a:schemeClr val="bg2"/>
                </a:solidFill>
              </a:rPr>
              <a:t>.be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49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269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78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84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vscentrum.be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61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580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8700" y="2514600"/>
            <a:ext cx="5067300" cy="3273552"/>
          </a:xfrm>
          <a:prstGeom prst="roundRect">
            <a:avLst>
              <a:gd name="adj" fmla="val 935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882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2587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Work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8700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3038475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048250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058025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067800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215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Work #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ounded Rectangle 3"/>
          <p:cNvSpPr/>
          <p:nvPr userDrawn="1"/>
        </p:nvSpPr>
        <p:spPr>
          <a:xfrm>
            <a:off x="2413589" y="2520359"/>
            <a:ext cx="3572541" cy="1481328"/>
          </a:xfrm>
          <a:prstGeom prst="roundRect">
            <a:avLst>
              <a:gd name="adj" fmla="val 374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 userDrawn="1"/>
        </p:nvSpPr>
        <p:spPr>
          <a:xfrm>
            <a:off x="2413589" y="4309872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 userDrawn="1"/>
        </p:nvSpPr>
        <p:spPr>
          <a:xfrm>
            <a:off x="7590759" y="4309872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 userDrawn="1"/>
        </p:nvSpPr>
        <p:spPr>
          <a:xfrm>
            <a:off x="7590759" y="2520359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8700" y="2525233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210744" y="2519614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028700" y="4314746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210744" y="4314746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625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4318" y="2513013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638931" y="2513013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253162" y="2510219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867393" y="2510219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8794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096000" y="685800"/>
            <a:ext cx="2487613" cy="5486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8678863" y="685800"/>
            <a:ext cx="2487613" cy="5486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9537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028700" y="2514599"/>
            <a:ext cx="5029200" cy="3275013"/>
          </a:xfrm>
          <a:prstGeom prst="roundRect">
            <a:avLst>
              <a:gd name="adj" fmla="val 1492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134100" y="2514598"/>
            <a:ext cx="5029200" cy="3275013"/>
          </a:xfrm>
          <a:prstGeom prst="roundRect">
            <a:avLst>
              <a:gd name="adj" fmla="val 1492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924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42878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804638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569193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330953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75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 Up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52524" y="2681288"/>
            <a:ext cx="4943475" cy="310991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3727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 Up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816725" y="2211388"/>
            <a:ext cx="4208463" cy="254158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257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 Up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861175" y="2692400"/>
            <a:ext cx="3910013" cy="295275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303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1028700" y="685800"/>
            <a:ext cx="5067300" cy="5486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6122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243738"/>
      </p:ext>
    </p:extLst>
  </p:cSld>
  <p:clrMapOvr>
    <a:masterClrMapping/>
  </p:clrMapOvr>
  <p:transition advClick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48E59-F64F-416B-85C7-F58EA54BAF31}" type="datetime1">
              <a:rPr lang="nl-BE" smtClean="0"/>
              <a:t>30/01/2026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166039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5C3B5-60AD-4494-9CFA-8B02B158E887}" type="datetime1">
              <a:rPr lang="nl-BE" smtClean="0"/>
              <a:t>30/01/2026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716875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894A8-27B8-4F4D-B345-90FD4A1447E9}" type="datetime1">
              <a:rPr lang="nl-BE" smtClean="0"/>
              <a:t>30/01/2026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708885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0EF99-E673-4972-A23A-EB3FD1F7D254}" type="datetime1">
              <a:rPr lang="nl-BE" smtClean="0"/>
              <a:t>30/01/2026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6261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871C6F-6642-C42E-005A-BEC74B428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8874F-AEF5-D90E-035B-ACDEC182D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43E91-77E0-6042-4399-E41B356828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9C617-5B96-4D55-A102-97077179EF1D}" type="datetime1">
              <a:rPr lang="LID4096" smtClean="0"/>
              <a:t>01/30/2026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C834B-FA67-3818-3492-C593B42AF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60F39-A292-0E4D-B675-B83A9E435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9C7FA6-5826-4EA5-8536-11A903012AB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5481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720" y="6130213"/>
            <a:ext cx="12188280" cy="727788"/>
          </a:xfrm>
          <a:custGeom>
            <a:avLst/>
            <a:gdLst>
              <a:gd name="connsiteX0" fmla="*/ 0 w 12192000"/>
              <a:gd name="connsiteY0" fmla="*/ 0 h 1268963"/>
              <a:gd name="connsiteX1" fmla="*/ 12192000 w 12192000"/>
              <a:gd name="connsiteY1" fmla="*/ 0 h 1268963"/>
              <a:gd name="connsiteX2" fmla="*/ 12192000 w 12192000"/>
              <a:gd name="connsiteY2" fmla="*/ 1268963 h 1268963"/>
              <a:gd name="connsiteX3" fmla="*/ 0 w 12192000"/>
              <a:gd name="connsiteY3" fmla="*/ 1268963 h 1268963"/>
              <a:gd name="connsiteX4" fmla="*/ 0 w 12192000"/>
              <a:gd name="connsiteY4" fmla="*/ 0 h 1268963"/>
              <a:gd name="connsiteX0" fmla="*/ 0 w 12210662"/>
              <a:gd name="connsiteY0" fmla="*/ 877077 h 1268963"/>
              <a:gd name="connsiteX1" fmla="*/ 12210662 w 12210662"/>
              <a:gd name="connsiteY1" fmla="*/ 0 h 1268963"/>
              <a:gd name="connsiteX2" fmla="*/ 12210662 w 12210662"/>
              <a:gd name="connsiteY2" fmla="*/ 1268963 h 1268963"/>
              <a:gd name="connsiteX3" fmla="*/ 18662 w 12210662"/>
              <a:gd name="connsiteY3" fmla="*/ 1268963 h 1268963"/>
              <a:gd name="connsiteX4" fmla="*/ 0 w 12210662"/>
              <a:gd name="connsiteY4" fmla="*/ 877077 h 1268963"/>
              <a:gd name="connsiteX0" fmla="*/ 0 w 12210662"/>
              <a:gd name="connsiteY0" fmla="*/ 335902 h 727788"/>
              <a:gd name="connsiteX1" fmla="*/ 12210662 w 12210662"/>
              <a:gd name="connsiteY1" fmla="*/ 0 h 727788"/>
              <a:gd name="connsiteX2" fmla="*/ 12210662 w 12210662"/>
              <a:gd name="connsiteY2" fmla="*/ 727788 h 727788"/>
              <a:gd name="connsiteX3" fmla="*/ 18662 w 12210662"/>
              <a:gd name="connsiteY3" fmla="*/ 727788 h 727788"/>
              <a:gd name="connsiteX4" fmla="*/ 0 w 12210662"/>
              <a:gd name="connsiteY4" fmla="*/ 335902 h 727788"/>
              <a:gd name="connsiteX0" fmla="*/ 9330 w 12192000"/>
              <a:gd name="connsiteY0" fmla="*/ 335902 h 727788"/>
              <a:gd name="connsiteX1" fmla="*/ 12192000 w 12192000"/>
              <a:gd name="connsiteY1" fmla="*/ 0 h 727788"/>
              <a:gd name="connsiteX2" fmla="*/ 12192000 w 12192000"/>
              <a:gd name="connsiteY2" fmla="*/ 727788 h 727788"/>
              <a:gd name="connsiteX3" fmla="*/ 0 w 12192000"/>
              <a:gd name="connsiteY3" fmla="*/ 727788 h 727788"/>
              <a:gd name="connsiteX4" fmla="*/ 9330 w 12192000"/>
              <a:gd name="connsiteY4" fmla="*/ 335902 h 727788"/>
              <a:gd name="connsiteX0" fmla="*/ 3720 w 12192000"/>
              <a:gd name="connsiteY0" fmla="*/ 335902 h 727788"/>
              <a:gd name="connsiteX1" fmla="*/ 12192000 w 12192000"/>
              <a:gd name="connsiteY1" fmla="*/ 0 h 727788"/>
              <a:gd name="connsiteX2" fmla="*/ 12192000 w 12192000"/>
              <a:gd name="connsiteY2" fmla="*/ 727788 h 727788"/>
              <a:gd name="connsiteX3" fmla="*/ 0 w 12192000"/>
              <a:gd name="connsiteY3" fmla="*/ 727788 h 727788"/>
              <a:gd name="connsiteX4" fmla="*/ 3720 w 12192000"/>
              <a:gd name="connsiteY4" fmla="*/ 335902 h 727788"/>
              <a:gd name="connsiteX0" fmla="*/ 0 w 12188280"/>
              <a:gd name="connsiteY0" fmla="*/ 335902 h 727788"/>
              <a:gd name="connsiteX1" fmla="*/ 12188280 w 12188280"/>
              <a:gd name="connsiteY1" fmla="*/ 0 h 727788"/>
              <a:gd name="connsiteX2" fmla="*/ 12188280 w 12188280"/>
              <a:gd name="connsiteY2" fmla="*/ 727788 h 727788"/>
              <a:gd name="connsiteX3" fmla="*/ 1890 w 12188280"/>
              <a:gd name="connsiteY3" fmla="*/ 727788 h 727788"/>
              <a:gd name="connsiteX4" fmla="*/ 0 w 12188280"/>
              <a:gd name="connsiteY4" fmla="*/ 335902 h 727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8280" h="727788">
                <a:moveTo>
                  <a:pt x="0" y="335902"/>
                </a:moveTo>
                <a:lnTo>
                  <a:pt x="12188280" y="0"/>
                </a:lnTo>
                <a:lnTo>
                  <a:pt x="12188280" y="727788"/>
                </a:lnTo>
                <a:lnTo>
                  <a:pt x="1890" y="727788"/>
                </a:lnTo>
                <a:lnTo>
                  <a:pt x="0" y="33590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44850" y="6384344"/>
            <a:ext cx="502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F5A1C33-475D-474A-A037-DDAF3DC7AF0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239" y="6229445"/>
            <a:ext cx="1426467" cy="57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50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ast" TargetMode="External"/><Relationship Id="rId2" Type="http://schemas.openxmlformats.org/officeDocument/2006/relationships/hyperlink" Target="mailto:geertjan.bex@uhasselt.be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mistralai/Mistral-7B-v0.1" TargetMode="External"/><Relationship Id="rId2" Type="http://schemas.openxmlformats.org/officeDocument/2006/relationships/hyperlink" Target="https://huggingface.co/meta-llama/Llama-3.2-3B-Instruc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291.png"/><Relationship Id="rId18" Type="http://schemas.openxmlformats.org/officeDocument/2006/relationships/image" Target="../media/image331.png"/><Relationship Id="rId7" Type="http://schemas.openxmlformats.org/officeDocument/2006/relationships/image" Target="../media/image290.png"/><Relationship Id="rId12" Type="http://schemas.openxmlformats.org/officeDocument/2006/relationships/image" Target="../media/image281.png"/><Relationship Id="rId17" Type="http://schemas.openxmlformats.org/officeDocument/2006/relationships/image" Target="../media/image321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11" Type="http://schemas.openxmlformats.org/officeDocument/2006/relationships/image" Target="../media/image330.png"/><Relationship Id="rId5" Type="http://schemas.openxmlformats.org/officeDocument/2006/relationships/image" Target="../media/image11.png"/><Relationship Id="rId15" Type="http://schemas.openxmlformats.org/officeDocument/2006/relationships/image" Target="../media/image311.png"/><Relationship Id="rId10" Type="http://schemas.openxmlformats.org/officeDocument/2006/relationships/image" Target="../media/image271.png"/><Relationship Id="rId4" Type="http://schemas.openxmlformats.org/officeDocument/2006/relationships/image" Target="../media/image270.png"/><Relationship Id="rId9" Type="http://schemas.openxmlformats.org/officeDocument/2006/relationships/image" Target="../media/image260.png"/><Relationship Id="rId14" Type="http://schemas.openxmlformats.org/officeDocument/2006/relationships/image" Target="../media/image30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symbl.ai/developers/blog/a-guide-to-quantization-in-llms/" TargetMode="External"/><Relationship Id="rId3" Type="http://schemas.openxmlformats.org/officeDocument/2006/relationships/hyperlink" Target="https://towardsdatascience.com/paper-walkthrough-attention-is-all-you-need-80399cdc59e1" TargetMode="External"/><Relationship Id="rId7" Type="http://schemas.openxmlformats.org/officeDocument/2006/relationships/hyperlink" Target="https://ai.meta.com/blog/meta-llama-3/" TargetMode="External"/><Relationship Id="rId2" Type="http://schemas.openxmlformats.org/officeDocument/2006/relationships/hyperlink" Target="https://arxiv.org/pdf/1706.0376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decisionforce/understanding-mathematics-behind-floating-point-precisions-24c7aac535e3#:~:text=As%20we%20know%2C%20machines%20understand,Double%2Dprecision%20(FP64)." TargetMode="External"/><Relationship Id="rId5" Type="http://schemas.openxmlformats.org/officeDocument/2006/relationships/hyperlink" Target="https://medium.com/@ngiengkianyew/what-is-relative-positional-encoding-7e2fbaa3b510" TargetMode="External"/><Relationship Id="rId4" Type="http://schemas.openxmlformats.org/officeDocument/2006/relationships/hyperlink" Target="https://towardsdatascience.com/tracing-the-transformer-in-diagrams-95dbeb68160c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neurips.cc/paper_files/paper/2023/file/1feb87871436031bdc0f2beaa62a049b-Paper-Conference.pdf" TargetMode="External"/><Relationship Id="rId2" Type="http://schemas.openxmlformats.org/officeDocument/2006/relationships/hyperlink" Target="https://arxiv.org/abs/2106.09685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vscentrum.be/" TargetMode="External"/><Relationship Id="rId4" Type="http://schemas.openxmlformats.org/officeDocument/2006/relationships/hyperlink" Target="https://www.kdnuggets.com/32-mcp-servers-you-need-to-check-out-now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nda-forge/miniforge/releases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Fine-tuning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Geert Jan Bex (</a:t>
            </a:r>
            <a:r>
              <a:rPr lang="en-US" sz="2800" dirty="0">
                <a:hlinkClick r:id="rId2"/>
              </a:rPr>
              <a:t>geertjan.bex@uhasselt.be</a:t>
            </a:r>
            <a:r>
              <a:rPr lang="en-US" sz="28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785B8-8E3C-4512-97FD-25CAA594590E}"/>
              </a:ext>
            </a:extLst>
          </p:cNvPr>
          <p:cNvSpPr txBox="1"/>
          <p:nvPr/>
        </p:nvSpPr>
        <p:spPr>
          <a:xfrm>
            <a:off x="467169" y="4502383"/>
            <a:ext cx="742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639"/>
                </a:solidFill>
                <a:effectLst/>
                <a:uLnTx/>
                <a:uFillTx/>
                <a:latin typeface="FlandersArtSans-Regular"/>
                <a:ea typeface="+mn-ea"/>
                <a:cs typeface="+mn-cs"/>
              </a:rPr>
              <a:t>License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639"/>
                </a:solidFill>
                <a:effectLst/>
                <a:uLnTx/>
                <a:uFillTx/>
                <a:latin typeface="FlandersArtSans-Regular"/>
                <a:ea typeface="+mn-ea"/>
                <a:cs typeface="+mn-cs"/>
              </a:rPr>
              <a:t>: this presentation is released under the Creative Commons CC BY 4.0,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639"/>
                </a:solidFill>
                <a:effectLst/>
                <a:uLnTx/>
                <a:uFillTx/>
                <a:latin typeface="FlandersArtSans-Regular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639"/>
                </a:solidFill>
                <a:effectLst/>
                <a:uLnTx/>
                <a:uFillTx/>
                <a:latin typeface="FlandersArtSans-Regular"/>
                <a:ea typeface="+mn-ea"/>
                <a:cs typeface="+mn-cs"/>
              </a:rPr>
              <a:t>see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639"/>
                </a:solidFill>
                <a:effectLst/>
                <a:uLnTx/>
                <a:uFillTx/>
                <a:latin typeface="FlandersArtSans-Regular"/>
                <a:ea typeface="+mn-ea"/>
                <a:cs typeface="+mn-cs"/>
                <a:hlinkClick r:id="rId3"/>
              </a:rPr>
              <a:t>https://creativecommons.org/licenses/by/4.0/deed.ast</a:t>
            </a: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srgbClr val="333639"/>
              </a:solidFill>
              <a:effectLst/>
              <a:uLnTx/>
              <a:uFillTx/>
              <a:latin typeface="FlandersArtSans-Regular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5F181-8B42-D8B7-3F48-9711FE6C32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9"/>
          <a:stretch/>
        </p:blipFill>
        <p:spPr bwMode="auto">
          <a:xfrm>
            <a:off x="1181327" y="556682"/>
            <a:ext cx="1534493" cy="1422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389296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E5F573-6165-481B-AC47-5C89E7A1B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 descr="Qr code&#10;&#10;Description automatically generated">
            <a:extLst>
              <a:ext uri="{FF2B5EF4-FFF2-40B4-BE49-F238E27FC236}">
                <a16:creationId xmlns:a16="http://schemas.microsoft.com/office/drawing/2014/main" id="{78E97EA1-949E-42CD-9ADA-2D8F1E328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1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64017-F076-5AC8-6D58-808BBB91C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9678D-314F-8C1A-787F-AD46B653F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Getting ready</a:t>
            </a:r>
          </a:p>
          <a:p>
            <a:r>
              <a:rPr lang="en-US" dirty="0"/>
              <a:t>Why LLMs locally?</a:t>
            </a:r>
          </a:p>
          <a:p>
            <a:r>
              <a:rPr lang="en-US" dirty="0"/>
              <a:t>What are LLMs?</a:t>
            </a:r>
          </a:p>
          <a:p>
            <a:r>
              <a:rPr lang="en-US" dirty="0"/>
              <a:t>Can I run an LLM on my laptop?</a:t>
            </a:r>
          </a:p>
          <a:p>
            <a:r>
              <a:rPr lang="en-US" dirty="0"/>
              <a:t>How can I use LLMs?</a:t>
            </a:r>
          </a:p>
          <a:p>
            <a:r>
              <a:rPr lang="en-US" dirty="0"/>
              <a:t>Can I chat with my data?</a:t>
            </a:r>
          </a:p>
          <a:p>
            <a:r>
              <a:rPr lang="en-US" dirty="0"/>
              <a:t>Shrink your model: quantization</a:t>
            </a:r>
          </a:p>
          <a:p>
            <a:r>
              <a:rPr lang="en-US" dirty="0"/>
              <a:t>Fine-tuning models</a:t>
            </a:r>
          </a:p>
          <a:p>
            <a:r>
              <a:rPr lang="en-US" dirty="0"/>
              <a:t>Can I start from scratch?</a:t>
            </a:r>
          </a:p>
          <a:p>
            <a:r>
              <a:rPr lang="en-US" dirty="0"/>
              <a:t>Conclusions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C299C-7A95-6176-DD20-F8EBDED7F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56400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987E-F054-380D-0300-2219BAC71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ready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8CFEF-AAEF-CC96-4545-02EE5727E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D1377-AEE9-08F2-2A27-89C7D889B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34793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E58FDF-244E-E096-F1AF-763E8585A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repository</a:t>
            </a: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7705E-C0CF-2672-A049-C7E8C4939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repository (clone or download)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B0C5F-07CB-7102-D04E-190F1F7CF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5</a:t>
            </a:fld>
            <a:endParaRPr lang="LID4096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85F47E-7F5C-B87D-534C-82989AB4F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550" y="2437995"/>
            <a:ext cx="4469042" cy="38739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3F9E0C-7EF3-DF2C-A514-46385710E1E8}"/>
              </a:ext>
            </a:extLst>
          </p:cNvPr>
          <p:cNvSpPr txBox="1"/>
          <p:nvPr/>
        </p:nvSpPr>
        <p:spPr>
          <a:xfrm>
            <a:off x="2709699" y="4113337"/>
            <a:ext cx="748448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https://github.com/ENCCS/castiel-multi-gpu-ai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950033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A5354-663F-0915-7BEF-D2AC35371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Hugging Face account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95080-F57C-5548-AD3B-43C8BF8A7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get an account</a:t>
            </a:r>
          </a:p>
          <a:p>
            <a:pPr lvl="1"/>
            <a:r>
              <a:rPr lang="en-US" dirty="0"/>
              <a:t>Go to </a:t>
            </a:r>
            <a:r>
              <a:rPr lang="en-US" dirty="0">
                <a:hlinkClick r:id="rId2"/>
              </a:rPr>
              <a:t>https://huggingface.co/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Click "Sign Up"</a:t>
            </a:r>
          </a:p>
          <a:p>
            <a:pPr lvl="1"/>
            <a:r>
              <a:rPr lang="en-US" dirty="0"/>
              <a:t>Enter required information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68CC3-82D4-1153-FD5F-16DF14A65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7028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E131E-2460-80BE-EF28-14245024C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C4C2A-F3CF-8836-B4D3-E7D9E462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Hugging Face gated repositories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31EC2-2057-3C1D-C353-56163AC60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get permission for gated Llama 3.2 models</a:t>
            </a:r>
          </a:p>
          <a:p>
            <a:pPr lvl="1"/>
            <a:r>
              <a:rPr lang="en-US" dirty="0"/>
              <a:t>Go to </a:t>
            </a:r>
            <a:r>
              <a:rPr lang="en-US" dirty="0">
                <a:hlinkClick r:id="rId2"/>
              </a:rPr>
              <a:t>https://huggingface.co/meta-llama/Llama-3.2-3B-Instruct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Go to </a:t>
            </a:r>
            <a:r>
              <a:rPr lang="en-US" dirty="0">
                <a:hlinkClick r:id="rId3"/>
              </a:rPr>
              <a:t>https://huggingface.co/mistralai/Mistral-7B-v0.1</a:t>
            </a:r>
            <a:r>
              <a:rPr lang="en-US" dirty="0"/>
              <a:t>  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191EC-204F-0B38-87F6-7A3CAB4BA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7</a:t>
            </a:fld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0983-9CD4-1288-7FA8-F4AE98FF22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2601" y="2767263"/>
            <a:ext cx="5674857" cy="20251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E06D5F-6BD3-CDDA-C839-BF7ABF593C15}"/>
              </a:ext>
            </a:extLst>
          </p:cNvPr>
          <p:cNvSpPr txBox="1"/>
          <p:nvPr/>
        </p:nvSpPr>
        <p:spPr>
          <a:xfrm>
            <a:off x="3840480" y="5833130"/>
            <a:ext cx="490512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You will get email confirmation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3132084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BB501-F68B-B187-0E1B-0F5BB3F9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tuning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37F62-2B24-1963-6787-038104F971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2859C-649C-C525-95C1-325A5F84C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91192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B243A-AF8C-B52E-938F-FCBB4F496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fine-tuning?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E2076-7188-0F88-A073-42745BA77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Task specialization</a:t>
            </a:r>
          </a:p>
          <a:p>
            <a:pPr lvl="1"/>
            <a:r>
              <a:rPr lang="en-US" dirty="0"/>
              <a:t>Question answering</a:t>
            </a:r>
          </a:p>
          <a:p>
            <a:pPr lvl="1"/>
            <a:r>
              <a:rPr lang="en-US" dirty="0"/>
              <a:t>Named-entity recognition</a:t>
            </a:r>
          </a:p>
          <a:p>
            <a:pPr lvl="1"/>
            <a:r>
              <a:rPr lang="en-US" dirty="0"/>
              <a:t>Summarization</a:t>
            </a:r>
          </a:p>
          <a:p>
            <a:pPr lvl="1"/>
            <a:r>
              <a:rPr lang="en-US" dirty="0"/>
              <a:t>...</a:t>
            </a:r>
          </a:p>
          <a:p>
            <a:r>
              <a:rPr lang="en-US" dirty="0"/>
              <a:t>Domain-specific specialization</a:t>
            </a:r>
          </a:p>
          <a:p>
            <a:endParaRPr lang="en-US" dirty="0"/>
          </a:p>
          <a:p>
            <a:r>
              <a:rPr lang="en-US" dirty="0"/>
              <a:t>Risks</a:t>
            </a:r>
          </a:p>
          <a:p>
            <a:pPr lvl="1"/>
            <a:r>
              <a:rPr lang="en-US" dirty="0"/>
              <a:t>Lack of alignment</a:t>
            </a:r>
          </a:p>
          <a:p>
            <a:pPr lvl="1"/>
            <a:r>
              <a:rPr lang="en-US" dirty="0"/>
              <a:t>Catastrophic forgetting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5A42D-E041-74D6-3B8A-370D5490B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9</a:t>
            </a:fld>
            <a:endParaRPr lang="LID4096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AF890D-F9D9-E5BE-601E-E5A4A8CCA341}"/>
              </a:ext>
            </a:extLst>
          </p:cNvPr>
          <p:cNvSpPr/>
          <p:nvPr/>
        </p:nvSpPr>
        <p:spPr>
          <a:xfrm rot="1575257">
            <a:off x="4782209" y="4991614"/>
            <a:ext cx="3615559" cy="788276"/>
          </a:xfrm>
          <a:prstGeom prst="roundRect">
            <a:avLst/>
          </a:prstGeom>
          <a:solidFill>
            <a:srgbClr val="FF0000">
              <a:alpha val="37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Expensive!</a:t>
            </a:r>
            <a:endParaRPr lang="LID4096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5710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1AF53-0BBE-ACCA-75F0-41CB3ED75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parameters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3E531-D42D-13E3-9A0D-B84ABFCBD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Problems</a:t>
            </a:r>
          </a:p>
          <a:p>
            <a:pPr lvl="1"/>
            <a:r>
              <a:rPr lang="en-US" dirty="0"/>
              <a:t>Memory consumption</a:t>
            </a:r>
          </a:p>
          <a:p>
            <a:pPr lvl="1"/>
            <a:r>
              <a:rPr lang="en-US" dirty="0"/>
              <a:t>Training time</a:t>
            </a:r>
          </a:p>
          <a:p>
            <a:pPr lvl="1"/>
            <a:r>
              <a:rPr lang="en-US" dirty="0"/>
              <a:t>Catastrophic forgetting</a:t>
            </a:r>
          </a:p>
          <a:p>
            <a:pPr lvl="1"/>
            <a:r>
              <a:rPr lang="en-US" dirty="0"/>
              <a:t>Inference latency</a:t>
            </a:r>
          </a:p>
          <a:p>
            <a:endParaRPr lang="en-US" dirty="0"/>
          </a:p>
          <a:p>
            <a:r>
              <a:rPr lang="en-US" dirty="0"/>
              <a:t>Solution: Parameter-Efficient Fine-Tuning (PEFT)</a:t>
            </a:r>
          </a:p>
          <a:p>
            <a:pPr lvl="1"/>
            <a:r>
              <a:rPr lang="en-US" dirty="0"/>
              <a:t>Adapters</a:t>
            </a:r>
          </a:p>
          <a:p>
            <a:pPr lvl="1"/>
            <a:r>
              <a:rPr lang="en-US" dirty="0" err="1"/>
              <a:t>LoRA</a:t>
            </a:r>
            <a:endParaRPr lang="en-US" dirty="0"/>
          </a:p>
          <a:p>
            <a:pPr lvl="1"/>
            <a:r>
              <a:rPr lang="en-US" dirty="0" err="1"/>
              <a:t>QLoRA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6CF4F-DD84-79A9-949D-A861973C5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4052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A1EF-4688-1B58-EFE8-E793CB0FF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9E54A-A7D1-86EC-E618-B900B1571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adapter layer after</a:t>
            </a:r>
          </a:p>
          <a:p>
            <a:pPr lvl="1"/>
            <a:r>
              <a:rPr lang="en-US" dirty="0"/>
              <a:t>Multi-head attention layers</a:t>
            </a:r>
          </a:p>
          <a:p>
            <a:pPr lvl="1"/>
            <a:r>
              <a:rPr lang="en-US" dirty="0"/>
              <a:t>Feedforward layers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C9159-557B-A993-E16A-9F8101DE2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11</a:t>
            </a:fld>
            <a:endParaRPr lang="LID4096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5CD825A-8B9B-C7E6-29B5-1887B8FB73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8" b="8618"/>
          <a:stretch/>
        </p:blipFill>
        <p:spPr bwMode="auto">
          <a:xfrm>
            <a:off x="2236867" y="3098526"/>
            <a:ext cx="7499693" cy="3622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07A300-6E90-5E3A-47BE-DAA116B51255}"/>
              </a:ext>
            </a:extLst>
          </p:cNvPr>
          <p:cNvSpPr txBox="1"/>
          <p:nvPr/>
        </p:nvSpPr>
        <p:spPr>
          <a:xfrm>
            <a:off x="5894485" y="2109924"/>
            <a:ext cx="5459315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Original weights not modified!</a:t>
            </a:r>
            <a:endParaRPr lang="LID4096" sz="32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85E1A70-B5FD-EC26-FFA4-EB9C30115E90}"/>
              </a:ext>
            </a:extLst>
          </p:cNvPr>
          <p:cNvGrpSpPr/>
          <p:nvPr/>
        </p:nvGrpSpPr>
        <p:grpSpPr>
          <a:xfrm>
            <a:off x="6543675" y="4533900"/>
            <a:ext cx="2995549" cy="1778000"/>
            <a:chOff x="8639175" y="2309376"/>
            <a:chExt cx="2995549" cy="177800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B40DEFE-BD85-0C68-64CF-ED6E0FA3C22C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H="1" flipV="1">
              <a:off x="8639175" y="2309376"/>
              <a:ext cx="1681984" cy="15163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459BBCC-1FCA-55B8-C280-D8F77E2C35B8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H="1" flipV="1">
              <a:off x="8639175" y="3519706"/>
              <a:ext cx="1681984" cy="30606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7F6F25D-907B-3D99-E0F7-D04ABC71031D}"/>
                </a:ext>
              </a:extLst>
            </p:cNvPr>
            <p:cNvSpPr txBox="1"/>
            <p:nvPr/>
          </p:nvSpPr>
          <p:spPr>
            <a:xfrm>
              <a:off x="10321159" y="3564156"/>
              <a:ext cx="131356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Trained</a:t>
              </a:r>
              <a:endParaRPr lang="LID4096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0883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2605-5CA7-0568-C514-10955A46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Low-order Rank Adaptation (</a:t>
            </a:r>
            <a:r>
              <a:rPr lang="en-US" dirty="0" err="1"/>
              <a:t>LoRA</a:t>
            </a:r>
            <a:r>
              <a:rPr lang="en-US" dirty="0"/>
              <a:t>)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C7A8C4-501D-D869-1D3C-B90567414E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LID4096" dirty="0"/>
              </a:p>
              <a:p>
                <a:pPr lvl="1"/>
                <a:endParaRPr lang="LID4096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C7A8C4-501D-D869-1D3C-B90567414E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9C8DF-715F-40DF-FDE6-C197DBAD5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12</a:t>
            </a:fld>
            <a:endParaRPr lang="LID4096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44168AC-FE48-6066-E87A-8CA4AFA8B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271" y="2007476"/>
            <a:ext cx="4199736" cy="3673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388AE9-EC35-BF37-8159-BBEAA621A2F1}"/>
                  </a:ext>
                </a:extLst>
              </p:cNvPr>
              <p:cNvSpPr txBox="1"/>
              <p:nvPr/>
            </p:nvSpPr>
            <p:spPr>
              <a:xfrm>
                <a:off x="1594093" y="4551773"/>
                <a:ext cx="2173866" cy="83099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low-rank approximation</a:t>
                </a:r>
                <a:endParaRPr lang="LID4096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388AE9-EC35-BF37-8159-BBEAA621A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093" y="4551773"/>
                <a:ext cx="2173866" cy="830997"/>
              </a:xfrm>
              <a:prstGeom prst="rect">
                <a:avLst/>
              </a:prstGeom>
              <a:blipFill>
                <a:blip r:embed="rId4"/>
                <a:stretch>
                  <a:fillRect l="-3900" t="-5072" r="-557" b="-1521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9036F353-A857-0346-CC1A-79144CAC3D58}"/>
              </a:ext>
            </a:extLst>
          </p:cNvPr>
          <p:cNvGrpSpPr/>
          <p:nvPr/>
        </p:nvGrpSpPr>
        <p:grpSpPr>
          <a:xfrm>
            <a:off x="8610599" y="3142593"/>
            <a:ext cx="3024125" cy="1121815"/>
            <a:chOff x="8610599" y="3142593"/>
            <a:chExt cx="3024125" cy="1121815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E9A3141-CF3B-F4AF-4B1D-A152C9E044CE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 flipV="1">
              <a:off x="8610600" y="3142593"/>
              <a:ext cx="1710559" cy="68317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E051AA1-9BCA-7A9E-2994-1BE447D4ABBF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>
              <a:off x="8610599" y="3825766"/>
              <a:ext cx="1710560" cy="43864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19AD95-A986-601F-4A1A-FFA069D6176C}"/>
                </a:ext>
              </a:extLst>
            </p:cNvPr>
            <p:cNvSpPr txBox="1"/>
            <p:nvPr/>
          </p:nvSpPr>
          <p:spPr>
            <a:xfrm>
              <a:off x="10321159" y="3564156"/>
              <a:ext cx="131356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Trained</a:t>
              </a:r>
              <a:endParaRPr lang="LID4096" sz="2800" dirty="0"/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3581C51-292F-D0AD-2359-29F0F711EB20}"/>
              </a:ext>
            </a:extLst>
          </p:cNvPr>
          <p:cNvSpPr/>
          <p:nvPr/>
        </p:nvSpPr>
        <p:spPr>
          <a:xfrm>
            <a:off x="1505415" y="3564156"/>
            <a:ext cx="959005" cy="427981"/>
          </a:xfrm>
          <a:prstGeom prst="roundRect">
            <a:avLst/>
          </a:prstGeom>
          <a:solidFill>
            <a:srgbClr val="FF0000">
              <a:alpha val="32941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2FF64E-EA5A-7241-EE5D-FE52892DF657}"/>
              </a:ext>
            </a:extLst>
          </p:cNvPr>
          <p:cNvSpPr txBox="1"/>
          <p:nvPr/>
        </p:nvSpPr>
        <p:spPr>
          <a:xfrm>
            <a:off x="4522885" y="5860666"/>
            <a:ext cx="5459315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Original weights not modified!</a:t>
            </a:r>
            <a:endParaRPr lang="LID4096" sz="3200" dirty="0"/>
          </a:p>
        </p:txBody>
      </p:sp>
    </p:spTree>
    <p:extLst>
      <p:ext uri="{BB962C8B-B14F-4D97-AF65-F5344CB8AC3E}">
        <p14:creationId xmlns:p14="http://schemas.microsoft.com/office/powerpoint/2010/main" val="407115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5B0D5-1F7C-F4E5-9D13-1B1B9114B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Squeezing even more: </a:t>
            </a:r>
            <a:r>
              <a:rPr lang="en-US" dirty="0" err="1"/>
              <a:t>QLoRA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6FA1A-1737-332D-4B0E-498A90C9C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Quantization of pre-trained model</a:t>
            </a:r>
          </a:p>
          <a:p>
            <a:pPr lvl="1"/>
            <a:r>
              <a:rPr lang="en-US" dirty="0"/>
              <a:t>NF4</a:t>
            </a:r>
          </a:p>
          <a:p>
            <a:pPr lvl="1"/>
            <a:r>
              <a:rPr lang="en-US" dirty="0"/>
              <a:t>Block-wise quantization to mitigate outliers</a:t>
            </a:r>
          </a:p>
          <a:p>
            <a:pPr lvl="1"/>
            <a:r>
              <a:rPr lang="en-US" dirty="0"/>
              <a:t>Double quantization: quantize quantization constants</a:t>
            </a:r>
          </a:p>
          <a:p>
            <a:pPr lvl="1"/>
            <a:endParaRPr lang="en-US" dirty="0"/>
          </a:p>
          <a:p>
            <a:r>
              <a:rPr lang="en-US" dirty="0"/>
              <a:t>Dequantization layer-by-layer as required</a:t>
            </a:r>
          </a:p>
          <a:p>
            <a:pPr lvl="1"/>
            <a:r>
              <a:rPr lang="en-US" dirty="0"/>
              <a:t>Forward pass</a:t>
            </a:r>
          </a:p>
          <a:p>
            <a:pPr lvl="1"/>
            <a:r>
              <a:rPr lang="en-US" dirty="0"/>
              <a:t>Backward pass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F040A-2420-E11B-453B-333813B97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4863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BCECA5-53B9-FB76-BF9D-7293D5E97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Shrink your model: quantization</a:t>
            </a:r>
            <a:endParaRPr lang="LID4096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4B45E1-18B3-CCDC-2B03-59AF04371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0E348-9AA7-A529-6ACF-52FC3DC2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01571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19CDB-A1EC-612F-1DE2-B505B6C1A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E09D4C-F881-EC06-117B-77B6B4BA6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representation for training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AEB3D7-EAEF-49FD-AC00-1E07435B5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15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6DD06DD-D24D-EC71-7923-128C92620CF0}"/>
              </a:ext>
            </a:extLst>
          </p:cNvPr>
          <p:cNvGrpSpPr/>
          <p:nvPr/>
        </p:nvGrpSpPr>
        <p:grpSpPr>
          <a:xfrm>
            <a:off x="5289131" y="4559778"/>
            <a:ext cx="6308338" cy="1623882"/>
            <a:chOff x="5289131" y="4559778"/>
            <a:chExt cx="6308338" cy="16238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52EFC88-1CFF-0C16-E892-AF443575ED34}"/>
                    </a:ext>
                  </a:extLst>
                </p:cNvPr>
                <p:cNvSpPr txBox="1"/>
                <p:nvPr/>
              </p:nvSpPr>
              <p:spPr>
                <a:xfrm>
                  <a:off x="5289131" y="4694923"/>
                  <a:ext cx="2375266" cy="6223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BE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B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B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B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B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B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B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B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B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B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nary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255" name="TextBox 102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9131" y="4694923"/>
                  <a:ext cx="2375266" cy="62235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1F74DA7-FFCE-4973-0A80-D8CDA980E6D6}"/>
                </a:ext>
              </a:extLst>
            </p:cNvPr>
            <p:cNvGrpSpPr/>
            <p:nvPr/>
          </p:nvGrpSpPr>
          <p:grpSpPr>
            <a:xfrm>
              <a:off x="7897567" y="4559778"/>
              <a:ext cx="3699902" cy="1623882"/>
              <a:chOff x="7897567" y="4559778"/>
              <a:chExt cx="3699902" cy="1623882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9B6DF814-8F48-5E79-6FCA-EB9872558D1B}"/>
                  </a:ext>
                </a:extLst>
              </p:cNvPr>
              <p:cNvGrpSpPr/>
              <p:nvPr/>
            </p:nvGrpSpPr>
            <p:grpSpPr>
              <a:xfrm>
                <a:off x="7897567" y="4559778"/>
                <a:ext cx="2439634" cy="1623882"/>
                <a:chOff x="9663687" y="4449852"/>
                <a:chExt cx="2439634" cy="1623882"/>
              </a:xfrm>
            </p:grpSpPr>
            <p:pic>
              <p:nvPicPr>
                <p:cNvPr id="9" name="Picture 6" descr="Image result for sigmoid function">
                  <a:extLst>
                    <a:ext uri="{FF2B5EF4-FFF2-40B4-BE49-F238E27FC236}">
                      <a16:creationId xmlns:a16="http://schemas.microsoft.com/office/drawing/2014/main" id="{5B233C9D-2FC9-0E2F-067F-44D275839F7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663687" y="4449852"/>
                  <a:ext cx="2439634" cy="162388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51105284-7CDB-8EFC-D402-A9D54BDACA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716106" y="5570997"/>
                      <a:ext cx="19774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0258" name="TextBox 1025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716106" y="5570997"/>
                      <a:ext cx="197746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2121" r="-9091" b="-22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40A2D399-1CD1-97A1-520A-290C9DF1E71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216977" y="4565104"/>
                      <a:ext cx="52963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0259" name="TextBox 1025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216977" y="4565104"/>
                      <a:ext cx="529632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4598" b="-22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1EFB8F-3DEC-54F8-FDB2-67A81965D972}"/>
                  </a:ext>
                </a:extLst>
              </p:cNvPr>
              <p:cNvSpPr txBox="1"/>
              <p:nvPr/>
            </p:nvSpPr>
            <p:spPr>
              <a:xfrm>
                <a:off x="9537290" y="5065667"/>
                <a:ext cx="20601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E" dirty="0"/>
                  <a:t>activation function</a:t>
                </a:r>
                <a:endParaRPr lang="en-US" dirty="0"/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5EE13D5-AB61-1CC4-2029-6B103FE0AC53}"/>
              </a:ext>
            </a:extLst>
          </p:cNvPr>
          <p:cNvGrpSpPr/>
          <p:nvPr/>
        </p:nvGrpSpPr>
        <p:grpSpPr>
          <a:xfrm>
            <a:off x="594531" y="1902698"/>
            <a:ext cx="4262603" cy="4466136"/>
            <a:chOff x="1446566" y="4037516"/>
            <a:chExt cx="2258759" cy="231831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307EDA0-F785-32E5-F7AC-8F0D09051240}"/>
                </a:ext>
              </a:extLst>
            </p:cNvPr>
            <p:cNvGrpSpPr/>
            <p:nvPr/>
          </p:nvGrpSpPr>
          <p:grpSpPr>
            <a:xfrm>
              <a:off x="1446566" y="4037516"/>
              <a:ext cx="2258759" cy="2318317"/>
              <a:chOff x="1446566" y="4037516"/>
              <a:chExt cx="2258759" cy="231831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B3FD4EAF-2CAC-0A4C-19A9-2AD8D51D36A6}"/>
                      </a:ext>
                    </a:extLst>
                  </p:cNvPr>
                  <p:cNvSpPr txBox="1"/>
                  <p:nvPr/>
                </p:nvSpPr>
                <p:spPr>
                  <a:xfrm>
                    <a:off x="1875231" y="4338164"/>
                    <a:ext cx="33156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BE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B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B3FD4EAF-2CAC-0A4C-19A9-2AD8D51D36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75231" y="4338164"/>
                    <a:ext cx="331565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LID4096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2141F25F-8588-26C4-B69E-C1A18CD1385C}"/>
                      </a:ext>
                    </a:extLst>
                  </p:cNvPr>
                  <p:cNvSpPr txBox="1"/>
                  <p:nvPr/>
                </p:nvSpPr>
                <p:spPr>
                  <a:xfrm>
                    <a:off x="1876455" y="4697581"/>
                    <a:ext cx="33688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BE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2141F25F-8588-26C4-B69E-C1A18CD138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76455" y="4697581"/>
                    <a:ext cx="336887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LID4096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3B475099-CA07-1FD1-F30F-AFA4C625A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886287" y="5068053"/>
                    <a:ext cx="33688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BE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B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3B475099-CA07-1FD1-F30F-AFA4C625A2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86287" y="5068053"/>
                    <a:ext cx="336887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LID4096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8B5E3398-A1BD-5E8A-6E39-631DC6D7C92C}"/>
                      </a:ext>
                    </a:extLst>
                  </p:cNvPr>
                  <p:cNvSpPr txBox="1"/>
                  <p:nvPr/>
                </p:nvSpPr>
                <p:spPr>
                  <a:xfrm>
                    <a:off x="1886286" y="5803267"/>
                    <a:ext cx="36965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BE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BE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2" name="TextBox 4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86286" y="5803267"/>
                    <a:ext cx="369652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6557" r="-4918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B21A746-6552-D820-B2E9-988E4F96F70A}"/>
                      </a:ext>
                    </a:extLst>
                  </p:cNvPr>
                  <p:cNvSpPr txBox="1"/>
                  <p:nvPr/>
                </p:nvSpPr>
                <p:spPr>
                  <a:xfrm>
                    <a:off x="1488494" y="4113704"/>
                    <a:ext cx="225959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BE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BE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B21A746-6552-D820-B2E9-988E4F96F7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8494" y="4113704"/>
                    <a:ext cx="225959" cy="21544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LID4096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F9D967AE-23AB-AC73-DE04-DC27B32B14C7}"/>
                      </a:ext>
                    </a:extLst>
                  </p:cNvPr>
                  <p:cNvSpPr txBox="1"/>
                  <p:nvPr/>
                </p:nvSpPr>
                <p:spPr>
                  <a:xfrm>
                    <a:off x="1480142" y="4699622"/>
                    <a:ext cx="23012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BE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BE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F9D967AE-23AB-AC73-DE04-DC27B32B14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0142" y="4699622"/>
                    <a:ext cx="230128" cy="21544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LID4096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B38D5D43-F9B1-BDC8-9BFB-49F63A13EB82}"/>
                      </a:ext>
                    </a:extLst>
                  </p:cNvPr>
                  <p:cNvSpPr txBox="1"/>
                  <p:nvPr/>
                </p:nvSpPr>
                <p:spPr>
                  <a:xfrm>
                    <a:off x="1480142" y="5290528"/>
                    <a:ext cx="23012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BE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BE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B38D5D43-F9B1-BDC8-9BFB-49F63A13EB8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0142" y="5290528"/>
                    <a:ext cx="230128" cy="21544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LID4096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71835845-95AA-2752-4C1A-D479DC722D22}"/>
                      </a:ext>
                    </a:extLst>
                  </p:cNvPr>
                  <p:cNvSpPr txBox="1"/>
                  <p:nvPr/>
                </p:nvSpPr>
                <p:spPr>
                  <a:xfrm>
                    <a:off x="1462233" y="6140389"/>
                    <a:ext cx="257250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BE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BE" sz="1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71835845-95AA-2752-4C1A-D479DC722D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2233" y="6140389"/>
                    <a:ext cx="257250" cy="21544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LID4096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7F27125-7F10-7F1B-8C3B-CF65F5D3E14E}"/>
                  </a:ext>
                </a:extLst>
              </p:cNvPr>
              <p:cNvGrpSpPr/>
              <p:nvPr/>
            </p:nvGrpSpPr>
            <p:grpSpPr>
              <a:xfrm>
                <a:off x="1446566" y="4037516"/>
                <a:ext cx="2258759" cy="2304282"/>
                <a:chOff x="1446566" y="4037516"/>
                <a:chExt cx="2258759" cy="2304282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4A88928F-32DE-E8DC-6C23-E2AFF442DF72}"/>
                    </a:ext>
                  </a:extLst>
                </p:cNvPr>
                <p:cNvGrpSpPr/>
                <p:nvPr/>
              </p:nvGrpSpPr>
              <p:grpSpPr>
                <a:xfrm>
                  <a:off x="1446566" y="4037516"/>
                  <a:ext cx="2258759" cy="2304282"/>
                  <a:chOff x="1446566" y="4037516"/>
                  <a:chExt cx="2258759" cy="2304282"/>
                </a:xfrm>
              </p:grpSpPr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238265F6-D568-FA7E-2F41-67094F8229C8}"/>
                      </a:ext>
                    </a:extLst>
                  </p:cNvPr>
                  <p:cNvCxnSpPr>
                    <a:stCxn id="36" idx="5"/>
                    <a:endCxn id="40" idx="2"/>
                  </p:cNvCxnSpPr>
                  <p:nvPr/>
                </p:nvCxnSpPr>
                <p:spPr>
                  <a:xfrm>
                    <a:off x="1673160" y="4264110"/>
                    <a:ext cx="987689" cy="801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tailEnd type="stealth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EBC22E97-E859-1C92-05F9-0226946E797D}"/>
                      </a:ext>
                    </a:extLst>
                  </p:cNvPr>
                  <p:cNvCxnSpPr>
                    <a:stCxn id="37" idx="6"/>
                    <a:endCxn id="40" idx="2"/>
                  </p:cNvCxnSpPr>
                  <p:nvPr/>
                </p:nvCxnSpPr>
                <p:spPr>
                  <a:xfrm>
                    <a:off x="1712037" y="4764645"/>
                    <a:ext cx="948812" cy="30102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tailEnd type="stealth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84D9AEC7-6307-FBC2-7E15-FE751D6CA91C}"/>
                      </a:ext>
                    </a:extLst>
                  </p:cNvPr>
                  <p:cNvSpPr/>
                  <p:nvPr/>
                </p:nvSpPr>
                <p:spPr>
                  <a:xfrm>
                    <a:off x="1446566" y="4037516"/>
                    <a:ext cx="265471" cy="265471"/>
                  </a:xfrm>
                  <a:prstGeom prst="ellipse">
                    <a:avLst/>
                  </a:prstGeom>
                  <a:noFill/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30F4FFF9-B881-BDC4-460B-7028E0CDD89E}"/>
                      </a:ext>
                    </a:extLst>
                  </p:cNvPr>
                  <p:cNvSpPr/>
                  <p:nvPr/>
                </p:nvSpPr>
                <p:spPr>
                  <a:xfrm>
                    <a:off x="1446566" y="4631909"/>
                    <a:ext cx="265471" cy="265471"/>
                  </a:xfrm>
                  <a:prstGeom prst="ellipse">
                    <a:avLst/>
                  </a:prstGeom>
                  <a:noFill/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CB2D5555-8C4A-DDEF-54F3-A044A6E4E613}"/>
                      </a:ext>
                    </a:extLst>
                  </p:cNvPr>
                  <p:cNvSpPr/>
                  <p:nvPr/>
                </p:nvSpPr>
                <p:spPr>
                  <a:xfrm>
                    <a:off x="1446566" y="5226302"/>
                    <a:ext cx="265471" cy="265471"/>
                  </a:xfrm>
                  <a:prstGeom prst="ellipse">
                    <a:avLst/>
                  </a:prstGeom>
                  <a:noFill/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7269FC86-2D5F-5E37-264D-F2E2AF990966}"/>
                      </a:ext>
                    </a:extLst>
                  </p:cNvPr>
                  <p:cNvSpPr/>
                  <p:nvPr/>
                </p:nvSpPr>
                <p:spPr>
                  <a:xfrm>
                    <a:off x="1446566" y="6076327"/>
                    <a:ext cx="265471" cy="265471"/>
                  </a:xfrm>
                  <a:prstGeom prst="ellipse">
                    <a:avLst/>
                  </a:prstGeom>
                  <a:noFill/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779F9BF6-70AD-37F6-C9DE-DB07A2203472}"/>
                      </a:ext>
                    </a:extLst>
                  </p:cNvPr>
                  <p:cNvSpPr/>
                  <p:nvPr/>
                </p:nvSpPr>
                <p:spPr>
                  <a:xfrm>
                    <a:off x="2660849" y="4932932"/>
                    <a:ext cx="265471" cy="265471"/>
                  </a:xfrm>
                  <a:prstGeom prst="ellipse">
                    <a:avLst/>
                  </a:prstGeom>
                  <a:noFill/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80423EB0-870E-F88B-DD7B-D1761BAF0BC7}"/>
                      </a:ext>
                    </a:extLst>
                  </p:cNvPr>
                  <p:cNvCxnSpPr>
                    <a:stCxn id="38" idx="6"/>
                    <a:endCxn id="40" idx="2"/>
                  </p:cNvCxnSpPr>
                  <p:nvPr/>
                </p:nvCxnSpPr>
                <p:spPr>
                  <a:xfrm flipV="1">
                    <a:off x="1712037" y="5065668"/>
                    <a:ext cx="948812" cy="29337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tailEnd type="stealth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D4EA69C1-38B5-21F4-2145-E09D02935514}"/>
                      </a:ext>
                    </a:extLst>
                  </p:cNvPr>
                  <p:cNvCxnSpPr>
                    <a:stCxn id="39" idx="7"/>
                    <a:endCxn id="40" idx="2"/>
                  </p:cNvCxnSpPr>
                  <p:nvPr/>
                </p:nvCxnSpPr>
                <p:spPr>
                  <a:xfrm flipV="1">
                    <a:off x="1673160" y="5065668"/>
                    <a:ext cx="987689" cy="104953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tailEnd type="stealth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A6D2B6D3-F471-57D9-EF3E-F9CD25BA4149}"/>
                      </a:ext>
                    </a:extLst>
                  </p:cNvPr>
                  <p:cNvCxnSpPr>
                    <a:stCxn id="40" idx="6"/>
                  </p:cNvCxnSpPr>
                  <p:nvPr/>
                </p:nvCxnSpPr>
                <p:spPr>
                  <a:xfrm>
                    <a:off x="2926320" y="5065668"/>
                    <a:ext cx="779005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tailEnd type="stealth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55183CB9-F162-C84D-8F3F-CC09F5C63511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1515905" y="5599846"/>
                    <a:ext cx="31451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BE" dirty="0"/>
                      <a:t>...</a:t>
                    </a:r>
                    <a:endParaRPr lang="en-US" dirty="0"/>
                  </a:p>
                </p:txBody>
              </p:sp>
            </p:grp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99F943CB-CFC5-7E59-64DC-C8ECD2A943AA}"/>
                    </a:ext>
                  </a:extLst>
                </p:cNvPr>
                <p:cNvSpPr/>
                <p:nvPr/>
              </p:nvSpPr>
              <p:spPr>
                <a:xfrm>
                  <a:off x="2287274" y="5519041"/>
                  <a:ext cx="265471" cy="265471"/>
                </a:xfrm>
                <a:prstGeom prst="ellipse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B92CFAFA-68E0-AA89-1704-88F2BEFCE95B}"/>
                    </a:ext>
                  </a:extLst>
                </p:cNvPr>
                <p:cNvCxnSpPr>
                  <a:stCxn id="32" idx="7"/>
                  <a:endCxn id="40" idx="3"/>
                </p:cNvCxnSpPr>
                <p:nvPr/>
              </p:nvCxnSpPr>
              <p:spPr>
                <a:xfrm flipV="1">
                  <a:off x="2513868" y="5159526"/>
                  <a:ext cx="185858" cy="39839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stealth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6CCF4817-2739-1845-4C96-6F824E976016}"/>
                      </a:ext>
                    </a:extLst>
                  </p:cNvPr>
                  <p:cNvSpPr txBox="1"/>
                  <p:nvPr/>
                </p:nvSpPr>
                <p:spPr>
                  <a:xfrm>
                    <a:off x="2644836" y="5282738"/>
                    <a:ext cx="19742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BE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6" name="TextBox 5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44836" y="5282738"/>
                    <a:ext cx="197425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5000" r="-25000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F38042DB-BD07-E3CA-79DC-D4A2D927620B}"/>
                      </a:ext>
                    </a:extLst>
                  </p:cNvPr>
                  <p:cNvSpPr txBox="1"/>
                  <p:nvPr/>
                </p:nvSpPr>
                <p:spPr>
                  <a:xfrm>
                    <a:off x="3087853" y="4871788"/>
                    <a:ext cx="20114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B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F38042DB-BD07-E3CA-79DC-D4A2D92762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7853" y="4871788"/>
                    <a:ext cx="201145" cy="2769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LID4096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07FC130-4713-9777-D374-A01315E1A0C6}"/>
                    </a:ext>
                  </a:extLst>
                </p:cNvPr>
                <p:cNvSpPr txBox="1"/>
                <p:nvPr/>
              </p:nvSpPr>
              <p:spPr>
                <a:xfrm>
                  <a:off x="2284398" y="5604194"/>
                  <a:ext cx="286938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BE" sz="140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BE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07FC130-4713-9777-D374-A01315E1A0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4398" y="5604194"/>
                  <a:ext cx="286938" cy="21544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C845FD9-A560-4F5B-1F05-918B0A29A8AF}"/>
              </a:ext>
            </a:extLst>
          </p:cNvPr>
          <p:cNvGrpSpPr/>
          <p:nvPr/>
        </p:nvGrpSpPr>
        <p:grpSpPr>
          <a:xfrm>
            <a:off x="1946208" y="1864181"/>
            <a:ext cx="7046263" cy="1645705"/>
            <a:chOff x="1946208" y="1864181"/>
            <a:chExt cx="7046263" cy="1645705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F05FDF0-1918-054A-F491-21BC377E5241}"/>
                </a:ext>
              </a:extLst>
            </p:cNvPr>
            <p:cNvGrpSpPr/>
            <p:nvPr/>
          </p:nvGrpSpPr>
          <p:grpSpPr>
            <a:xfrm>
              <a:off x="2029194" y="1864181"/>
              <a:ext cx="6963277" cy="739723"/>
              <a:chOff x="5922933" y="2586482"/>
              <a:chExt cx="6963277" cy="739723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AC43FBD-6311-EEA5-FD78-D16FA1270EEE}"/>
                  </a:ext>
                </a:extLst>
              </p:cNvPr>
              <p:cNvSpPr txBox="1"/>
              <p:nvPr/>
            </p:nvSpPr>
            <p:spPr>
              <a:xfrm>
                <a:off x="8762324" y="2586482"/>
                <a:ext cx="4123886" cy="400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32-bit single precision floating point</a:t>
                </a:r>
                <a:endParaRPr lang="LID4096" sz="2000" dirty="0"/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E2F31951-56AB-A94E-A641-3970B478DA52}"/>
                  </a:ext>
                </a:extLst>
              </p:cNvPr>
              <p:cNvCxnSpPr>
                <a:cxnSpLocks/>
                <a:stCxn id="46" idx="1"/>
              </p:cNvCxnSpPr>
              <p:nvPr/>
            </p:nvCxnSpPr>
            <p:spPr>
              <a:xfrm flipH="1">
                <a:off x="5922933" y="2786537"/>
                <a:ext cx="2839391" cy="53966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68A3F8DB-674C-00B3-FB1C-5EDF65E72458}"/>
                </a:ext>
              </a:extLst>
            </p:cNvPr>
            <p:cNvCxnSpPr>
              <a:cxnSpLocks/>
              <a:stCxn id="46" idx="1"/>
            </p:cNvCxnSpPr>
            <p:nvPr/>
          </p:nvCxnSpPr>
          <p:spPr>
            <a:xfrm flipH="1">
              <a:off x="1946208" y="2064236"/>
              <a:ext cx="2922377" cy="118994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6788FDDB-4B50-71FE-5CEF-61F598EA6D1C}"/>
                </a:ext>
              </a:extLst>
            </p:cNvPr>
            <p:cNvCxnSpPr>
              <a:cxnSpLocks/>
              <a:stCxn id="46" idx="1"/>
              <a:endCxn id="30" idx="0"/>
            </p:cNvCxnSpPr>
            <p:nvPr/>
          </p:nvCxnSpPr>
          <p:spPr>
            <a:xfrm flipH="1">
              <a:off x="3881671" y="2064236"/>
              <a:ext cx="986914" cy="14456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4B6CE8E0-3C91-F785-6FB2-BFD2654A1720}"/>
              </a:ext>
            </a:extLst>
          </p:cNvPr>
          <p:cNvSpPr txBox="1"/>
          <p:nvPr/>
        </p:nvSpPr>
        <p:spPr>
          <a:xfrm>
            <a:off x="7471069" y="2610981"/>
            <a:ext cx="3018840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E.g., Llama 3.2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3.2b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4 GB of memory</a:t>
            </a:r>
            <a:endParaRPr lang="LID4096" sz="28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E2F212-8DB3-DCEB-DB1A-B11A7AB865C6}"/>
              </a:ext>
            </a:extLst>
          </p:cNvPr>
          <p:cNvSpPr txBox="1"/>
          <p:nvPr/>
        </p:nvSpPr>
        <p:spPr>
          <a:xfrm>
            <a:off x="10498035" y="3268867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C00000"/>
                </a:solidFill>
              </a:rPr>
              <a:t>???</a:t>
            </a:r>
            <a:endParaRPr lang="LID4096" sz="6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480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FB1E-20AE-49EE-A89A-21C1BA6F7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Quantization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B82DA-2B5E-291F-E3F6-86CB24EE3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Represent 32-bit single precision floating point by</a:t>
            </a:r>
          </a:p>
          <a:p>
            <a:pPr lvl="1"/>
            <a:r>
              <a:rPr lang="en-US" dirty="0"/>
              <a:t>Half precision16-bit floating point (FP16)</a:t>
            </a:r>
          </a:p>
          <a:p>
            <a:pPr lvl="1"/>
            <a:r>
              <a:rPr lang="en-US" dirty="0"/>
              <a:t>Brain floating point 16-bit (BF16)</a:t>
            </a:r>
          </a:p>
          <a:p>
            <a:pPr lvl="1"/>
            <a:r>
              <a:rPr lang="en-US" dirty="0"/>
              <a:t>8-bit integer (INT8)</a:t>
            </a:r>
          </a:p>
          <a:p>
            <a:pPr lvl="1"/>
            <a:endParaRPr lang="en-US" dirty="0"/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Decrease memory requirements</a:t>
            </a:r>
          </a:p>
          <a:p>
            <a:pPr lvl="1"/>
            <a:r>
              <a:rPr lang="en-US" dirty="0"/>
              <a:t>More efficient operations</a:t>
            </a:r>
          </a:p>
          <a:p>
            <a:pPr lvl="1"/>
            <a:r>
              <a:rPr lang="en-US" dirty="0"/>
              <a:t>Decrease power consumption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Potential loss of accuracy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A51BB-5D1F-8F8B-069D-9BCBD4291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60066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8E1C2-F61E-597C-C67F-BBFC84C26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32-bit floating point representation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350BA-CA37-F82D-953D-44DABCC5E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7393"/>
            <a:ext cx="10515600" cy="284152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Sign: positive </a:t>
            </a:r>
            <a:r>
              <a:rPr lang="en-US" dirty="0">
                <a:sym typeface="Symbol" panose="05050102010706020507" pitchFamily="18" charset="2"/>
              </a:rPr>
              <a:t> 0 (1 bit)</a:t>
            </a:r>
            <a:endParaRPr lang="en-US" dirty="0"/>
          </a:p>
          <a:p>
            <a:r>
              <a:rPr lang="en-US" dirty="0"/>
              <a:t>Integer part: 5 </a:t>
            </a:r>
            <a:r>
              <a:rPr lang="en-US" dirty="0">
                <a:sym typeface="Symbol" panose="05050102010706020507" pitchFamily="18" charset="2"/>
              </a:rPr>
              <a:t> 101</a:t>
            </a:r>
          </a:p>
          <a:p>
            <a:r>
              <a:rPr lang="en-US" dirty="0">
                <a:sym typeface="Symbol" panose="05050102010706020507" pitchFamily="18" charset="2"/>
              </a:rPr>
              <a:t>Fractional part: 0.239  00111101001011...</a:t>
            </a:r>
          </a:p>
          <a:p>
            <a:r>
              <a:rPr lang="en-US" dirty="0">
                <a:sym typeface="Symbol" panose="05050102010706020507" pitchFamily="18" charset="2"/>
              </a:rPr>
              <a:t>Combine: 101.00111101001011...</a:t>
            </a:r>
          </a:p>
          <a:p>
            <a:r>
              <a:rPr lang="en-US" dirty="0">
                <a:sym typeface="Symbol" panose="05050102010706020507" pitchFamily="18" charset="2"/>
              </a:rPr>
              <a:t>Normalize: 1.0100111101001011...  2</a:t>
            </a:r>
            <a:r>
              <a:rPr lang="en-US" baseline="30000" dirty="0">
                <a:sym typeface="Symbol" panose="05050102010706020507" pitchFamily="18" charset="2"/>
              </a:rPr>
              <a:t>2 </a:t>
            </a:r>
            <a:r>
              <a:rPr lang="en-US" dirty="0">
                <a:sym typeface="Symbol" panose="05050102010706020507" pitchFamily="18" charset="2"/>
              </a:rPr>
              <a:t>(23 bits mantissa)</a:t>
            </a:r>
            <a:endParaRPr lang="en-US" baseline="30000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Bias for exponent: 2 + 127 = 129  10000001 (8 bits)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B54C3-F936-003A-734C-98EAA4C85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17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A86D2B-E303-7C11-7C47-8307F60A8BE6}"/>
              </a:ext>
            </a:extLst>
          </p:cNvPr>
          <p:cNvSpPr txBox="1"/>
          <p:nvPr/>
        </p:nvSpPr>
        <p:spPr>
          <a:xfrm>
            <a:off x="808704" y="1779639"/>
            <a:ext cx="109095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Example: 5.239 in FP32, 1 sign bit + 8 exponent bits + 23 mantissa bits</a:t>
            </a:r>
            <a:endParaRPr lang="LID4096" sz="28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D298C88-B2CE-6667-DCF8-C738208A2959}"/>
              </a:ext>
            </a:extLst>
          </p:cNvPr>
          <p:cNvGrpSpPr/>
          <p:nvPr/>
        </p:nvGrpSpPr>
        <p:grpSpPr>
          <a:xfrm>
            <a:off x="2534483" y="5528291"/>
            <a:ext cx="4833271" cy="902423"/>
            <a:chOff x="2534483" y="5528291"/>
            <a:chExt cx="4833271" cy="90242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89E6876-1D03-218D-6FA4-EB5886E5FF0E}"/>
                </a:ext>
              </a:extLst>
            </p:cNvPr>
            <p:cNvSpPr txBox="1"/>
            <p:nvPr/>
          </p:nvSpPr>
          <p:spPr>
            <a:xfrm>
              <a:off x="2654708" y="5528291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  <a:endParaRPr lang="LID4096" sz="2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CC95D60-484D-AC57-2E38-59D50820DDD2}"/>
                </a:ext>
              </a:extLst>
            </p:cNvPr>
            <p:cNvSpPr txBox="1"/>
            <p:nvPr/>
          </p:nvSpPr>
          <p:spPr>
            <a:xfrm>
              <a:off x="2885768" y="5528291"/>
              <a:ext cx="15055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10000001</a:t>
              </a:r>
              <a:endParaRPr lang="LID4096" sz="24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CEF0B4-AA28-1565-8091-D05D1971C510}"/>
                </a:ext>
              </a:extLst>
            </p:cNvPr>
            <p:cNvSpPr txBox="1"/>
            <p:nvPr/>
          </p:nvSpPr>
          <p:spPr>
            <a:xfrm>
              <a:off x="4214327" y="5528291"/>
              <a:ext cx="31534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 0100111101001011...</a:t>
              </a:r>
              <a:endParaRPr lang="LID4096" sz="2400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F214E83-7325-3F49-F263-E868A19A9CAF}"/>
                </a:ext>
              </a:extLst>
            </p:cNvPr>
            <p:cNvGrpSpPr/>
            <p:nvPr/>
          </p:nvGrpSpPr>
          <p:grpSpPr>
            <a:xfrm>
              <a:off x="2534483" y="5886715"/>
              <a:ext cx="590226" cy="543999"/>
              <a:chOff x="2534483" y="5886715"/>
              <a:chExt cx="590226" cy="543999"/>
            </a:xfrm>
          </p:grpSpPr>
          <p:sp>
            <p:nvSpPr>
              <p:cNvPr id="11" name="Left Brace 10">
                <a:extLst>
                  <a:ext uri="{FF2B5EF4-FFF2-40B4-BE49-F238E27FC236}">
                    <a16:creationId xmlns:a16="http://schemas.microsoft.com/office/drawing/2014/main" id="{B853C93F-203A-5397-D966-7024BB72E187}"/>
                  </a:ext>
                </a:extLst>
              </p:cNvPr>
              <p:cNvSpPr/>
              <p:nvPr/>
            </p:nvSpPr>
            <p:spPr>
              <a:xfrm rot="16200000">
                <a:off x="2700192" y="5841231"/>
                <a:ext cx="199451" cy="290420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C0E3F4-4962-B7AE-1D4E-B8215587ADCE}"/>
                  </a:ext>
                </a:extLst>
              </p:cNvPr>
              <p:cNvSpPr txBox="1"/>
              <p:nvPr/>
            </p:nvSpPr>
            <p:spPr>
              <a:xfrm>
                <a:off x="2534483" y="6061382"/>
                <a:ext cx="5902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sign</a:t>
                </a:r>
                <a:endParaRPr lang="LID4096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59A42B8-1C4C-3829-0A38-A64EBF927667}"/>
                </a:ext>
              </a:extLst>
            </p:cNvPr>
            <p:cNvGrpSpPr/>
            <p:nvPr/>
          </p:nvGrpSpPr>
          <p:grpSpPr>
            <a:xfrm>
              <a:off x="3004484" y="5886718"/>
              <a:ext cx="1311879" cy="543996"/>
              <a:chOff x="3004484" y="5886718"/>
              <a:chExt cx="1311879" cy="543996"/>
            </a:xfrm>
          </p:grpSpPr>
          <p:sp>
            <p:nvSpPr>
              <p:cNvPr id="9" name="Left Brace 8">
                <a:extLst>
                  <a:ext uri="{FF2B5EF4-FFF2-40B4-BE49-F238E27FC236}">
                    <a16:creationId xmlns:a16="http://schemas.microsoft.com/office/drawing/2014/main" id="{E568C126-8DEA-7536-CA70-279797FD0BC4}"/>
                  </a:ext>
                </a:extLst>
              </p:cNvPr>
              <p:cNvSpPr/>
              <p:nvPr/>
            </p:nvSpPr>
            <p:spPr>
              <a:xfrm rot="16200000">
                <a:off x="3560699" y="5330503"/>
                <a:ext cx="199450" cy="1311879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LID4096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C39B97-DF5F-774A-40E5-2D991ED238E5}"/>
                  </a:ext>
                </a:extLst>
              </p:cNvPr>
              <p:cNvSpPr txBox="1"/>
              <p:nvPr/>
            </p:nvSpPr>
            <p:spPr>
              <a:xfrm>
                <a:off x="3077953" y="6061382"/>
                <a:ext cx="11125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exponent</a:t>
                </a:r>
                <a:endParaRPr lang="LID4096" dirty="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BC39E6E-40E6-4E0F-A940-8B02C6B1ED89}"/>
                </a:ext>
              </a:extLst>
            </p:cNvPr>
            <p:cNvGrpSpPr/>
            <p:nvPr/>
          </p:nvGrpSpPr>
          <p:grpSpPr>
            <a:xfrm>
              <a:off x="4381478" y="5886717"/>
              <a:ext cx="2914060" cy="543997"/>
              <a:chOff x="4381478" y="5886717"/>
              <a:chExt cx="2914060" cy="543997"/>
            </a:xfrm>
          </p:grpSpPr>
          <p:sp>
            <p:nvSpPr>
              <p:cNvPr id="10" name="Left Brace 9">
                <a:extLst>
                  <a:ext uri="{FF2B5EF4-FFF2-40B4-BE49-F238E27FC236}">
                    <a16:creationId xmlns:a16="http://schemas.microsoft.com/office/drawing/2014/main" id="{DBC5438A-0435-F841-6851-4EBE4EEE54E4}"/>
                  </a:ext>
                </a:extLst>
              </p:cNvPr>
              <p:cNvSpPr/>
              <p:nvPr/>
            </p:nvSpPr>
            <p:spPr>
              <a:xfrm rot="16200000">
                <a:off x="5738783" y="4529412"/>
                <a:ext cx="199449" cy="2914060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FD7629-E8DE-D440-4CBA-6609006860F4}"/>
                  </a:ext>
                </a:extLst>
              </p:cNvPr>
              <p:cNvSpPr txBox="1"/>
              <p:nvPr/>
            </p:nvSpPr>
            <p:spPr>
              <a:xfrm>
                <a:off x="5148317" y="6061382"/>
                <a:ext cx="11095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mantissa</a:t>
                </a:r>
                <a:endParaRPr lang="LID4096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6528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0E2C4-CED4-7810-B442-7C8CFA8E2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90929-A251-8DF4-6A13-6E47D9F6A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16-bit floating point representation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2EDFE-E17C-8491-4205-5C44AD5A5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7393"/>
            <a:ext cx="10515600" cy="284152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Sign: positive </a:t>
            </a:r>
            <a:r>
              <a:rPr lang="en-US" dirty="0">
                <a:sym typeface="Symbol" panose="05050102010706020507" pitchFamily="18" charset="2"/>
              </a:rPr>
              <a:t> 0 (1 bit)</a:t>
            </a:r>
            <a:endParaRPr lang="en-US" dirty="0"/>
          </a:p>
          <a:p>
            <a:r>
              <a:rPr lang="en-US" dirty="0"/>
              <a:t>Integer part: 5 </a:t>
            </a:r>
            <a:r>
              <a:rPr lang="en-US" dirty="0">
                <a:sym typeface="Symbol" panose="05050102010706020507" pitchFamily="18" charset="2"/>
              </a:rPr>
              <a:t> 101</a:t>
            </a:r>
          </a:p>
          <a:p>
            <a:r>
              <a:rPr lang="en-US" dirty="0">
                <a:sym typeface="Symbol" panose="05050102010706020507" pitchFamily="18" charset="2"/>
              </a:rPr>
              <a:t>Fractional part: 0.239  00111101001011...</a:t>
            </a:r>
          </a:p>
          <a:p>
            <a:r>
              <a:rPr lang="en-US" dirty="0">
                <a:sym typeface="Symbol" panose="05050102010706020507" pitchFamily="18" charset="2"/>
              </a:rPr>
              <a:t>Combine: 101.00111101</a:t>
            </a:r>
          </a:p>
          <a:p>
            <a:r>
              <a:rPr lang="en-US" dirty="0">
                <a:sym typeface="Symbol" panose="05050102010706020507" pitchFamily="18" charset="2"/>
              </a:rPr>
              <a:t>Normalize: 1.0100111101001011...  2</a:t>
            </a:r>
            <a:r>
              <a:rPr lang="en-US" baseline="30000" dirty="0">
                <a:sym typeface="Symbol" panose="05050102010706020507" pitchFamily="18" charset="2"/>
              </a:rPr>
              <a:t>2 </a:t>
            </a:r>
            <a:r>
              <a:rPr lang="en-US" dirty="0">
                <a:sym typeface="Symbol" panose="05050102010706020507" pitchFamily="18" charset="2"/>
              </a:rPr>
              <a:t> (10 bits mantissa)</a:t>
            </a:r>
            <a:endParaRPr lang="en-US" baseline="30000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Bias for exponent: 2 + 15 = 17  10001 (5 bits)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713C6-591D-EA33-C2B9-E7E66776D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18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EB07AA-B3D0-3C0E-2313-471AE5FC198C}"/>
              </a:ext>
            </a:extLst>
          </p:cNvPr>
          <p:cNvSpPr txBox="1"/>
          <p:nvPr/>
        </p:nvSpPr>
        <p:spPr>
          <a:xfrm>
            <a:off x="808704" y="1779639"/>
            <a:ext cx="109095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Example: 5.239 in FP16, 1 sign bit + 5 exponent bits + 10 mantissa bits</a:t>
            </a:r>
            <a:endParaRPr lang="LID4096" sz="28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77B47A4-7EA0-82A1-163D-9264DBCCACD0}"/>
              </a:ext>
            </a:extLst>
          </p:cNvPr>
          <p:cNvGrpSpPr/>
          <p:nvPr/>
        </p:nvGrpSpPr>
        <p:grpSpPr>
          <a:xfrm>
            <a:off x="2534483" y="5528291"/>
            <a:ext cx="3814100" cy="902423"/>
            <a:chOff x="2534483" y="5528291"/>
            <a:chExt cx="3814100" cy="90242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AFDE25-4D6A-14F8-AFCF-CAA091FB9892}"/>
                </a:ext>
              </a:extLst>
            </p:cNvPr>
            <p:cNvSpPr txBox="1"/>
            <p:nvPr/>
          </p:nvSpPr>
          <p:spPr>
            <a:xfrm>
              <a:off x="2654708" y="5528291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  <a:endParaRPr lang="LID4096" sz="2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992591B-FBD5-588A-9DAA-EA150112518B}"/>
                </a:ext>
              </a:extLst>
            </p:cNvPr>
            <p:cNvSpPr txBox="1"/>
            <p:nvPr/>
          </p:nvSpPr>
          <p:spPr>
            <a:xfrm>
              <a:off x="3102079" y="5528291"/>
              <a:ext cx="1010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10001</a:t>
              </a:r>
              <a:endParaRPr lang="LID4096" sz="24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076C786-7D87-41AB-46B7-F0D1B09AEAC2}"/>
                </a:ext>
              </a:extLst>
            </p:cNvPr>
            <p:cNvSpPr txBox="1"/>
            <p:nvPr/>
          </p:nvSpPr>
          <p:spPr>
            <a:xfrm>
              <a:off x="4450306" y="5528291"/>
              <a:ext cx="18982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 0100111101</a:t>
              </a:r>
              <a:endParaRPr lang="LID4096" sz="2400" dirty="0"/>
            </a:p>
          </p:txBody>
        </p:sp>
        <p:sp>
          <p:nvSpPr>
            <p:cNvPr id="9" name="Left Brace 8">
              <a:extLst>
                <a:ext uri="{FF2B5EF4-FFF2-40B4-BE49-F238E27FC236}">
                  <a16:creationId xmlns:a16="http://schemas.microsoft.com/office/drawing/2014/main" id="{FE8D44FD-DFE0-C3FD-F591-E02E7910BB83}"/>
                </a:ext>
              </a:extLst>
            </p:cNvPr>
            <p:cNvSpPr/>
            <p:nvPr/>
          </p:nvSpPr>
          <p:spPr>
            <a:xfrm rot="16200000">
              <a:off x="3560699" y="5330503"/>
              <a:ext cx="199450" cy="1311879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55EDAC90-75F1-016D-AF1E-1FBF4F90776D}"/>
                </a:ext>
              </a:extLst>
            </p:cNvPr>
            <p:cNvSpPr/>
            <p:nvPr/>
          </p:nvSpPr>
          <p:spPr>
            <a:xfrm rot="16200000">
              <a:off x="5292445" y="5024912"/>
              <a:ext cx="174665" cy="1898275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Left Brace 10">
              <a:extLst>
                <a:ext uri="{FF2B5EF4-FFF2-40B4-BE49-F238E27FC236}">
                  <a16:creationId xmlns:a16="http://schemas.microsoft.com/office/drawing/2014/main" id="{0E409783-1AC5-D192-AD93-2528B8A62BF8}"/>
                </a:ext>
              </a:extLst>
            </p:cNvPr>
            <p:cNvSpPr/>
            <p:nvPr/>
          </p:nvSpPr>
          <p:spPr>
            <a:xfrm rot="16200000">
              <a:off x="2700192" y="5841231"/>
              <a:ext cx="199451" cy="29042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4F0053-B36C-F47E-DCA4-D251AD0EEA57}"/>
                </a:ext>
              </a:extLst>
            </p:cNvPr>
            <p:cNvSpPr txBox="1"/>
            <p:nvPr/>
          </p:nvSpPr>
          <p:spPr>
            <a:xfrm>
              <a:off x="2534483" y="6061382"/>
              <a:ext cx="5902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sign</a:t>
              </a:r>
              <a:endParaRPr lang="LID4096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F7A41F5-0592-7CD2-FA2B-3161CF96B6FD}"/>
                </a:ext>
              </a:extLst>
            </p:cNvPr>
            <p:cNvSpPr txBox="1"/>
            <p:nvPr/>
          </p:nvSpPr>
          <p:spPr>
            <a:xfrm>
              <a:off x="3077953" y="6061382"/>
              <a:ext cx="11125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exponent</a:t>
              </a:r>
              <a:endParaRPr lang="LID4096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50C7D4C-8F93-01A2-8DCA-8601931DC1AB}"/>
                </a:ext>
              </a:extLst>
            </p:cNvPr>
            <p:cNvSpPr txBox="1"/>
            <p:nvPr/>
          </p:nvSpPr>
          <p:spPr>
            <a:xfrm>
              <a:off x="4902510" y="6061382"/>
              <a:ext cx="11095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mantissa</a:t>
              </a:r>
              <a:endParaRPr lang="LID4096" dirty="0"/>
            </a:p>
          </p:txBody>
        </p:sp>
      </p:grpSp>
    </p:spTree>
    <p:extLst>
      <p:ext uri="{BB962C8B-B14F-4D97-AF65-F5344CB8AC3E}">
        <p14:creationId xmlns:p14="http://schemas.microsoft.com/office/powerpoint/2010/main" val="4139499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64996-B89B-87AC-7612-D59D1A694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5810F-BA32-120A-21C3-4CD253E44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16-bit brain floating point representation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4D99F-4EF3-447B-2077-8B89DF165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7393"/>
            <a:ext cx="10515600" cy="284152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Sign: positive </a:t>
            </a:r>
            <a:r>
              <a:rPr lang="en-US" dirty="0">
                <a:sym typeface="Symbol" panose="05050102010706020507" pitchFamily="18" charset="2"/>
              </a:rPr>
              <a:t> 0 (1 bit)</a:t>
            </a:r>
            <a:endParaRPr lang="en-US" dirty="0"/>
          </a:p>
          <a:p>
            <a:r>
              <a:rPr lang="en-US" dirty="0"/>
              <a:t>Integer part: 5 </a:t>
            </a:r>
            <a:r>
              <a:rPr lang="en-US" dirty="0">
                <a:sym typeface="Symbol" panose="05050102010706020507" pitchFamily="18" charset="2"/>
              </a:rPr>
              <a:t> 101</a:t>
            </a:r>
          </a:p>
          <a:p>
            <a:r>
              <a:rPr lang="en-US" dirty="0">
                <a:sym typeface="Symbol" panose="05050102010706020507" pitchFamily="18" charset="2"/>
              </a:rPr>
              <a:t>Fractional part: 0.239  00111101001011...</a:t>
            </a:r>
          </a:p>
          <a:p>
            <a:r>
              <a:rPr lang="en-US" dirty="0">
                <a:sym typeface="Symbol" panose="05050102010706020507" pitchFamily="18" charset="2"/>
              </a:rPr>
              <a:t>Combine: 101.00111101001011...</a:t>
            </a:r>
          </a:p>
          <a:p>
            <a:r>
              <a:rPr lang="en-US" dirty="0">
                <a:sym typeface="Symbol" panose="05050102010706020507" pitchFamily="18" charset="2"/>
              </a:rPr>
              <a:t>Normalize: 1.0100111101001011...  2</a:t>
            </a:r>
            <a:r>
              <a:rPr lang="en-US" baseline="30000" dirty="0">
                <a:sym typeface="Symbol" panose="05050102010706020507" pitchFamily="18" charset="2"/>
              </a:rPr>
              <a:t>2 </a:t>
            </a:r>
            <a:r>
              <a:rPr lang="en-US" dirty="0">
                <a:sym typeface="Symbol" panose="05050102010706020507" pitchFamily="18" charset="2"/>
              </a:rPr>
              <a:t>(7 bits mantissa)</a:t>
            </a:r>
            <a:endParaRPr lang="en-US" baseline="30000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Bias for exponent: 2 + 127 = 129  10000001 (8 bits)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4FF16-D73D-7891-19B1-A412DC21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19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0FE2E-1E2F-3876-A2D1-9BD84C75105B}"/>
              </a:ext>
            </a:extLst>
          </p:cNvPr>
          <p:cNvSpPr txBox="1"/>
          <p:nvPr/>
        </p:nvSpPr>
        <p:spPr>
          <a:xfrm>
            <a:off x="808704" y="1779639"/>
            <a:ext cx="109095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Example: 5.239 in BF16, 1 sign bit + 8 exponent bits + 7 mantissa bits</a:t>
            </a:r>
            <a:endParaRPr lang="LID4096" sz="28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9745338-7FB1-886F-69FC-0405005E953E}"/>
              </a:ext>
            </a:extLst>
          </p:cNvPr>
          <p:cNvGrpSpPr/>
          <p:nvPr/>
        </p:nvGrpSpPr>
        <p:grpSpPr>
          <a:xfrm>
            <a:off x="2534483" y="5528291"/>
            <a:ext cx="3249943" cy="902423"/>
            <a:chOff x="2534483" y="5528291"/>
            <a:chExt cx="3249943" cy="90242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095C660-5CE1-0A4D-B09A-790EAEC55D1A}"/>
                </a:ext>
              </a:extLst>
            </p:cNvPr>
            <p:cNvSpPr txBox="1"/>
            <p:nvPr/>
          </p:nvSpPr>
          <p:spPr>
            <a:xfrm>
              <a:off x="2654708" y="5528291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  <a:endParaRPr lang="LID4096" sz="2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195069D-65F0-0A6E-67FA-725273FD1273}"/>
                </a:ext>
              </a:extLst>
            </p:cNvPr>
            <p:cNvSpPr txBox="1"/>
            <p:nvPr/>
          </p:nvSpPr>
          <p:spPr>
            <a:xfrm>
              <a:off x="2885768" y="5528291"/>
              <a:ext cx="15055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10000001</a:t>
              </a:r>
              <a:endParaRPr lang="LID4096" sz="24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1C232D-BCB7-C09C-470B-8CC6663905D8}"/>
                </a:ext>
              </a:extLst>
            </p:cNvPr>
            <p:cNvSpPr txBox="1"/>
            <p:nvPr/>
          </p:nvSpPr>
          <p:spPr>
            <a:xfrm>
              <a:off x="4351981" y="5528291"/>
              <a:ext cx="14029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 0100111</a:t>
              </a:r>
              <a:endParaRPr lang="LID4096" sz="2400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6E63902-01F2-722B-F1F4-822D3FE486FF}"/>
                </a:ext>
              </a:extLst>
            </p:cNvPr>
            <p:cNvGrpSpPr/>
            <p:nvPr/>
          </p:nvGrpSpPr>
          <p:grpSpPr>
            <a:xfrm>
              <a:off x="2534483" y="5886715"/>
              <a:ext cx="590226" cy="543999"/>
              <a:chOff x="2534483" y="5886715"/>
              <a:chExt cx="590226" cy="543999"/>
            </a:xfrm>
          </p:grpSpPr>
          <p:sp>
            <p:nvSpPr>
              <p:cNvPr id="11" name="Left Brace 10">
                <a:extLst>
                  <a:ext uri="{FF2B5EF4-FFF2-40B4-BE49-F238E27FC236}">
                    <a16:creationId xmlns:a16="http://schemas.microsoft.com/office/drawing/2014/main" id="{303C2100-F444-5DB7-26C0-96C435679038}"/>
                  </a:ext>
                </a:extLst>
              </p:cNvPr>
              <p:cNvSpPr/>
              <p:nvPr/>
            </p:nvSpPr>
            <p:spPr>
              <a:xfrm rot="16200000">
                <a:off x="2700192" y="5841231"/>
                <a:ext cx="199451" cy="290420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BBBA24-F3F6-313F-1973-8D69DE4FFBA0}"/>
                  </a:ext>
                </a:extLst>
              </p:cNvPr>
              <p:cNvSpPr txBox="1"/>
              <p:nvPr/>
            </p:nvSpPr>
            <p:spPr>
              <a:xfrm>
                <a:off x="2534483" y="6061382"/>
                <a:ext cx="5902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sign</a:t>
                </a:r>
                <a:endParaRPr lang="LID4096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6AFA2D2-5128-A1A4-13D7-C6B56459C3AE}"/>
                </a:ext>
              </a:extLst>
            </p:cNvPr>
            <p:cNvGrpSpPr/>
            <p:nvPr/>
          </p:nvGrpSpPr>
          <p:grpSpPr>
            <a:xfrm>
              <a:off x="3004484" y="5886718"/>
              <a:ext cx="1311879" cy="543996"/>
              <a:chOff x="3004484" y="5886718"/>
              <a:chExt cx="1311879" cy="543996"/>
            </a:xfrm>
          </p:grpSpPr>
          <p:sp>
            <p:nvSpPr>
              <p:cNvPr id="9" name="Left Brace 8">
                <a:extLst>
                  <a:ext uri="{FF2B5EF4-FFF2-40B4-BE49-F238E27FC236}">
                    <a16:creationId xmlns:a16="http://schemas.microsoft.com/office/drawing/2014/main" id="{462710DF-C8DC-0139-4380-B85A42E90F41}"/>
                  </a:ext>
                </a:extLst>
              </p:cNvPr>
              <p:cNvSpPr/>
              <p:nvPr/>
            </p:nvSpPr>
            <p:spPr>
              <a:xfrm rot="16200000">
                <a:off x="3560699" y="5330503"/>
                <a:ext cx="199450" cy="1311879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LID4096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D3BCD2-815F-D19E-144E-EC2ED89FBE82}"/>
                  </a:ext>
                </a:extLst>
              </p:cNvPr>
              <p:cNvSpPr txBox="1"/>
              <p:nvPr/>
            </p:nvSpPr>
            <p:spPr>
              <a:xfrm>
                <a:off x="3077953" y="6061382"/>
                <a:ext cx="11125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exponent</a:t>
                </a:r>
                <a:endParaRPr lang="LID4096" dirty="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B898261-655B-A363-05C3-E0990457DC8F}"/>
                </a:ext>
              </a:extLst>
            </p:cNvPr>
            <p:cNvGrpSpPr/>
            <p:nvPr/>
          </p:nvGrpSpPr>
          <p:grpSpPr>
            <a:xfrm>
              <a:off x="4381478" y="5886717"/>
              <a:ext cx="1402948" cy="543997"/>
              <a:chOff x="4381478" y="5886717"/>
              <a:chExt cx="2914060" cy="543997"/>
            </a:xfrm>
          </p:grpSpPr>
          <p:sp>
            <p:nvSpPr>
              <p:cNvPr id="10" name="Left Brace 9">
                <a:extLst>
                  <a:ext uri="{FF2B5EF4-FFF2-40B4-BE49-F238E27FC236}">
                    <a16:creationId xmlns:a16="http://schemas.microsoft.com/office/drawing/2014/main" id="{64E0ABFC-D22A-FFF1-2A45-936BE576D567}"/>
                  </a:ext>
                </a:extLst>
              </p:cNvPr>
              <p:cNvSpPr/>
              <p:nvPr/>
            </p:nvSpPr>
            <p:spPr>
              <a:xfrm rot="16200000">
                <a:off x="5738783" y="4529412"/>
                <a:ext cx="199449" cy="2914060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LID4096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D667AA1-6E8F-50C3-DDF8-B3ACFFD9F433}"/>
                  </a:ext>
                </a:extLst>
              </p:cNvPr>
              <p:cNvSpPr txBox="1"/>
              <p:nvPr/>
            </p:nvSpPr>
            <p:spPr>
              <a:xfrm>
                <a:off x="4739871" y="6061382"/>
                <a:ext cx="11095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mantissa</a:t>
                </a:r>
                <a:endParaRPr lang="LID4096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554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B1735-772D-7F63-1319-38728A5C7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5F475-4055-2AAB-CE57-064E78F8C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8-bit integer representation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F231E-8FCD-5BA6-9791-CA2F99729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7393"/>
            <a:ext cx="10515600" cy="2841523"/>
          </a:xfrm>
        </p:spPr>
        <p:txBody>
          <a:bodyPr>
            <a:normAutofit/>
          </a:bodyPr>
          <a:lstStyle/>
          <a:p>
            <a:r>
              <a:rPr lang="en-US" dirty="0"/>
              <a:t>Scale: 5.239 </a:t>
            </a:r>
            <a:r>
              <a:rPr lang="en-US" dirty="0">
                <a:sym typeface="Symbol" panose="05050102010706020507" pitchFamily="18" charset="2"/>
              </a:rPr>
              <a:t> 127  665.353</a:t>
            </a:r>
            <a:endParaRPr lang="en-US" dirty="0"/>
          </a:p>
          <a:p>
            <a:r>
              <a:rPr lang="en-US" dirty="0"/>
              <a:t>Round to nearest integer: 665.353 </a:t>
            </a:r>
            <a:r>
              <a:rPr lang="en-US" dirty="0">
                <a:sym typeface="Symbol" panose="05050102010706020507" pitchFamily="18" charset="2"/>
              </a:rPr>
              <a:t> 665</a:t>
            </a:r>
          </a:p>
          <a:p>
            <a:r>
              <a:rPr lang="en-US" dirty="0">
                <a:sym typeface="Symbol" panose="05050102010706020507" pitchFamily="18" charset="2"/>
              </a:rPr>
              <a:t>Clip to [-128, 127]: 665  127</a:t>
            </a:r>
          </a:p>
          <a:p>
            <a:r>
              <a:rPr lang="en-US" dirty="0">
                <a:sym typeface="Symbol" panose="05050102010706020507" pitchFamily="18" charset="2"/>
              </a:rPr>
              <a:t>Binary: 127  11111111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07DF7-4220-44DD-67D1-CC6297264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20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A55127-FEA2-C9C1-DEB4-49F462B558EC}"/>
              </a:ext>
            </a:extLst>
          </p:cNvPr>
          <p:cNvSpPr txBox="1"/>
          <p:nvPr/>
        </p:nvSpPr>
        <p:spPr>
          <a:xfrm>
            <a:off x="808704" y="1779639"/>
            <a:ext cx="37107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Example: 5.239 in INT8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130144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F0F4D-442F-8839-DBEA-E730C15CA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n</a:t>
            </a:r>
            <a:r>
              <a:rPr lang="en-US" dirty="0"/>
              <a:t>-bit integers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C9485-D4D1-F558-DF44-621E1C55AB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FP32 floating point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i="1" dirty="0"/>
                  <a:t>n</a:t>
                </a:r>
                <a:r>
                  <a:rPr lang="en-US" dirty="0"/>
                  <a:t>-bit integer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2800" b="0" dirty="0"/>
              </a:p>
              <a:p>
                <a:r>
                  <a:rPr lang="en-US" dirty="0"/>
                  <a:t>FP32 scaling factor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r>
                  <a:rPr lang="en-US" i="1" dirty="0"/>
                  <a:t>n</a:t>
                </a:r>
                <a:r>
                  <a:rPr lang="en-US" dirty="0"/>
                  <a:t>-bit integer zero-point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influenced by outliers</a:t>
                </a:r>
                <a:endParaRPr lang="LID4096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C9485-D4D1-F558-DF44-621E1C55AB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F15E8-771B-0402-E378-5389BEBD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21</a:t>
            </a:fld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F0CF10-FE14-06FD-C669-BCCDFE82CC81}"/>
                  </a:ext>
                </a:extLst>
              </p:cNvPr>
              <p:cNvSpPr txBox="1"/>
              <p:nvPr/>
            </p:nvSpPr>
            <p:spPr>
              <a:xfrm>
                <a:off x="3795251" y="2309255"/>
                <a:ext cx="3252019" cy="854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round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den>
                          </m:f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F0CF10-FE14-06FD-C669-BCCDFE82C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51" y="2309255"/>
                <a:ext cx="3252019" cy="8542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02008F9F-2F1E-D5C3-20A3-FF8CD47ECC02}"/>
              </a:ext>
            </a:extLst>
          </p:cNvPr>
          <p:cNvGrpSpPr/>
          <p:nvPr/>
        </p:nvGrpSpPr>
        <p:grpSpPr>
          <a:xfrm>
            <a:off x="4031226" y="3372087"/>
            <a:ext cx="6142702" cy="1455552"/>
            <a:chOff x="4031226" y="3372087"/>
            <a:chExt cx="6142702" cy="145555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E1F8E1F-2A73-A4BC-5092-DF1991281B67}"/>
                </a:ext>
              </a:extLst>
            </p:cNvPr>
            <p:cNvSpPr/>
            <p:nvPr/>
          </p:nvSpPr>
          <p:spPr>
            <a:xfrm>
              <a:off x="4031226" y="3913239"/>
              <a:ext cx="432619" cy="412955"/>
            </a:xfrm>
            <a:prstGeom prst="ellipse">
              <a:avLst/>
            </a:prstGeom>
            <a:solidFill>
              <a:srgbClr val="FF0000">
                <a:alpha val="392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E22309E-61E1-913D-A9F6-09F9B30CE753}"/>
                </a:ext>
              </a:extLst>
            </p:cNvPr>
            <p:cNvSpPr/>
            <p:nvPr/>
          </p:nvSpPr>
          <p:spPr>
            <a:xfrm>
              <a:off x="4601498" y="4414684"/>
              <a:ext cx="432619" cy="412955"/>
            </a:xfrm>
            <a:prstGeom prst="ellipse">
              <a:avLst/>
            </a:prstGeom>
            <a:solidFill>
              <a:srgbClr val="FF0000">
                <a:alpha val="392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DF5645E-2F24-FAD5-91C5-5D053701AB07}"/>
                </a:ext>
              </a:extLst>
            </p:cNvPr>
            <p:cNvCxnSpPr>
              <a:cxnSpLocks/>
              <a:stCxn id="11" idx="1"/>
              <a:endCxn id="7" idx="6"/>
            </p:cNvCxnSpPr>
            <p:nvPr/>
          </p:nvCxnSpPr>
          <p:spPr>
            <a:xfrm flipH="1">
              <a:off x="4463845" y="3849141"/>
              <a:ext cx="2583426" cy="270576"/>
            </a:xfrm>
            <a:prstGeom prst="straightConnector1">
              <a:avLst/>
            </a:prstGeom>
            <a:ln>
              <a:solidFill>
                <a:srgbClr val="FF0000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142D991-8B59-91D7-F33E-9AB05D1EF1F7}"/>
                </a:ext>
              </a:extLst>
            </p:cNvPr>
            <p:cNvSpPr txBox="1"/>
            <p:nvPr/>
          </p:nvSpPr>
          <p:spPr>
            <a:xfrm>
              <a:off x="7047271" y="3372087"/>
              <a:ext cx="3126657" cy="95410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Must be stored for</a:t>
              </a:r>
              <a:br>
                <a:rPr lang="en-US" sz="2800" dirty="0">
                  <a:solidFill>
                    <a:srgbClr val="FF0000"/>
                  </a:solidFill>
                </a:rPr>
              </a:br>
              <a:r>
                <a:rPr lang="en-US" sz="2800" dirty="0">
                  <a:solidFill>
                    <a:srgbClr val="FF0000"/>
                  </a:solidFill>
                </a:rPr>
                <a:t>dequantization</a:t>
              </a:r>
              <a:endParaRPr lang="LID4096" sz="2800" dirty="0"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4EA23A1-3D47-D7E8-4642-B82C5FB8EBD5}"/>
                </a:ext>
              </a:extLst>
            </p:cNvPr>
            <p:cNvCxnSpPr>
              <a:cxnSpLocks/>
              <a:stCxn id="11" idx="1"/>
              <a:endCxn id="8" idx="6"/>
            </p:cNvCxnSpPr>
            <p:nvPr/>
          </p:nvCxnSpPr>
          <p:spPr>
            <a:xfrm flipH="1">
              <a:off x="5034117" y="3849141"/>
              <a:ext cx="2013154" cy="772021"/>
            </a:xfrm>
            <a:prstGeom prst="straightConnector1">
              <a:avLst/>
            </a:prstGeom>
            <a:ln>
              <a:solidFill>
                <a:srgbClr val="FF0000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3F066E9-E106-38A3-7E2B-C57FE229517C}"/>
              </a:ext>
            </a:extLst>
          </p:cNvPr>
          <p:cNvSpPr txBox="1"/>
          <p:nvPr/>
        </p:nvSpPr>
        <p:spPr>
          <a:xfrm>
            <a:off x="4817807" y="5378932"/>
            <a:ext cx="66203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ym typeface="Symbol" panose="05050102010706020507" pitchFamily="18" charset="2"/>
              </a:rPr>
              <a:t> </a:t>
            </a:r>
            <a:r>
              <a:rPr lang="en-US" sz="2800" dirty="0"/>
              <a:t>applied to blocks of weights (64 or 128)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349773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5C066-19BC-4899-99D9-8CA358057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Normalized 4-bit floating point representation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137A6-5B17-2FAA-8BBC-07D1D9A0B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Normalize x between -1.0 and 1.0</a:t>
            </a:r>
          </a:p>
          <a:p>
            <a:r>
              <a:rPr lang="en-US" dirty="0"/>
              <a:t>Keep track of offset, scale</a:t>
            </a:r>
          </a:p>
          <a:p>
            <a:r>
              <a:rPr lang="en-US" dirty="0"/>
              <a:t>"Bin" </a:t>
            </a:r>
            <a:r>
              <a:rPr lang="en-US" i="1" dirty="0"/>
              <a:t>x</a:t>
            </a:r>
            <a:r>
              <a:rPr lang="en-US" dirty="0"/>
              <a:t> into appropriate bucket = 15 equidistant points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7563E-5E23-7CA5-01D7-A827C9A4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22</a:t>
            </a:fld>
            <a:endParaRPr lang="LID4096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06562FB-E778-F1C4-0A4C-44318B6D5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3409157"/>
            <a:ext cx="107632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8430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159B6-151E-930D-374D-6AD5A6AD7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Quantization methods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49FE6-0B24-9E1E-6917-7B722DA1E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Post-Training Quantization (PTQ)</a:t>
            </a:r>
          </a:p>
          <a:p>
            <a:pPr lvl="1"/>
            <a:r>
              <a:rPr lang="en-US" dirty="0"/>
              <a:t>Can be applied to any model</a:t>
            </a:r>
          </a:p>
          <a:p>
            <a:pPr lvl="1"/>
            <a:r>
              <a:rPr lang="en-US" dirty="0"/>
              <a:t>Potentially higher loss of accuracy</a:t>
            </a:r>
          </a:p>
          <a:p>
            <a:r>
              <a:rPr lang="en-US" dirty="0"/>
              <a:t>Quantization-aware training</a:t>
            </a:r>
          </a:p>
          <a:p>
            <a:pPr lvl="1"/>
            <a:r>
              <a:rPr lang="en-US" dirty="0"/>
              <a:t>Requires fine-tuning, training data</a:t>
            </a:r>
          </a:p>
          <a:p>
            <a:pPr lvl="1"/>
            <a:r>
              <a:rPr lang="en-US" dirty="0"/>
              <a:t>Better accuracy</a:t>
            </a:r>
          </a:p>
          <a:p>
            <a:r>
              <a:rPr lang="en-US" dirty="0"/>
              <a:t>... (very active area of research)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DD188-C764-32D0-AC0F-E233C7E2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384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F265DA9-45EE-8580-3833-900A2BC0D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Quantization-aware training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6CD15-4822-D900-196F-C3922B684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24</a:t>
            </a:fld>
            <a:endParaRPr lang="LID4096"/>
          </a:p>
        </p:txBody>
      </p:sp>
      <p:pic>
        <p:nvPicPr>
          <p:cNvPr id="1026" name="Picture 2" descr="Flow chart of quantization-aware training. ">
            <a:extLst>
              <a:ext uri="{FF2B5EF4-FFF2-40B4-BE49-F238E27FC236}">
                <a16:creationId xmlns:a16="http://schemas.microsoft.com/office/drawing/2014/main" id="{D9016BFA-AFCB-7C0A-4BC4-01BBBB58E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811" y="1870075"/>
            <a:ext cx="6667500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6546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11788-684A-AFB7-F36C-D8510C3A8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k-quant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8B4EB8-1D1E-BD98-D6FF-79EF1CE2D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Implemented in LLaMA.cpp</a:t>
            </a:r>
          </a:p>
          <a:p>
            <a:r>
              <a:rPr lang="en-US" dirty="0"/>
              <a:t>Model stored in GPT-Generated Unified Format (GGUF)</a:t>
            </a:r>
          </a:p>
          <a:p>
            <a:r>
              <a:rPr lang="en-US" dirty="0"/>
              <a:t>Family of methods: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Q2_K_S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Q3_K_S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Q3_K_M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Q3_K_L</a:t>
            </a:r>
            <a:r>
              <a:rPr lang="en-US" dirty="0"/>
              <a:t>, ...,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Q5_K_M</a:t>
            </a:r>
          </a:p>
          <a:p>
            <a:r>
              <a:rPr lang="en-US" dirty="0"/>
              <a:t>Uses </a:t>
            </a:r>
            <a:r>
              <a:rPr lang="en-US" i="1" dirty="0"/>
              <a:t>k</a:t>
            </a:r>
            <a:r>
              <a:rPr lang="en-US" dirty="0"/>
              <a:t>-means clustering on weight values, 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Q2_K_S</a:t>
            </a:r>
          </a:p>
          <a:p>
            <a:pPr lvl="1"/>
            <a:r>
              <a:rPr lang="en-US" dirty="0"/>
              <a:t>Most important weights: higher precision (4 bits)</a:t>
            </a:r>
          </a:p>
          <a:p>
            <a:pPr lvl="1"/>
            <a:r>
              <a:rPr lang="en-US" dirty="0"/>
              <a:t>Less important weights: lower precision (2 bits)</a:t>
            </a:r>
          </a:p>
          <a:p>
            <a:r>
              <a:rPr lang="en-US" dirty="0"/>
              <a:t>List quantization methods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601A29-F9D1-7992-71EA-C35C4BD18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25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E03C8-7FCF-280E-084D-9B6A8A9FDF4D}"/>
              </a:ext>
            </a:extLst>
          </p:cNvPr>
          <p:cNvSpPr txBox="1"/>
          <p:nvPr/>
        </p:nvSpPr>
        <p:spPr>
          <a:xfrm>
            <a:off x="1050244" y="5689306"/>
            <a:ext cx="3098969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$ </a:t>
            </a:r>
            <a:r>
              <a:rPr lang="en-US" sz="2000" dirty="0" err="1">
                <a:solidFill>
                  <a:schemeClr val="bg1"/>
                </a:solidFill>
              </a:rPr>
              <a:t>lllama</a:t>
            </a:r>
            <a:r>
              <a:rPr lang="en-US" sz="2000" dirty="0">
                <a:solidFill>
                  <a:schemeClr val="bg1"/>
                </a:solidFill>
              </a:rPr>
              <a:t>-quantize   --help</a:t>
            </a:r>
          </a:p>
        </p:txBody>
      </p:sp>
      <p:pic>
        <p:nvPicPr>
          <p:cNvPr id="6" name="Picture 2" descr="llama">
            <a:extLst>
              <a:ext uri="{FF2B5EF4-FFF2-40B4-BE49-F238E27FC236}">
                <a16:creationId xmlns:a16="http://schemas.microsoft.com/office/drawing/2014/main" id="{B7F4CBC3-513F-CDE7-403D-09194DB59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5193" y="1332488"/>
            <a:ext cx="2554014" cy="8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899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4B75B-C376-A3FB-BEFC-5592B3DF6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Quantization using LLaMa.cpp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43BED-B3F3-40B0-5067-78C84ACDA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in GUFF format</a:t>
            </a:r>
          </a:p>
          <a:p>
            <a:pPr lvl="1"/>
            <a:r>
              <a:rPr lang="en-US" dirty="0"/>
              <a:t>If necessary, convert</a:t>
            </a:r>
            <a:endParaRPr lang="LID4096" dirty="0"/>
          </a:p>
          <a:p>
            <a:pPr lvl="1"/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A7B64-465F-B8C0-B9F2-C056CC1AA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26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C4E2A3-23F2-2731-92B6-DC1AD6A5F684}"/>
              </a:ext>
            </a:extLst>
          </p:cNvPr>
          <p:cNvSpPr txBox="1"/>
          <p:nvPr/>
        </p:nvSpPr>
        <p:spPr>
          <a:xfrm>
            <a:off x="1050244" y="2788781"/>
            <a:ext cx="7729964" cy="34778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$ </a:t>
            </a:r>
            <a:r>
              <a:rPr lang="en-US" sz="2000" dirty="0" err="1">
                <a:solidFill>
                  <a:schemeClr val="bg1"/>
                </a:solidFill>
              </a:rPr>
              <a:t>lllama</a:t>
            </a:r>
            <a:r>
              <a:rPr lang="en-US" sz="2000" dirty="0">
                <a:solidFill>
                  <a:schemeClr val="bg1"/>
                </a:solidFill>
              </a:rPr>
              <a:t>-quantize   llama-2.2-3B-instruct-F16.gguf  \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      llama-2.2-3B-instruct-Q3_K_S.gguf   Q3_K_S</a:t>
            </a:r>
          </a:p>
          <a:p>
            <a:r>
              <a:rPr lang="en-US" sz="2000" dirty="0">
                <a:solidFill>
                  <a:schemeClr val="bg1"/>
                </a:solidFill>
              </a:rPr>
              <a:t>...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llama_model_loader</a:t>
            </a:r>
            <a:r>
              <a:rPr lang="en-US" sz="2000" dirty="0">
                <a:solidFill>
                  <a:schemeClr val="bg1"/>
                </a:solidFill>
              </a:rPr>
              <a:t>: - type  f32:   58 tensors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llama_model_loader</a:t>
            </a:r>
            <a:r>
              <a:rPr lang="en-US" sz="2000" dirty="0">
                <a:solidFill>
                  <a:schemeClr val="bg1"/>
                </a:solidFill>
              </a:rPr>
              <a:t>: - type  f16:  197 tensors</a:t>
            </a:r>
          </a:p>
          <a:p>
            <a:r>
              <a:rPr lang="en-US" sz="2000" dirty="0">
                <a:solidFill>
                  <a:schemeClr val="bg1"/>
                </a:solidFill>
              </a:rPr>
              <a:t>...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llama_model_quantize_internal</a:t>
            </a:r>
            <a:r>
              <a:rPr lang="en-US" sz="2000" dirty="0">
                <a:solidFill>
                  <a:schemeClr val="bg1"/>
                </a:solidFill>
              </a:rPr>
              <a:t>: model size  =  6128.17 MB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llama_model_quantize_internal</a:t>
            </a:r>
            <a:r>
              <a:rPr lang="en-US" sz="2000" dirty="0">
                <a:solidFill>
                  <a:schemeClr val="bg1"/>
                </a:solidFill>
              </a:rPr>
              <a:t>: quant size  =  1463.90 MB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main: quantize time = 282342.12 </a:t>
            </a:r>
            <a:r>
              <a:rPr lang="en-US" sz="2000" dirty="0" err="1">
                <a:solidFill>
                  <a:schemeClr val="bg1"/>
                </a:solidFill>
              </a:rPr>
              <a:t>ms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main:    total time = 282342.12 </a:t>
            </a:r>
            <a:r>
              <a:rPr lang="en-US" sz="2000" dirty="0" err="1">
                <a:solidFill>
                  <a:schemeClr val="bg1"/>
                </a:solidFill>
              </a:rPr>
              <a:t>ms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382066-0D67-2084-B763-4731C7FA0657}"/>
              </a:ext>
            </a:extLst>
          </p:cNvPr>
          <p:cNvGrpSpPr/>
          <p:nvPr/>
        </p:nvGrpSpPr>
        <p:grpSpPr>
          <a:xfrm>
            <a:off x="8099321" y="4753897"/>
            <a:ext cx="1882879" cy="501446"/>
            <a:chOff x="8099321" y="4753897"/>
            <a:chExt cx="1882879" cy="501446"/>
          </a:xfrm>
        </p:grpSpPr>
        <p:sp>
          <p:nvSpPr>
            <p:cNvPr id="6" name="Arrow: Circular 5">
              <a:extLst>
                <a:ext uri="{FF2B5EF4-FFF2-40B4-BE49-F238E27FC236}">
                  <a16:creationId xmlns:a16="http://schemas.microsoft.com/office/drawing/2014/main" id="{E79EA9A9-5A32-A515-48A1-7DF4C9FE575A}"/>
                </a:ext>
              </a:extLst>
            </p:cNvPr>
            <p:cNvSpPr/>
            <p:nvPr/>
          </p:nvSpPr>
          <p:spPr>
            <a:xfrm rot="5400000" flipH="1">
              <a:off x="8359876" y="4493342"/>
              <a:ext cx="501446" cy="1022555"/>
            </a:xfrm>
            <a:prstGeom prst="circular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FB11C2-C491-2D73-FCC6-8E8E0E380BB0}"/>
                </a:ext>
              </a:extLst>
            </p:cNvPr>
            <p:cNvSpPr txBox="1"/>
            <p:nvPr/>
          </p:nvSpPr>
          <p:spPr>
            <a:xfrm>
              <a:off x="9143509" y="4793678"/>
              <a:ext cx="8386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4.1 </a:t>
              </a:r>
              <a:r>
                <a:rPr lang="en-US" sz="24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</a:t>
              </a:r>
              <a:endParaRPr lang="LID4096" b="1" dirty="0">
                <a:solidFill>
                  <a:srgbClr val="FF0000"/>
                </a:solidFill>
              </a:endParaRPr>
            </a:p>
          </p:txBody>
        </p:sp>
      </p:grpSp>
      <p:pic>
        <p:nvPicPr>
          <p:cNvPr id="2050" name="Picture 2" descr="llama">
            <a:extLst>
              <a:ext uri="{FF2B5EF4-FFF2-40B4-BE49-F238E27FC236}">
                <a16:creationId xmlns:a16="http://schemas.microsoft.com/office/drawing/2014/main" id="{E84128F9-211A-8A18-703D-B243F467B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5193" y="1332488"/>
            <a:ext cx="2554014" cy="8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7F22A45-676C-4D12-F3DE-7BD059EE1BD1}"/>
              </a:ext>
            </a:extLst>
          </p:cNvPr>
          <p:cNvGrpSpPr/>
          <p:nvPr/>
        </p:nvGrpSpPr>
        <p:grpSpPr>
          <a:xfrm>
            <a:off x="8581103" y="5707987"/>
            <a:ext cx="2438212" cy="461665"/>
            <a:chOff x="8581103" y="5707987"/>
            <a:chExt cx="2438212" cy="461665"/>
          </a:xfrm>
        </p:grpSpPr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F3C9FFD0-3DF4-FF4B-C55E-9674FFB6729B}"/>
                </a:ext>
              </a:extLst>
            </p:cNvPr>
            <p:cNvSpPr/>
            <p:nvPr/>
          </p:nvSpPr>
          <p:spPr>
            <a:xfrm flipH="1" flipV="1">
              <a:off x="8581103" y="5860298"/>
              <a:ext cx="602227" cy="15704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7D734B-0511-92B0-08D6-C8ABF250E760}"/>
                </a:ext>
              </a:extLst>
            </p:cNvPr>
            <p:cNvSpPr txBox="1"/>
            <p:nvPr/>
          </p:nvSpPr>
          <p:spPr>
            <a:xfrm>
              <a:off x="9228312" y="5707987"/>
              <a:ext cx="17910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± 5 minutes</a:t>
              </a:r>
              <a:endParaRPr lang="LID4096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233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D140D-3834-9B47-D19D-0CC8C4FB7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accuracy: perplexity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AE23BF-28B3-6471-C1BB-92B7F82745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821857"/>
                <a:ext cx="10515600" cy="3355105"/>
              </a:xfrm>
            </p:spPr>
            <p:txBody>
              <a:bodyPr/>
              <a:lstStyle/>
              <a:p>
                <a:r>
                  <a:rPr lang="en-US" b="0" i="0" dirty="0">
                    <a:latin typeface="Cambria Math" panose="02040503050406030204" pitchFamily="18" charset="0"/>
                  </a:rPr>
                  <a:t>Output sequence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endParaRPr lang="en-US" b="0" i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log-likelihood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occurring after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AE23BF-28B3-6471-C1BB-92B7F8274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821857"/>
                <a:ext cx="10515600" cy="3355105"/>
              </a:xfrm>
              <a:blipFill>
                <a:blip r:embed="rId2"/>
                <a:stretch>
                  <a:fillRect l="-1043" t="-327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F8E10-83E3-3385-D608-734D7C992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27</a:t>
            </a:fld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51D90D-EB97-A7EA-0CE7-FE00F699EE4F}"/>
                  </a:ext>
                </a:extLst>
              </p:cNvPr>
              <p:cNvSpPr txBox="1"/>
              <p:nvPr/>
            </p:nvSpPr>
            <p:spPr>
              <a:xfrm>
                <a:off x="2015613" y="1439289"/>
                <a:ext cx="7079226" cy="1281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perplexity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&lt;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51D90D-EB97-A7EA-0CE7-FE00F699E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613" y="1439289"/>
                <a:ext cx="7079226" cy="12813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A5C49D4-8FD0-3A89-069B-8835DB8129A9}"/>
              </a:ext>
            </a:extLst>
          </p:cNvPr>
          <p:cNvSpPr txBox="1"/>
          <p:nvPr/>
        </p:nvSpPr>
        <p:spPr>
          <a:xfrm>
            <a:off x="8463137" y="5009877"/>
            <a:ext cx="289066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Requires dataset</a:t>
            </a:r>
            <a:endParaRPr lang="LID4096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F0FA1B-0D68-71A1-5A8E-8D83105C337E}"/>
              </a:ext>
            </a:extLst>
          </p:cNvPr>
          <p:cNvSpPr txBox="1"/>
          <p:nvPr/>
        </p:nvSpPr>
        <p:spPr>
          <a:xfrm>
            <a:off x="4522839" y="4237799"/>
            <a:ext cx="246105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Lower is better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322319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7F7A1-9AAF-6CE6-2275-B90FE13EA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C86C9-58D7-6AD8-5EF7-742DA0F0E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Perplexity using LLaMa.cpp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20050-F8F4-47B0-D32D-8618D726F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28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154EF-ECC4-7DB0-1C4F-DFB9BDDB1D60}"/>
              </a:ext>
            </a:extLst>
          </p:cNvPr>
          <p:cNvSpPr txBox="1"/>
          <p:nvPr/>
        </p:nvSpPr>
        <p:spPr>
          <a:xfrm>
            <a:off x="167148" y="2356161"/>
            <a:ext cx="11857704" cy="34778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$ </a:t>
            </a:r>
            <a:r>
              <a:rPr lang="en-US" sz="2000" dirty="0" err="1">
                <a:solidFill>
                  <a:schemeClr val="bg1"/>
                </a:solidFill>
              </a:rPr>
              <a:t>lllama</a:t>
            </a:r>
            <a:r>
              <a:rPr lang="en-US" sz="2000" dirty="0">
                <a:solidFill>
                  <a:schemeClr val="bg1"/>
                </a:solidFill>
              </a:rPr>
              <a:t>-perplexity  -m llama-2.2-3B-instruct-F16.gguf   -f wikitext-2-raw/</a:t>
            </a:r>
            <a:r>
              <a:rPr lang="en-US" sz="2000" dirty="0" err="1">
                <a:solidFill>
                  <a:schemeClr val="bg1"/>
                </a:solidFill>
              </a:rPr>
              <a:t>wiki.test.raw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...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llama_model_loader</a:t>
            </a:r>
            <a:r>
              <a:rPr lang="en-US" sz="2000" dirty="0">
                <a:solidFill>
                  <a:schemeClr val="bg1"/>
                </a:solidFill>
              </a:rPr>
              <a:t>: - type  f32:   58 tensors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llama_model_loader</a:t>
            </a:r>
            <a:r>
              <a:rPr lang="en-US" sz="2000" dirty="0">
                <a:solidFill>
                  <a:schemeClr val="bg1"/>
                </a:solidFill>
              </a:rPr>
              <a:t>: - type  f16:  197 tensors</a:t>
            </a:r>
          </a:p>
          <a:p>
            <a:r>
              <a:rPr lang="en-US" sz="2000" dirty="0">
                <a:solidFill>
                  <a:schemeClr val="bg1"/>
                </a:solidFill>
              </a:rPr>
              <a:t>...</a:t>
            </a:r>
          </a:p>
          <a:p>
            <a:r>
              <a:rPr lang="en-US" sz="2000" dirty="0">
                <a:solidFill>
                  <a:schemeClr val="bg1"/>
                </a:solidFill>
              </a:rPr>
              <a:t>Final estimate: PPL = 10.5262 +/- 0.07552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llama_perf_context_print</a:t>
            </a:r>
            <a:r>
              <a:rPr lang="en-US" sz="2000" dirty="0">
                <a:solidFill>
                  <a:schemeClr val="bg1"/>
                </a:solidFill>
              </a:rPr>
              <a:t>:        load time =  266365.05 </a:t>
            </a:r>
            <a:r>
              <a:rPr lang="en-US" sz="2000" dirty="0" err="1">
                <a:solidFill>
                  <a:schemeClr val="bg1"/>
                </a:solidFill>
              </a:rPr>
              <a:t>ms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llama_perf_context_print</a:t>
            </a:r>
            <a:r>
              <a:rPr lang="en-US" sz="2000" dirty="0">
                <a:solidFill>
                  <a:schemeClr val="bg1"/>
                </a:solidFill>
              </a:rPr>
              <a:t>: prompt eval time =  852444.50 </a:t>
            </a:r>
            <a:r>
              <a:rPr lang="en-US" sz="2000" dirty="0" err="1">
                <a:solidFill>
                  <a:schemeClr val="bg1"/>
                </a:solidFill>
              </a:rPr>
              <a:t>ms</a:t>
            </a:r>
            <a:r>
              <a:rPr lang="en-US" sz="2000" dirty="0">
                <a:solidFill>
                  <a:schemeClr val="bg1"/>
                </a:solidFill>
              </a:rPr>
              <a:t> / 288768 tokens (    2.95 </a:t>
            </a:r>
            <a:r>
              <a:rPr lang="en-US" sz="2000" dirty="0" err="1">
                <a:solidFill>
                  <a:schemeClr val="bg1"/>
                </a:solidFill>
              </a:rPr>
              <a:t>ms</a:t>
            </a:r>
            <a:r>
              <a:rPr lang="en-US" sz="2000" dirty="0">
                <a:solidFill>
                  <a:schemeClr val="bg1"/>
                </a:solidFill>
              </a:rPr>
              <a:t> per token )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llama_perf_context_print</a:t>
            </a:r>
            <a:r>
              <a:rPr lang="en-US" sz="2000" dirty="0">
                <a:solidFill>
                  <a:schemeClr val="bg1"/>
                </a:solidFill>
              </a:rPr>
              <a:t>:        eval time =       0.00 </a:t>
            </a:r>
            <a:r>
              <a:rPr lang="en-US" sz="2000" dirty="0" err="1">
                <a:solidFill>
                  <a:schemeClr val="bg1"/>
                </a:solidFill>
              </a:rPr>
              <a:t>ms</a:t>
            </a:r>
            <a:r>
              <a:rPr lang="en-US" sz="2000" dirty="0">
                <a:solidFill>
                  <a:schemeClr val="bg1"/>
                </a:solidFill>
              </a:rPr>
              <a:t> /     1 runs   (    0.00 </a:t>
            </a:r>
            <a:r>
              <a:rPr lang="en-US" sz="2000" dirty="0" err="1">
                <a:solidFill>
                  <a:schemeClr val="bg1"/>
                </a:solidFill>
              </a:rPr>
              <a:t>ms</a:t>
            </a:r>
            <a:r>
              <a:rPr lang="en-US" sz="2000" dirty="0">
                <a:solidFill>
                  <a:schemeClr val="bg1"/>
                </a:solidFill>
              </a:rPr>
              <a:t> per token )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llama_perf_context_print</a:t>
            </a:r>
            <a:r>
              <a:rPr lang="en-US" sz="2000" dirty="0">
                <a:solidFill>
                  <a:schemeClr val="bg1"/>
                </a:solidFill>
              </a:rPr>
              <a:t>:       total time =  868809.79 </a:t>
            </a:r>
            <a:r>
              <a:rPr lang="en-US" sz="2000" dirty="0" err="1">
                <a:solidFill>
                  <a:schemeClr val="bg1"/>
                </a:solidFill>
              </a:rPr>
              <a:t>ms</a:t>
            </a:r>
            <a:r>
              <a:rPr lang="en-US" sz="2000" dirty="0">
                <a:solidFill>
                  <a:schemeClr val="bg1"/>
                </a:solidFill>
              </a:rPr>
              <a:t> / 288769 tokens</a:t>
            </a:r>
          </a:p>
        </p:txBody>
      </p:sp>
      <p:pic>
        <p:nvPicPr>
          <p:cNvPr id="2050" name="Picture 2" descr="llama">
            <a:extLst>
              <a:ext uri="{FF2B5EF4-FFF2-40B4-BE49-F238E27FC236}">
                <a16:creationId xmlns:a16="http://schemas.microsoft.com/office/drawing/2014/main" id="{16420A2D-D1D1-EE56-5084-22D6B65D8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5193" y="1332488"/>
            <a:ext cx="2554014" cy="8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3A528B0-F6E6-E7A7-13B4-92BD433023EE}"/>
              </a:ext>
            </a:extLst>
          </p:cNvPr>
          <p:cNvGrpSpPr/>
          <p:nvPr/>
        </p:nvGrpSpPr>
        <p:grpSpPr>
          <a:xfrm>
            <a:off x="1347019" y="1496547"/>
            <a:ext cx="3824749" cy="784537"/>
            <a:chOff x="1347019" y="1496547"/>
            <a:chExt cx="3824749" cy="7845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F3701D-B1A2-5F6A-0F44-0A1A1677F0DE}"/>
                </a:ext>
              </a:extLst>
            </p:cNvPr>
            <p:cNvSpPr txBox="1"/>
            <p:nvPr/>
          </p:nvSpPr>
          <p:spPr>
            <a:xfrm>
              <a:off x="1347019" y="1496547"/>
              <a:ext cx="24561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Original model</a:t>
              </a:r>
              <a:endParaRPr lang="LID4096" sz="28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621B764-260C-7258-55E8-351DB0A77A78}"/>
                </a:ext>
              </a:extLst>
            </p:cNvPr>
            <p:cNvCxnSpPr>
              <a:stCxn id="14" idx="3"/>
            </p:cNvCxnSpPr>
            <p:nvPr/>
          </p:nvCxnSpPr>
          <p:spPr>
            <a:xfrm>
              <a:off x="3803141" y="1758157"/>
              <a:ext cx="1368627" cy="52292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913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769BE-848B-8F22-26DE-3DDF89957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E33B5-0928-9767-E0F2-5DEFA7817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Perplexity using LLaMa.cpp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6C474-0AA8-0FB2-C323-8F45518C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29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4C9EE1-5E31-E15D-EB5E-D3A72A133302}"/>
              </a:ext>
            </a:extLst>
          </p:cNvPr>
          <p:cNvSpPr txBox="1"/>
          <p:nvPr/>
        </p:nvSpPr>
        <p:spPr>
          <a:xfrm>
            <a:off x="167148" y="2356161"/>
            <a:ext cx="11857704" cy="34778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$ </a:t>
            </a:r>
            <a:r>
              <a:rPr lang="en-US" sz="2000" dirty="0" err="1">
                <a:solidFill>
                  <a:schemeClr val="bg1"/>
                </a:solidFill>
              </a:rPr>
              <a:t>lllama</a:t>
            </a:r>
            <a:r>
              <a:rPr lang="en-US" sz="2000" dirty="0">
                <a:solidFill>
                  <a:schemeClr val="bg1"/>
                </a:solidFill>
              </a:rPr>
              <a:t>-perplexity  -m llama-2.2-3B-instruct-Q3_K_S.gguf   -f wikitext-2-raw/</a:t>
            </a:r>
            <a:r>
              <a:rPr lang="en-US" sz="2000" dirty="0" err="1">
                <a:solidFill>
                  <a:schemeClr val="bg1"/>
                </a:solidFill>
              </a:rPr>
              <a:t>wiki.test.raw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...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llama_model_loader</a:t>
            </a:r>
            <a:r>
              <a:rPr lang="en-US" sz="2000" dirty="0">
                <a:solidFill>
                  <a:schemeClr val="bg1"/>
                </a:solidFill>
              </a:rPr>
              <a:t>: - type  f32:   58 tensors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llama_model_loader</a:t>
            </a:r>
            <a:r>
              <a:rPr lang="en-US" sz="2000" dirty="0">
                <a:solidFill>
                  <a:schemeClr val="bg1"/>
                </a:solidFill>
              </a:rPr>
              <a:t>: - type  f16:  197 tensors</a:t>
            </a:r>
          </a:p>
          <a:p>
            <a:r>
              <a:rPr lang="en-US" sz="2000" dirty="0">
                <a:solidFill>
                  <a:schemeClr val="bg1"/>
                </a:solidFill>
              </a:rPr>
              <a:t>...</a:t>
            </a:r>
          </a:p>
          <a:p>
            <a:r>
              <a:rPr lang="en-US" sz="2000" dirty="0">
                <a:solidFill>
                  <a:schemeClr val="bg1"/>
                </a:solidFill>
              </a:rPr>
              <a:t>Final estimate: PPL = 12.8498 +/- 0.09285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llama_perf_context_print</a:t>
            </a:r>
            <a:r>
              <a:rPr lang="en-US" sz="2000" dirty="0">
                <a:solidFill>
                  <a:schemeClr val="bg1"/>
                </a:solidFill>
              </a:rPr>
              <a:t>:        load time =   61223.73 </a:t>
            </a:r>
            <a:r>
              <a:rPr lang="en-US" sz="2000" dirty="0" err="1">
                <a:solidFill>
                  <a:schemeClr val="bg1"/>
                </a:solidFill>
              </a:rPr>
              <a:t>ms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llama_perf_context_print</a:t>
            </a:r>
            <a:r>
              <a:rPr lang="en-US" sz="2000" dirty="0">
                <a:solidFill>
                  <a:schemeClr val="bg1"/>
                </a:solidFill>
              </a:rPr>
              <a:t>: prompt eval time =  307642.15 </a:t>
            </a:r>
            <a:r>
              <a:rPr lang="en-US" sz="2000" dirty="0" err="1">
                <a:solidFill>
                  <a:schemeClr val="bg1"/>
                </a:solidFill>
              </a:rPr>
              <a:t>ms</a:t>
            </a:r>
            <a:r>
              <a:rPr lang="en-US" sz="2000" dirty="0">
                <a:solidFill>
                  <a:schemeClr val="bg1"/>
                </a:solidFill>
              </a:rPr>
              <a:t> / 288768 tokens (    1.07 </a:t>
            </a:r>
            <a:r>
              <a:rPr lang="en-US" sz="2000" dirty="0" err="1">
                <a:solidFill>
                  <a:schemeClr val="bg1"/>
                </a:solidFill>
              </a:rPr>
              <a:t>ms</a:t>
            </a:r>
            <a:r>
              <a:rPr lang="en-US" sz="2000" dirty="0">
                <a:solidFill>
                  <a:schemeClr val="bg1"/>
                </a:solidFill>
              </a:rPr>
              <a:t> per token )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llama_perf_context_print</a:t>
            </a:r>
            <a:r>
              <a:rPr lang="en-US" sz="2000" dirty="0">
                <a:solidFill>
                  <a:schemeClr val="bg1"/>
                </a:solidFill>
              </a:rPr>
              <a:t>:        eval time =       0.00 </a:t>
            </a:r>
            <a:r>
              <a:rPr lang="en-US" sz="2000" dirty="0" err="1">
                <a:solidFill>
                  <a:schemeClr val="bg1"/>
                </a:solidFill>
              </a:rPr>
              <a:t>ms</a:t>
            </a:r>
            <a:r>
              <a:rPr lang="en-US" sz="2000" dirty="0">
                <a:solidFill>
                  <a:schemeClr val="bg1"/>
                </a:solidFill>
              </a:rPr>
              <a:t> /     1 runs   (    0.00 </a:t>
            </a:r>
            <a:r>
              <a:rPr lang="en-US" sz="2000" dirty="0" err="1">
                <a:solidFill>
                  <a:schemeClr val="bg1"/>
                </a:solidFill>
              </a:rPr>
              <a:t>ms</a:t>
            </a:r>
            <a:r>
              <a:rPr lang="en-US" sz="2000" dirty="0">
                <a:solidFill>
                  <a:schemeClr val="bg1"/>
                </a:solidFill>
              </a:rPr>
              <a:t> per token )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llama_perf_context_print</a:t>
            </a:r>
            <a:r>
              <a:rPr lang="en-US" sz="2000" dirty="0">
                <a:solidFill>
                  <a:schemeClr val="bg1"/>
                </a:solidFill>
              </a:rPr>
              <a:t>:       total time =  322137.10 </a:t>
            </a:r>
            <a:r>
              <a:rPr lang="en-US" sz="2000" dirty="0" err="1">
                <a:solidFill>
                  <a:schemeClr val="bg1"/>
                </a:solidFill>
              </a:rPr>
              <a:t>ms</a:t>
            </a:r>
            <a:r>
              <a:rPr lang="en-US" sz="2000" dirty="0">
                <a:solidFill>
                  <a:schemeClr val="bg1"/>
                </a:solidFill>
              </a:rPr>
              <a:t> / 288769 tokens</a:t>
            </a:r>
          </a:p>
        </p:txBody>
      </p:sp>
      <p:pic>
        <p:nvPicPr>
          <p:cNvPr id="2050" name="Picture 2" descr="llama">
            <a:extLst>
              <a:ext uri="{FF2B5EF4-FFF2-40B4-BE49-F238E27FC236}">
                <a16:creationId xmlns:a16="http://schemas.microsoft.com/office/drawing/2014/main" id="{586B0527-AB7E-C549-2B1D-FA4DE9DA1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5193" y="1332488"/>
            <a:ext cx="2554014" cy="8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2803124-EC4A-39E3-789F-C549F04B4DAE}"/>
              </a:ext>
            </a:extLst>
          </p:cNvPr>
          <p:cNvGrpSpPr/>
          <p:nvPr/>
        </p:nvGrpSpPr>
        <p:grpSpPr>
          <a:xfrm>
            <a:off x="294966" y="1496547"/>
            <a:ext cx="5152105" cy="851338"/>
            <a:chOff x="294966" y="1496547"/>
            <a:chExt cx="5181602" cy="85961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101C35D-3AC7-6C81-F129-A32283E8033C}"/>
                </a:ext>
              </a:extLst>
            </p:cNvPr>
            <p:cNvSpPr txBox="1"/>
            <p:nvPr/>
          </p:nvSpPr>
          <p:spPr>
            <a:xfrm>
              <a:off x="294966" y="1496547"/>
              <a:ext cx="43197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Quantized model (Q3_K_S)</a:t>
              </a:r>
              <a:endParaRPr lang="LID4096" sz="28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883EC42-A3ED-CC43-31E5-503AC85EA6EC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4614738" y="1758157"/>
              <a:ext cx="861830" cy="598004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3915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FB7D7-7208-E3ED-9B5B-3DAB94483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F16 versus Q3_K_S</a:t>
            </a:r>
            <a:endParaRPr lang="LID4096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33B89BC-5579-8179-C6AD-20438A2325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7625195"/>
              </p:ext>
            </p:extLst>
          </p:nvPr>
        </p:nvGraphicFramePr>
        <p:xfrm>
          <a:off x="838200" y="1825625"/>
          <a:ext cx="1051559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71664835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75527470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897180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llama-2.2-3B-instruct-F16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llama-2.2-3B-instruct-Q3_K_S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266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Perplexity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09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Load time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267 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 s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207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Prompt evaluation time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2.95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/token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1.07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/token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478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time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869 s/289k token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322 s/289k tokens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65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Memory size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5.98 GB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1.43 GB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088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Disk size (GGUF file)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 GB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 GB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960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ED8AF-DF4E-A002-F292-DBAB3209D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30</a:t>
            </a:fld>
            <a:endParaRPr lang="LID4096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F9DDE-34A1-5B76-0FAC-B815B01D3F57}"/>
              </a:ext>
            </a:extLst>
          </p:cNvPr>
          <p:cNvSpPr txBox="1"/>
          <p:nvPr/>
        </p:nvSpPr>
        <p:spPr>
          <a:xfrm>
            <a:off x="8927691" y="2183214"/>
            <a:ext cx="861133" cy="400110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sym typeface="Symbol" panose="05050102010706020507" pitchFamily="18" charset="2"/>
              </a:rPr>
              <a:t> 1.22</a:t>
            </a:r>
            <a:endParaRPr lang="LID4096" sz="20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B07998-9DA4-36BC-0B18-19D238B906AD}"/>
              </a:ext>
            </a:extLst>
          </p:cNvPr>
          <p:cNvSpPr txBox="1"/>
          <p:nvPr/>
        </p:nvSpPr>
        <p:spPr>
          <a:xfrm>
            <a:off x="6454879" y="2497383"/>
            <a:ext cx="728084" cy="400110"/>
          </a:xfrm>
          <a:prstGeom prst="rect">
            <a:avLst/>
          </a:prstGeom>
          <a:solidFill>
            <a:srgbClr val="00B050">
              <a:alpha val="0"/>
            </a:srgbClr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sym typeface="Symbol" panose="05050102010706020507" pitchFamily="18" charset="2"/>
              </a:rPr>
              <a:t> 4.3</a:t>
            </a:r>
            <a:endParaRPr lang="LID4096" sz="2000" b="1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A60283-B6FB-1AD7-957E-448B6EC4EAE5}"/>
              </a:ext>
            </a:extLst>
          </p:cNvPr>
          <p:cNvSpPr txBox="1"/>
          <p:nvPr/>
        </p:nvSpPr>
        <p:spPr>
          <a:xfrm>
            <a:off x="6454879" y="3069483"/>
            <a:ext cx="728084" cy="400110"/>
          </a:xfrm>
          <a:prstGeom prst="rect">
            <a:avLst/>
          </a:prstGeom>
          <a:solidFill>
            <a:srgbClr val="00B050">
              <a:alpha val="0"/>
            </a:srgbClr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sym typeface="Symbol" panose="05050102010706020507" pitchFamily="18" charset="2"/>
              </a:rPr>
              <a:t> 2.7</a:t>
            </a:r>
            <a:endParaRPr lang="LID4096" sz="2000" b="1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198F06-E6C7-49A0-B2D8-866FAF9D92DA}"/>
              </a:ext>
            </a:extLst>
          </p:cNvPr>
          <p:cNvSpPr txBox="1"/>
          <p:nvPr/>
        </p:nvSpPr>
        <p:spPr>
          <a:xfrm>
            <a:off x="6454879" y="3836850"/>
            <a:ext cx="728084" cy="400110"/>
          </a:xfrm>
          <a:prstGeom prst="rect">
            <a:avLst/>
          </a:prstGeom>
          <a:solidFill>
            <a:srgbClr val="00B050">
              <a:alpha val="0"/>
            </a:srgbClr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sym typeface="Symbol" panose="05050102010706020507" pitchFamily="18" charset="2"/>
              </a:rPr>
              <a:t> 4.1</a:t>
            </a:r>
            <a:endParaRPr lang="LID4096" sz="2000" b="1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F44920-16A4-7F8E-B1BE-D6AC990F1CCB}"/>
              </a:ext>
            </a:extLst>
          </p:cNvPr>
          <p:cNvSpPr txBox="1"/>
          <p:nvPr/>
        </p:nvSpPr>
        <p:spPr>
          <a:xfrm>
            <a:off x="1248697" y="4782892"/>
            <a:ext cx="3864519" cy="1569660"/>
          </a:xfrm>
          <a:prstGeom prst="rect">
            <a:avLst/>
          </a:prstGeom>
          <a:solidFill>
            <a:srgbClr val="00B050">
              <a:alpha val="18000"/>
            </a:srgbClr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Advantages of quantization: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Less memory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Faster model 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Faster inference</a:t>
            </a:r>
            <a:endParaRPr lang="LID4096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E62DB2-1B5D-23DA-A3A5-F3C0F7ED781B}"/>
              </a:ext>
            </a:extLst>
          </p:cNvPr>
          <p:cNvSpPr txBox="1"/>
          <p:nvPr/>
        </p:nvSpPr>
        <p:spPr>
          <a:xfrm>
            <a:off x="6110748" y="5152224"/>
            <a:ext cx="4817153" cy="830997"/>
          </a:xfrm>
          <a:prstGeom prst="rect">
            <a:avLst/>
          </a:prstGeom>
          <a:solidFill>
            <a:srgbClr val="FF0000">
              <a:alpha val="18000"/>
            </a:srgb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Disadvantages of quantization: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Higher perplexity = less accuracy</a:t>
            </a:r>
          </a:p>
        </p:txBody>
      </p:sp>
    </p:spTree>
    <p:extLst>
      <p:ext uri="{BB962C8B-B14F-4D97-AF65-F5344CB8AC3E}">
        <p14:creationId xmlns:p14="http://schemas.microsoft.com/office/powerpoint/2010/main" val="54352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A62F1-0420-EAE3-9CE2-E7F929C77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E5DE9-A194-B04F-076D-6DE4F840F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Benchmarking performance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B66FF-A184-7333-C64F-D3EDDC44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31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A7900-3B52-3FB3-2D6A-885EDC061C41}"/>
              </a:ext>
            </a:extLst>
          </p:cNvPr>
          <p:cNvSpPr txBox="1"/>
          <p:nvPr/>
        </p:nvSpPr>
        <p:spPr>
          <a:xfrm>
            <a:off x="285135" y="2759256"/>
            <a:ext cx="5673214" cy="255454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llama-batched-bench  \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-m </a:t>
            </a:r>
            <a:r>
              <a:rPr lang="en-US" sz="2000" dirty="0">
                <a:solidFill>
                  <a:schemeClr val="bg1"/>
                </a:solidFill>
              </a:rPr>
              <a:t>llama-2.2-3B-instruct-Q3_K_S.gguf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--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ctx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-size 2048   \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--batch-size 2048 \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--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ubatch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-size 512 \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-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npp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128,256,512  \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-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ntg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128,256      \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-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npl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1,2,4,8,16,32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AA1919-D57B-BF24-7A95-563E0435AA2D}"/>
              </a:ext>
            </a:extLst>
          </p:cNvPr>
          <p:cNvSpPr txBox="1"/>
          <p:nvPr/>
        </p:nvSpPr>
        <p:spPr>
          <a:xfrm>
            <a:off x="3964885" y="2140516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</a:t>
            </a:r>
            <a:endParaRPr lang="LID4096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B86CEE7-BBEE-A62B-0840-689AC1CC523A}"/>
              </a:ext>
            </a:extLst>
          </p:cNvPr>
          <p:cNvGrpSpPr/>
          <p:nvPr/>
        </p:nvGrpSpPr>
        <p:grpSpPr>
          <a:xfrm>
            <a:off x="6096000" y="3144343"/>
            <a:ext cx="2836383" cy="369332"/>
            <a:chOff x="-585335" y="1213516"/>
            <a:chExt cx="2836383" cy="36933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2F4D004-2502-CBBF-FA7B-B09A4BB0BB03}"/>
                </a:ext>
              </a:extLst>
            </p:cNvPr>
            <p:cNvSpPr txBox="1"/>
            <p:nvPr/>
          </p:nvSpPr>
          <p:spPr>
            <a:xfrm>
              <a:off x="108154" y="1213516"/>
              <a:ext cx="21428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Prompt context size</a:t>
              </a:r>
              <a:endParaRPr lang="LID4096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15D7FAD-5D1A-2CA2-69E9-55CB5F4E45C8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H="1">
              <a:off x="-585335" y="1398182"/>
              <a:ext cx="693489" cy="18466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9AB4019-DD71-EAA7-6D8A-1FED48826AC5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4367400" y="2509848"/>
            <a:ext cx="165270" cy="184666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FF6C41-FFDD-AE0A-B553-F84ABB9FEF0C}"/>
              </a:ext>
            </a:extLst>
          </p:cNvPr>
          <p:cNvGrpSpPr/>
          <p:nvPr/>
        </p:nvGrpSpPr>
        <p:grpSpPr>
          <a:xfrm>
            <a:off x="6096000" y="3469521"/>
            <a:ext cx="3690400" cy="369332"/>
            <a:chOff x="-585335" y="1213516"/>
            <a:chExt cx="3690400" cy="3693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3655C1E-477F-5E94-183E-ED0A0DEB636D}"/>
                </a:ext>
              </a:extLst>
            </p:cNvPr>
            <p:cNvSpPr txBox="1"/>
            <p:nvPr/>
          </p:nvSpPr>
          <p:spPr>
            <a:xfrm>
              <a:off x="108154" y="1213516"/>
              <a:ext cx="29969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Logical maximum batch size</a:t>
              </a:r>
              <a:endParaRPr lang="LID4096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F8EEC6C-C532-94C8-F560-AEA316594355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-585335" y="1398182"/>
              <a:ext cx="693489" cy="18466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99874B1-0669-27F9-CDE5-03D622F992BE}"/>
              </a:ext>
            </a:extLst>
          </p:cNvPr>
          <p:cNvGrpSpPr/>
          <p:nvPr/>
        </p:nvGrpSpPr>
        <p:grpSpPr>
          <a:xfrm>
            <a:off x="6096000" y="3794699"/>
            <a:ext cx="3810304" cy="369332"/>
            <a:chOff x="-585335" y="1213516"/>
            <a:chExt cx="3810304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F1B346B-BF0C-87E6-9CB4-64E32E044296}"/>
                </a:ext>
              </a:extLst>
            </p:cNvPr>
            <p:cNvSpPr txBox="1"/>
            <p:nvPr/>
          </p:nvSpPr>
          <p:spPr>
            <a:xfrm>
              <a:off x="108154" y="1213516"/>
              <a:ext cx="3116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Physical maximum batch size</a:t>
              </a:r>
              <a:endParaRPr lang="LID4096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6A97D39-532A-B071-1900-658CDCD4B1AF}"/>
                </a:ext>
              </a:extLst>
            </p:cNvPr>
            <p:cNvCxnSpPr>
              <a:cxnSpLocks/>
              <a:stCxn id="19" idx="1"/>
            </p:cNvCxnSpPr>
            <p:nvPr/>
          </p:nvCxnSpPr>
          <p:spPr>
            <a:xfrm flipH="1">
              <a:off x="-585335" y="1398182"/>
              <a:ext cx="693489" cy="18466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FEDCCD2-A582-F33E-9385-B8C450D43800}"/>
              </a:ext>
            </a:extLst>
          </p:cNvPr>
          <p:cNvGrpSpPr/>
          <p:nvPr/>
        </p:nvGrpSpPr>
        <p:grpSpPr>
          <a:xfrm>
            <a:off x="6096000" y="4119877"/>
            <a:ext cx="3431546" cy="369332"/>
            <a:chOff x="-585335" y="1213516"/>
            <a:chExt cx="3431546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46EED2-E54A-5E6C-1369-DEF12D52D162}"/>
                </a:ext>
              </a:extLst>
            </p:cNvPr>
            <p:cNvSpPr txBox="1"/>
            <p:nvPr/>
          </p:nvSpPr>
          <p:spPr>
            <a:xfrm>
              <a:off x="108154" y="1213516"/>
              <a:ext cx="27380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Number of prompt tokens</a:t>
              </a:r>
              <a:endParaRPr lang="LID4096" dirty="0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F262BEA-8C31-B208-0E8A-8ABB1E26C3A7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 flipH="1">
              <a:off x="-585335" y="1398182"/>
              <a:ext cx="693489" cy="18466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048FC09-93A7-1392-8328-5745ED370594}"/>
              </a:ext>
            </a:extLst>
          </p:cNvPr>
          <p:cNvGrpSpPr/>
          <p:nvPr/>
        </p:nvGrpSpPr>
        <p:grpSpPr>
          <a:xfrm>
            <a:off x="6096000" y="4445055"/>
            <a:ext cx="4171301" cy="369332"/>
            <a:chOff x="-585335" y="1213516"/>
            <a:chExt cx="4171301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C98AFE1-259F-051B-E464-4385B5885532}"/>
                </a:ext>
              </a:extLst>
            </p:cNvPr>
            <p:cNvSpPr txBox="1"/>
            <p:nvPr/>
          </p:nvSpPr>
          <p:spPr>
            <a:xfrm>
              <a:off x="108154" y="1213516"/>
              <a:ext cx="34778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Number of text generation tokens</a:t>
              </a:r>
              <a:endParaRPr lang="LID4096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5840F16-DDBD-D7E5-3D6F-B779F573527C}"/>
                </a:ext>
              </a:extLst>
            </p:cNvPr>
            <p:cNvCxnSpPr>
              <a:cxnSpLocks/>
              <a:stCxn id="28" idx="1"/>
            </p:cNvCxnSpPr>
            <p:nvPr/>
          </p:nvCxnSpPr>
          <p:spPr>
            <a:xfrm flipH="1">
              <a:off x="-585335" y="1398182"/>
              <a:ext cx="693489" cy="18466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99988AE-49DF-5CE8-9CC5-EB9D284E0D3A}"/>
              </a:ext>
            </a:extLst>
          </p:cNvPr>
          <p:cNvGrpSpPr/>
          <p:nvPr/>
        </p:nvGrpSpPr>
        <p:grpSpPr>
          <a:xfrm>
            <a:off x="6096000" y="4771868"/>
            <a:ext cx="3621214" cy="369332"/>
            <a:chOff x="-585335" y="1213516"/>
            <a:chExt cx="3621214" cy="3693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595331F-6A7B-3A3E-B88C-7343F3190648}"/>
                </a:ext>
              </a:extLst>
            </p:cNvPr>
            <p:cNvSpPr txBox="1"/>
            <p:nvPr/>
          </p:nvSpPr>
          <p:spPr>
            <a:xfrm>
              <a:off x="108154" y="1213516"/>
              <a:ext cx="2927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Number of parallel prompts</a:t>
              </a:r>
              <a:endParaRPr lang="LID4096" dirty="0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91E7B3A-1E74-CF25-21C8-8D398CE4EA9B}"/>
                </a:ext>
              </a:extLst>
            </p:cNvPr>
            <p:cNvCxnSpPr>
              <a:cxnSpLocks/>
              <a:stCxn id="32" idx="1"/>
            </p:cNvCxnSpPr>
            <p:nvPr/>
          </p:nvCxnSpPr>
          <p:spPr>
            <a:xfrm flipH="1">
              <a:off x="-585335" y="1398182"/>
              <a:ext cx="693489" cy="18466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2707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87239-B8A7-7023-3831-7F83ECB6C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Benchmarking performance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E8C46-9F9B-BE19-3B15-B68F2F07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32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3393C-53E9-51B6-D737-3C2E24075DC9}"/>
              </a:ext>
            </a:extLst>
          </p:cNvPr>
          <p:cNvSpPr txBox="1"/>
          <p:nvPr/>
        </p:nvSpPr>
        <p:spPr>
          <a:xfrm>
            <a:off x="108154" y="2624206"/>
            <a:ext cx="10874478" cy="418576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|    PP |     TG |    B |   N_KV |   T_PP s | S_PP t/s |   T_TG s | S_TG t/s |      T s |    S t/s |</a:t>
            </a:r>
          </a:p>
          <a:p>
            <a:r>
              <a:rPr lang="en-US" sz="1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|-------|--------|------|--------|----------|----------|----------|----------|----------|----------|</a:t>
            </a:r>
          </a:p>
          <a:p>
            <a:r>
              <a:rPr lang="en-US" sz="1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|   128 |    128 |    1 |    256 |   28.074 |     4.56 |   43.284 |     2.96 |   71.358 |     3.59 |</a:t>
            </a:r>
          </a:p>
          <a:p>
            <a:r>
              <a:rPr lang="en-US" sz="1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|   128 |    128 |    2 |    512 |    1.811 |   141.35 |   52.357 |     4.89 |   54.168 |     9.45 |</a:t>
            </a:r>
          </a:p>
          <a:p>
            <a:r>
              <a:rPr lang="en-US" sz="1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|   128 |    128 |    4 |   1024 |    1.746 |   293.24 |   98.472 |     5.20 |  100.218 |    10.22 |</a:t>
            </a:r>
          </a:p>
          <a:p>
            <a:r>
              <a:rPr lang="en-US" sz="1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|   128 |    128 |    8 |   2048 |    3.116 |   328.67 |   96.980 |    10.56 |  100.096 |    20.46 |</a:t>
            </a:r>
          </a:p>
          <a:p>
            <a:r>
              <a:rPr lang="en-US" sz="1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|   128 |    256 |    1 |    384 |    1.562 |    81.95 |   70.581 |     3.63 |   72.143 |     5.32 |</a:t>
            </a:r>
          </a:p>
          <a:p>
            <a:r>
              <a:rPr lang="en-US" sz="1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|   128 |    256 |    2 |    768 |    1.462 |   175.07 |  104.327 |     4.91 |  105.789 |     7.26 |</a:t>
            </a:r>
          </a:p>
          <a:p>
            <a:r>
              <a:rPr lang="en-US" sz="1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|   128 |    256 |    4 |   1536 |    1.734 |   295.28 |  196.159 |     5.22 |  197.893 |     7.76 |</a:t>
            </a:r>
          </a:p>
          <a:p>
            <a:r>
              <a:rPr lang="en-US" sz="1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|   256 |    128 |    1 |    384 |    1.628 |   157.25 |   33.943 |     3.77 |   35.571 |    10.80 |</a:t>
            </a:r>
          </a:p>
          <a:p>
            <a:r>
              <a:rPr lang="en-US" sz="1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|   256 |    128 |    2 |    768 |    1.602 |   319.52 |   54.113 |     4.73 |   55.716 |    13.78 |</a:t>
            </a:r>
          </a:p>
          <a:p>
            <a:r>
              <a:rPr lang="en-US" sz="1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|   256 |    128 |    4 |   1536 |    3.125 |   327.68 |   97.093 |     5.27 |  100.218 |    15.33 |</a:t>
            </a:r>
          </a:p>
          <a:p>
            <a:r>
              <a:rPr lang="en-US" sz="1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|   256 |    256 |    1 |    512 |    1.544 |   165.84 |   68.837 |     3.72 |   70.381 |     7.27 |</a:t>
            </a:r>
          </a:p>
          <a:p>
            <a:r>
              <a:rPr lang="en-US" sz="1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|   256 |    256 |    2 |   1024 |    1.661 |   308.22 |  105.161 |     4.87 |  106.822 |     9.59 |</a:t>
            </a:r>
          </a:p>
          <a:p>
            <a:r>
              <a:rPr lang="en-US" sz="1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|   256 |    256 |    4 |   2048 |    3.011 |   340.10 |  201.940 |     5.07 |  204.950 |     9.99 |</a:t>
            </a:r>
          </a:p>
          <a:p>
            <a:r>
              <a:rPr lang="en-US" sz="1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|   512 |    128 |    1 |    640 |    1.769 |   289.46 |   34.630 |     3.70 |   36.399 |    17.58 |</a:t>
            </a:r>
          </a:p>
          <a:p>
            <a:r>
              <a:rPr lang="en-US" sz="1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|   512 |    128 |    2 |   1280 |    3.002 |   341.12 |   52.033 |     4.92 |   55.035 |    23.26 |</a:t>
            </a:r>
          </a:p>
          <a:p>
            <a:r>
              <a:rPr lang="en-US" sz="1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|   512 |    256 |    1 |    768 |    1.717 |   298.26 |   69.583 |     3.68 |   71.299 |    10.77 |</a:t>
            </a:r>
          </a:p>
          <a:p>
            <a:r>
              <a:rPr lang="en-US" sz="1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|   512 |    256 |    2 |   1536 |    3.228 |   317.18 |   91.082 |     5.62 |   94.310 |    16.29 |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07D9B0A-FFBD-67E9-726A-9CB155DA310A}"/>
              </a:ext>
            </a:extLst>
          </p:cNvPr>
          <p:cNvGrpSpPr/>
          <p:nvPr/>
        </p:nvGrpSpPr>
        <p:grpSpPr>
          <a:xfrm>
            <a:off x="108154" y="1302008"/>
            <a:ext cx="2285369" cy="1164312"/>
            <a:chOff x="108154" y="1213516"/>
            <a:chExt cx="2285369" cy="116431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9AE565-8524-F583-C3CA-8EFA2FAC7961}"/>
                </a:ext>
              </a:extLst>
            </p:cNvPr>
            <p:cNvSpPr txBox="1"/>
            <p:nvPr/>
          </p:nvSpPr>
          <p:spPr>
            <a:xfrm>
              <a:off x="108154" y="1213516"/>
              <a:ext cx="22853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Prompt tokens/batch</a:t>
              </a:r>
              <a:endParaRPr lang="LID4096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9F28666-1A32-24A2-8A17-B46DB8D17BCC}"/>
                </a:ext>
              </a:extLst>
            </p:cNvPr>
            <p:cNvCxnSpPr>
              <a:cxnSpLocks/>
            </p:cNvCxnSpPr>
            <p:nvPr/>
          </p:nvCxnSpPr>
          <p:spPr>
            <a:xfrm>
              <a:off x="642567" y="1582848"/>
              <a:ext cx="195633" cy="79498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08AE0E-7BAF-5AF8-5F23-E69DE95B42C3}"/>
              </a:ext>
            </a:extLst>
          </p:cNvPr>
          <p:cNvGrpSpPr/>
          <p:nvPr/>
        </p:nvGrpSpPr>
        <p:grpSpPr>
          <a:xfrm>
            <a:off x="830615" y="1614292"/>
            <a:ext cx="2602892" cy="852028"/>
            <a:chOff x="830615" y="1525800"/>
            <a:chExt cx="2602892" cy="85202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0A3000-F73E-F643-6070-C40AA4060AB0}"/>
                </a:ext>
              </a:extLst>
            </p:cNvPr>
            <p:cNvSpPr txBox="1"/>
            <p:nvPr/>
          </p:nvSpPr>
          <p:spPr>
            <a:xfrm>
              <a:off x="830615" y="1525800"/>
              <a:ext cx="2602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Generated tokens/batch</a:t>
              </a:r>
              <a:endParaRPr lang="LID4096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448FAF2-1785-D10C-8C78-C79220AC169B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 flipH="1">
              <a:off x="1809962" y="1895132"/>
              <a:ext cx="322099" cy="48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BA1CE12-1745-CF33-9B30-8CA3630BEA9A}"/>
              </a:ext>
            </a:extLst>
          </p:cNvPr>
          <p:cNvGrpSpPr/>
          <p:nvPr/>
        </p:nvGrpSpPr>
        <p:grpSpPr>
          <a:xfrm>
            <a:off x="2224576" y="1971369"/>
            <a:ext cx="1326773" cy="527218"/>
            <a:chOff x="2224576" y="1971369"/>
            <a:chExt cx="1326773" cy="52721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1AE836E-12FA-EAAB-19C6-8A0EDE71B2EC}"/>
                </a:ext>
              </a:extLst>
            </p:cNvPr>
            <p:cNvSpPr txBox="1"/>
            <p:nvPr/>
          </p:nvSpPr>
          <p:spPr>
            <a:xfrm>
              <a:off x="2224576" y="1971369"/>
              <a:ext cx="1326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Nr. batches</a:t>
              </a:r>
              <a:endParaRPr lang="LID4096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3A81137-3ACC-1B5D-88F5-6272675A52F7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2699691" y="2340701"/>
              <a:ext cx="188272" cy="15788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587CD0E-C1F4-3977-F71B-37BEC90263CF}"/>
              </a:ext>
            </a:extLst>
          </p:cNvPr>
          <p:cNvGrpSpPr/>
          <p:nvPr/>
        </p:nvGrpSpPr>
        <p:grpSpPr>
          <a:xfrm>
            <a:off x="3057596" y="1274602"/>
            <a:ext cx="2487797" cy="1190317"/>
            <a:chOff x="3057596" y="1186110"/>
            <a:chExt cx="2487797" cy="119031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2765DEE-AF40-4BB9-9CD1-5E37BC3633CA}"/>
                </a:ext>
              </a:extLst>
            </p:cNvPr>
            <p:cNvSpPr txBox="1"/>
            <p:nvPr/>
          </p:nvSpPr>
          <p:spPr>
            <a:xfrm>
              <a:off x="3057596" y="1186110"/>
              <a:ext cx="2487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Required KV cache size</a:t>
              </a:r>
              <a:endParaRPr lang="LID4096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C4360C6-15F0-68B7-6D99-A7933746FA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41092" y="1576907"/>
              <a:ext cx="411937" cy="79952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EBFB8B5-EAFA-DF23-C758-43CAF625BB26}"/>
              </a:ext>
            </a:extLst>
          </p:cNvPr>
          <p:cNvGrpSpPr/>
          <p:nvPr/>
        </p:nvGrpSpPr>
        <p:grpSpPr>
          <a:xfrm>
            <a:off x="3812457" y="1661617"/>
            <a:ext cx="3236079" cy="762943"/>
            <a:chOff x="3812457" y="1573125"/>
            <a:chExt cx="3236079" cy="762943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EEB4BF6-8B9C-8CED-468D-00A6F15FAD62}"/>
                </a:ext>
              </a:extLst>
            </p:cNvPr>
            <p:cNvGrpSpPr/>
            <p:nvPr/>
          </p:nvGrpSpPr>
          <p:grpSpPr>
            <a:xfrm>
              <a:off x="3812457" y="1573125"/>
              <a:ext cx="3236079" cy="758027"/>
              <a:chOff x="3812457" y="1573125"/>
              <a:chExt cx="3236079" cy="758027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1D919C-1299-898A-0D2C-7772D1A32ED1}"/>
                  </a:ext>
                </a:extLst>
              </p:cNvPr>
              <p:cNvSpPr txBox="1"/>
              <p:nvPr/>
            </p:nvSpPr>
            <p:spPr>
              <a:xfrm>
                <a:off x="3812457" y="1573125"/>
                <a:ext cx="32360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Prompt processing time/speed</a:t>
                </a:r>
                <a:endParaRPr lang="LID4096" dirty="0"/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F76546D3-E62D-DFF1-53C6-24058E7F8F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22380" y="1959744"/>
                <a:ext cx="0" cy="37140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895A217-EC23-6566-8D9B-69FCB03A0EC0}"/>
                </a:ext>
              </a:extLst>
            </p:cNvPr>
            <p:cNvCxnSpPr>
              <a:cxnSpLocks/>
            </p:cNvCxnSpPr>
            <p:nvPr/>
          </p:nvCxnSpPr>
          <p:spPr>
            <a:xfrm>
              <a:off x="5697334" y="1964660"/>
              <a:ext cx="0" cy="371408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F0463E6-0328-B87F-68F6-7C7C19BE1F68}"/>
              </a:ext>
            </a:extLst>
          </p:cNvPr>
          <p:cNvGrpSpPr/>
          <p:nvPr/>
        </p:nvGrpSpPr>
        <p:grpSpPr>
          <a:xfrm>
            <a:off x="5923600" y="2030949"/>
            <a:ext cx="3236079" cy="577239"/>
            <a:chOff x="3812457" y="1573125"/>
            <a:chExt cx="3236079" cy="577239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68668F7-1580-4676-2603-BD81CC7C3589}"/>
                </a:ext>
              </a:extLst>
            </p:cNvPr>
            <p:cNvGrpSpPr/>
            <p:nvPr/>
          </p:nvGrpSpPr>
          <p:grpSpPr>
            <a:xfrm>
              <a:off x="3812457" y="1573125"/>
              <a:ext cx="3236079" cy="577239"/>
              <a:chOff x="3812457" y="1573125"/>
              <a:chExt cx="3236079" cy="577239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11781F4-ED70-F29F-0320-C62A88D5B2EC}"/>
                  </a:ext>
                </a:extLst>
              </p:cNvPr>
              <p:cNvSpPr txBox="1"/>
              <p:nvPr/>
            </p:nvSpPr>
            <p:spPr>
              <a:xfrm>
                <a:off x="3812457" y="1573125"/>
                <a:ext cx="32360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Prompt processing time/speed</a:t>
                </a:r>
                <a:endParaRPr lang="LID4096" dirty="0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4AB3A4C-5BAF-372F-FC12-48255AD507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22380" y="1959744"/>
                <a:ext cx="0" cy="1906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9AD217C-DAD4-F5BC-F09C-CCDEC6CB28E1}"/>
                </a:ext>
              </a:extLst>
            </p:cNvPr>
            <p:cNvCxnSpPr>
              <a:cxnSpLocks/>
            </p:cNvCxnSpPr>
            <p:nvPr/>
          </p:nvCxnSpPr>
          <p:spPr>
            <a:xfrm>
              <a:off x="5697334" y="1964660"/>
              <a:ext cx="0" cy="185704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94803FB-222A-E8FA-DF76-2BAB469777E3}"/>
              </a:ext>
            </a:extLst>
          </p:cNvPr>
          <p:cNvGrpSpPr/>
          <p:nvPr/>
        </p:nvGrpSpPr>
        <p:grpSpPr>
          <a:xfrm>
            <a:off x="8813550" y="1673064"/>
            <a:ext cx="1840247" cy="762943"/>
            <a:chOff x="4136921" y="1573125"/>
            <a:chExt cx="1840247" cy="762943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E8C4F9D8-8BE7-5027-B4CE-F7AF779CCA4C}"/>
                </a:ext>
              </a:extLst>
            </p:cNvPr>
            <p:cNvGrpSpPr/>
            <p:nvPr/>
          </p:nvGrpSpPr>
          <p:grpSpPr>
            <a:xfrm>
              <a:off x="4136921" y="1573125"/>
              <a:ext cx="1840247" cy="758027"/>
              <a:chOff x="4136921" y="1573125"/>
              <a:chExt cx="1840247" cy="758027"/>
            </a:xfrm>
          </p:grpSpPr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A806E74-6B78-65EB-65A4-C27498CEEFFE}"/>
                  </a:ext>
                </a:extLst>
              </p:cNvPr>
              <p:cNvSpPr txBox="1"/>
              <p:nvPr/>
            </p:nvSpPr>
            <p:spPr>
              <a:xfrm>
                <a:off x="4136921" y="1573125"/>
                <a:ext cx="18402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Total time/speed</a:t>
                </a:r>
                <a:endParaRPr lang="LID4096" dirty="0"/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9353CD84-1622-8DC9-73BC-31E6285496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22380" y="1959744"/>
                <a:ext cx="0" cy="37140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D84EEC84-BFF4-783D-3521-325984C2E35F}"/>
                </a:ext>
              </a:extLst>
            </p:cNvPr>
            <p:cNvCxnSpPr>
              <a:cxnSpLocks/>
            </p:cNvCxnSpPr>
            <p:nvPr/>
          </p:nvCxnSpPr>
          <p:spPr>
            <a:xfrm>
              <a:off x="5697334" y="1964660"/>
              <a:ext cx="0" cy="371408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286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35B58-1B3F-312E-BE71-104D3A643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9E497-A451-540A-FEB7-1F2D245BD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BCBD1-6CD5-3657-784E-D50F4B1D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33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76786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6FF37-EBC3-DB35-025D-D93ACD37A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49966-55FC-2D8C-7B95-63C7D5F1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Running (small) LLMs locally: easy if...</a:t>
            </a:r>
          </a:p>
          <a:p>
            <a:pPr lvl="1"/>
            <a:r>
              <a:rPr lang="en-US" dirty="0"/>
              <a:t>Enough memory</a:t>
            </a:r>
          </a:p>
          <a:p>
            <a:pPr lvl="1"/>
            <a:r>
              <a:rPr lang="en-US" dirty="0"/>
              <a:t>Decent GPU</a:t>
            </a:r>
          </a:p>
          <a:p>
            <a:r>
              <a:rPr lang="en-US" dirty="0"/>
              <a:t>Quantization may help</a:t>
            </a:r>
            <a:endParaRPr lang="LID4096" dirty="0"/>
          </a:p>
          <a:p>
            <a:r>
              <a:rPr lang="en-US" dirty="0"/>
              <a:t>Open-source models perform reasonably well out-of-the-box</a:t>
            </a:r>
          </a:p>
          <a:p>
            <a:r>
              <a:rPr lang="en-US" dirty="0"/>
              <a:t>Open-source models can be specialized by</a:t>
            </a:r>
          </a:p>
          <a:p>
            <a:pPr lvl="1"/>
            <a:r>
              <a:rPr lang="en-US" dirty="0"/>
              <a:t>Custom prompts</a:t>
            </a:r>
          </a:p>
          <a:p>
            <a:pPr lvl="1"/>
            <a:r>
              <a:rPr lang="en-US" dirty="0"/>
              <a:t>Retrieval-Augmented Generation (RAG), knowledge graphs</a:t>
            </a:r>
          </a:p>
          <a:p>
            <a:pPr lvl="1"/>
            <a:r>
              <a:rPr lang="en-US" dirty="0"/>
              <a:t>Fine-tuning</a:t>
            </a:r>
          </a:p>
          <a:p>
            <a:pPr lvl="1"/>
            <a:r>
              <a:rPr lang="en-US" dirty="0"/>
              <a:t>Transfer learning</a:t>
            </a:r>
          </a:p>
          <a:p>
            <a:r>
              <a:rPr lang="en-US" dirty="0"/>
              <a:t>Starting from scratch is (very) expensive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60CAF-DA36-36CE-6F82-3B84E1FEF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34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72024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28046-D717-4D03-68B6-24F62F8E8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9B4B1-BF0F-03F7-F1C2-183824AE9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hlinkClick r:id="rId2"/>
              </a:rPr>
              <a:t>Attention is all you need</a:t>
            </a:r>
            <a:r>
              <a:rPr lang="en-US" dirty="0"/>
              <a:t>, Vaswani et al., NIPS 2017</a:t>
            </a:r>
            <a:endParaRPr lang="en-US" i="1" dirty="0">
              <a:hlinkClick r:id="rId3"/>
            </a:endParaRPr>
          </a:p>
          <a:p>
            <a:r>
              <a:rPr lang="en-US" i="1" dirty="0">
                <a:hlinkClick r:id="rId3"/>
              </a:rPr>
              <a:t>Paper walkthrough: attention is all you need</a:t>
            </a:r>
            <a:r>
              <a:rPr lang="en-US" dirty="0"/>
              <a:t>, Muhammad </a:t>
            </a:r>
            <a:r>
              <a:rPr lang="en-US" dirty="0" err="1"/>
              <a:t>Ardi</a:t>
            </a:r>
            <a:endParaRPr lang="en-US" dirty="0"/>
          </a:p>
          <a:p>
            <a:r>
              <a:rPr lang="en-US" i="1" dirty="0">
                <a:hlinkClick r:id="rId4"/>
              </a:rPr>
              <a:t>Tracing the transformer in diagrams</a:t>
            </a:r>
            <a:r>
              <a:rPr lang="en-US" dirty="0"/>
              <a:t>,  Eric Silberstein</a:t>
            </a:r>
          </a:p>
          <a:p>
            <a:r>
              <a:rPr lang="en-US" i="1" dirty="0">
                <a:hlinkClick r:id="rId5"/>
              </a:rPr>
              <a:t>What is relative positional encoding</a:t>
            </a:r>
            <a:r>
              <a:rPr lang="en-US" dirty="0"/>
              <a:t>, </a:t>
            </a:r>
            <a:r>
              <a:rPr lang="en-US" dirty="0" err="1"/>
              <a:t>Ngieng</a:t>
            </a:r>
            <a:r>
              <a:rPr lang="en-US" dirty="0"/>
              <a:t> </a:t>
            </a:r>
            <a:r>
              <a:rPr lang="en-US" dirty="0" err="1"/>
              <a:t>Kianyev</a:t>
            </a:r>
            <a:endParaRPr lang="en-US" dirty="0"/>
          </a:p>
          <a:p>
            <a:r>
              <a:rPr lang="en-US" i="1" dirty="0">
                <a:hlinkClick r:id="rId6"/>
              </a:rPr>
              <a:t>Understanding mathematics behind floating point precision</a:t>
            </a:r>
            <a:r>
              <a:rPr lang="en-US" dirty="0"/>
              <a:t>, Prabhu Raghav</a:t>
            </a:r>
          </a:p>
          <a:p>
            <a:r>
              <a:rPr lang="en-US" b="0" i="1" dirty="0">
                <a:solidFill>
                  <a:srgbClr val="1C2B33"/>
                </a:solidFill>
                <a:effectLst/>
                <a:latin typeface="Optimistic Display Medium"/>
                <a:hlinkClick r:id="rId7"/>
              </a:rPr>
              <a:t>Introducing Meta Llama 3: The most capable openly available LLM to date</a:t>
            </a:r>
            <a:endParaRPr lang="en-US" b="0" i="1" dirty="0">
              <a:solidFill>
                <a:srgbClr val="1C2B33"/>
              </a:solidFill>
              <a:effectLst/>
              <a:latin typeface="Optimistic Display Medium"/>
            </a:endParaRPr>
          </a:p>
          <a:p>
            <a:r>
              <a:rPr lang="en-US" i="1" dirty="0">
                <a:hlinkClick r:id="rId8"/>
              </a:rPr>
              <a:t>A guide to quantization in LLMs</a:t>
            </a:r>
            <a:r>
              <a:rPr lang="en-US" dirty="0"/>
              <a:t>, Kartik </a:t>
            </a:r>
            <a:r>
              <a:rPr lang="en-US" dirty="0" err="1"/>
              <a:t>Talamadupula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3AC12-F433-5474-8AC9-46ECB0618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35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671516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76C6E-3DF1-1A78-7679-9C260BEE4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EB359-7741-CE1D-C9D5-9E7F22CC9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err="1">
                <a:hlinkClick r:id="rId2"/>
              </a:rPr>
              <a:t>LoRA</a:t>
            </a:r>
            <a:r>
              <a:rPr lang="en-US" i="1" dirty="0">
                <a:hlinkClick r:id="rId2"/>
              </a:rPr>
              <a:t>: Low-Rank Adaptation of Large Language Models</a:t>
            </a:r>
            <a:r>
              <a:rPr lang="en-US" dirty="0"/>
              <a:t>, Hu et al., 2021</a:t>
            </a:r>
          </a:p>
          <a:p>
            <a:r>
              <a:rPr lang="en-US" i="1" dirty="0" err="1">
                <a:hlinkClick r:id="rId3"/>
              </a:rPr>
              <a:t>QLoRA</a:t>
            </a:r>
            <a:r>
              <a:rPr lang="en-US" i="1" dirty="0">
                <a:hlinkClick r:id="rId3"/>
              </a:rPr>
              <a:t>: Efficient Finetuning of Quantized LLMs</a:t>
            </a:r>
            <a:r>
              <a:rPr lang="en-US" dirty="0"/>
              <a:t>, Dettmers et al.,2023</a:t>
            </a:r>
          </a:p>
          <a:p>
            <a:r>
              <a:rPr lang="en-US" i="1" dirty="0">
                <a:hlinkClick r:id="rId4"/>
              </a:rPr>
              <a:t>32 MCP Servers You Need To Check Out Now</a:t>
            </a:r>
            <a:r>
              <a:rPr lang="en-US" dirty="0"/>
              <a:t>, Abid Ali Awan, 2025</a:t>
            </a:r>
          </a:p>
          <a:p>
            <a:r>
              <a:rPr lang="en-US" dirty="0">
                <a:hlinkClick r:id="rId5"/>
              </a:rPr>
              <a:t>VSC documentation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4A3EA-FCC1-6F74-F313-9C5E07791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36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579716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4869B-BF9C-3310-5E71-D57AB7A6E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models &amp; data sets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BAB21-93CD-D41F-B198-83FFBC0B9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675BE-F863-7E9E-DCB3-CE17676B3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37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743809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A3C35-409B-87C6-3952-10F3F7F8F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Hugging Face gate &amp; private models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61A36-26CA-470B-1C5F-3DB4EEDBD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Requires access token</a:t>
            </a:r>
          </a:p>
          <a:p>
            <a:pPr lvl="1"/>
            <a:r>
              <a:rPr lang="en-US" dirty="0"/>
              <a:t>Create a Hugging Face account</a:t>
            </a:r>
          </a:p>
          <a:p>
            <a:pPr lvl="1"/>
            <a:r>
              <a:rPr lang="en-US" dirty="0"/>
              <a:t>Go to "Access Tokens" in your profile menu</a:t>
            </a:r>
          </a:p>
          <a:p>
            <a:pPr lvl="1"/>
            <a:r>
              <a:rPr lang="en-US" dirty="0"/>
              <a:t>Create &amp; copy token</a:t>
            </a:r>
          </a:p>
          <a:p>
            <a:pPr lvl="1"/>
            <a:r>
              <a:rPr lang="en-US" dirty="0"/>
              <a:t>Log in using token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Gated model: request permission via Hugging Face</a:t>
            </a:r>
          </a:p>
          <a:p>
            <a:pPr lvl="1"/>
            <a:r>
              <a:rPr lang="en-US" dirty="0"/>
              <a:t>Confirmation via email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A9453-3795-7DD6-505C-8CF27DD8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38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7E8E77-65BC-1A61-C9DE-BAF8031DB114}"/>
              </a:ext>
            </a:extLst>
          </p:cNvPr>
          <p:cNvSpPr txBox="1"/>
          <p:nvPr/>
        </p:nvSpPr>
        <p:spPr>
          <a:xfrm>
            <a:off x="1620513" y="4020014"/>
            <a:ext cx="4701629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$  </a:t>
            </a:r>
            <a:r>
              <a:rPr lang="en-US" sz="2000" dirty="0" err="1">
                <a:solidFill>
                  <a:schemeClr val="bg1"/>
                </a:solidFill>
              </a:rPr>
              <a:t>huggingface</a:t>
            </a:r>
            <a:r>
              <a:rPr lang="en-US" sz="2000" dirty="0">
                <a:solidFill>
                  <a:schemeClr val="bg1"/>
                </a:solidFill>
              </a:rPr>
              <a:t>-cli  login  &lt;your-token&gt;</a:t>
            </a:r>
            <a:endParaRPr lang="LID4096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598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E432-94B5-A1B1-0ABD-7E4A38187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66DB5-C84F-AE63-7CF8-48F1D8BED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Hugging Face data sets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20A59-CE00-B3D7-9FBA-D6189FACA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Hugging Face dataset, e.g., Wikipedia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9FA89-CA3A-A621-A319-D24A4BAF4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39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15D617E-6D66-32E0-B10D-F9DB89BD1D4D}"/>
              </a:ext>
            </a:extLst>
          </p:cNvPr>
          <p:cNvGrpSpPr/>
          <p:nvPr/>
        </p:nvGrpSpPr>
        <p:grpSpPr>
          <a:xfrm>
            <a:off x="1689340" y="2564838"/>
            <a:ext cx="7823370" cy="1187227"/>
            <a:chOff x="1620514" y="2908967"/>
            <a:chExt cx="7823370" cy="118722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F5B959B-37A3-E665-FF7C-B84F3A90DF11}"/>
                </a:ext>
              </a:extLst>
            </p:cNvPr>
            <p:cNvSpPr txBox="1"/>
            <p:nvPr/>
          </p:nvSpPr>
          <p:spPr>
            <a:xfrm>
              <a:off x="1620514" y="2908967"/>
              <a:ext cx="7562816" cy="707886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$  </a:t>
              </a:r>
              <a:r>
                <a:rPr lang="en-US" sz="2000" dirty="0" err="1">
                  <a:solidFill>
                    <a:schemeClr val="bg1"/>
                  </a:solidFill>
                </a:rPr>
                <a:t>huggingface</a:t>
              </a:r>
              <a:r>
                <a:rPr lang="en-US" sz="2000" dirty="0">
                  <a:solidFill>
                    <a:schemeClr val="bg1"/>
                  </a:solidFill>
                </a:rPr>
                <a:t>-cli  download   </a:t>
              </a:r>
              <a:r>
                <a:rPr lang="en-US" sz="2000" dirty="0" err="1">
                  <a:solidFill>
                    <a:schemeClr val="bg1"/>
                  </a:solidFill>
                </a:rPr>
                <a:t>wikimedia</a:t>
              </a:r>
              <a:r>
                <a:rPr lang="en-US" sz="2000" dirty="0">
                  <a:solidFill>
                    <a:schemeClr val="bg1"/>
                  </a:solidFill>
                </a:rPr>
                <a:t>/</a:t>
              </a:r>
              <a:r>
                <a:rPr lang="en-US" sz="2000" dirty="0" err="1">
                  <a:solidFill>
                    <a:schemeClr val="bg1"/>
                  </a:solidFill>
                </a:rPr>
                <a:t>wikipedia</a:t>
              </a:r>
              <a:r>
                <a:rPr lang="en-US" sz="2000" dirty="0">
                  <a:solidFill>
                    <a:schemeClr val="bg1"/>
                  </a:solidFill>
                </a:rPr>
                <a:t>    \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                  --repo-type dataset --local-</a:t>
              </a:r>
              <a:r>
                <a:rPr lang="en-US" sz="2000" dirty="0" err="1">
                  <a:solidFill>
                    <a:schemeClr val="bg1"/>
                  </a:solidFill>
                </a:rPr>
                <a:t>dir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wikimedia</a:t>
              </a:r>
              <a:r>
                <a:rPr lang="en-US" sz="2000" dirty="0">
                  <a:solidFill>
                    <a:schemeClr val="bg1"/>
                  </a:solidFill>
                </a:rPr>
                <a:t>/</a:t>
              </a:r>
              <a:r>
                <a:rPr lang="en-US" sz="2000" dirty="0" err="1">
                  <a:solidFill>
                    <a:schemeClr val="bg1"/>
                  </a:solidFill>
                </a:rPr>
                <a:t>wikipedia</a:t>
              </a:r>
              <a:r>
                <a:rPr lang="en-US" sz="2000" dirty="0">
                  <a:solidFill>
                    <a:schemeClr val="bg1"/>
                  </a:solidFill>
                </a:rPr>
                <a:t>/</a:t>
              </a:r>
              <a:endParaRPr lang="LID4096" sz="2000" dirty="0">
                <a:solidFill>
                  <a:schemeClr val="bg1"/>
                </a:solidFill>
              </a:endParaRPr>
            </a:p>
          </p:txBody>
        </p:sp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2DD7E897-5730-B866-7817-3CA907E9C7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600" y="3262910"/>
              <a:ext cx="833284" cy="833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088275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AF8E7-01C4-4AC7-F9BC-F8A5E8982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software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CD83A-9F7F-36BA-D10B-6877C2AE0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E9F0D-E518-4101-8DB3-62D73B025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40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855481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2016C-8BEB-9920-2619-D1B77E15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MiniForge3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C0C46-0641-4F69-FB21-CAAF3559A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installation script or use local copy</a:t>
            </a:r>
            <a:br>
              <a:rPr lang="en-US" dirty="0"/>
            </a:br>
            <a:r>
              <a:rPr lang="en-US" dirty="0">
                <a:hlinkClick r:id="rId2"/>
              </a:rPr>
              <a:t>https://github.com/conda-forge/miniforge/releases</a:t>
            </a:r>
            <a:endParaRPr lang="en-US" dirty="0"/>
          </a:p>
          <a:p>
            <a:endParaRPr lang="en-US" dirty="0"/>
          </a:p>
          <a:p>
            <a:r>
              <a:rPr lang="en-US" dirty="0"/>
              <a:t>Run installation script </a:t>
            </a:r>
          </a:p>
          <a:p>
            <a:endParaRPr lang="en-US" dirty="0"/>
          </a:p>
          <a:p>
            <a:r>
              <a:rPr lang="en-US" dirty="0"/>
              <a:t>Agree to license</a:t>
            </a:r>
          </a:p>
          <a:p>
            <a:r>
              <a:rPr lang="en-US" dirty="0"/>
              <a:t>Accept location</a:t>
            </a:r>
          </a:p>
          <a:p>
            <a:r>
              <a:rPr lang="en-US" dirty="0"/>
              <a:t>Run shell initialization</a:t>
            </a:r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08E23-ED81-2F3F-AFE4-DFB52A25C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41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507EEF-A75A-6D84-1139-5422E16136CD}"/>
              </a:ext>
            </a:extLst>
          </p:cNvPr>
          <p:cNvSpPr txBox="1"/>
          <p:nvPr/>
        </p:nvSpPr>
        <p:spPr>
          <a:xfrm>
            <a:off x="1303387" y="2746712"/>
            <a:ext cx="9175428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-to-release&gt;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30CFF9-6466-76CA-6562-B0FC1C6C36CC}"/>
              </a:ext>
            </a:extLst>
          </p:cNvPr>
          <p:cNvSpPr txBox="1"/>
          <p:nvPr/>
        </p:nvSpPr>
        <p:spPr>
          <a:xfrm>
            <a:off x="1303387" y="3737312"/>
            <a:ext cx="9175428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bash Miniforge3-Linux-x86_64.sh  -p $VSC_DATA/miniforge3</a:t>
            </a:r>
          </a:p>
        </p:txBody>
      </p:sp>
    </p:spTree>
    <p:extLst>
      <p:ext uri="{BB962C8B-B14F-4D97-AF65-F5344CB8AC3E}">
        <p14:creationId xmlns:p14="http://schemas.microsoft.com/office/powerpoint/2010/main" val="117571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6A5B-E15B-CEB6-0C6B-81CF6FA65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for </a:t>
            </a:r>
            <a:r>
              <a:rPr lang="en-US" dirty="0" err="1"/>
              <a:t>hpccm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CC65B-EB08-E9B0-8A19-0602FADD2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environment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Activate environment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A6366-5CCF-CF0A-7A21-AB7B69895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42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FA807C-56DA-73EA-A3B1-61FB1F5393FF}"/>
              </a:ext>
            </a:extLst>
          </p:cNvPr>
          <p:cNvSpPr txBox="1"/>
          <p:nvPr/>
        </p:nvSpPr>
        <p:spPr>
          <a:xfrm>
            <a:off x="1313898" y="2406766"/>
            <a:ext cx="5725999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mamba  create  -n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hpccm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hpccm</a:t>
            </a:r>
            <a:endParaRPr lang="en-US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8F53D6-C12B-4422-D0A1-65EDF1CB81F7}"/>
              </a:ext>
            </a:extLst>
          </p:cNvPr>
          <p:cNvSpPr txBox="1"/>
          <p:nvPr/>
        </p:nvSpPr>
        <p:spPr>
          <a:xfrm>
            <a:off x="1224559" y="4097291"/>
            <a:ext cx="5815338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mamba activate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hpccm</a:t>
            </a:r>
            <a:endParaRPr lang="en-US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23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E9132-E3D5-C6D4-38D1-D0DEEB090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Environments for code examples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E83DD-AA5B-4FC7-F4D8-7081F11CF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Directories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source-code</a:t>
            </a:r>
            <a:r>
              <a:rPr lang="en-US" dirty="0"/>
              <a:t> has its own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environment.yml</a:t>
            </a:r>
            <a:r>
              <a:rPr lang="en-US" dirty="0"/>
              <a:t> file</a:t>
            </a:r>
          </a:p>
          <a:p>
            <a:pPr lvl="1"/>
            <a:r>
              <a:rPr lang="en-US" dirty="0"/>
              <a:t>Machine learning libraries have non-trivial dependencies</a:t>
            </a:r>
          </a:p>
          <a:p>
            <a:r>
              <a:rPr lang="en-US" dirty="0"/>
              <a:t>Creating environments takes</a:t>
            </a:r>
          </a:p>
          <a:p>
            <a:pPr lvl="1"/>
            <a:r>
              <a:rPr lang="en-US" dirty="0"/>
              <a:t>Time</a:t>
            </a:r>
          </a:p>
          <a:p>
            <a:pPr lvl="1"/>
            <a:r>
              <a:rPr lang="en-US" dirty="0"/>
              <a:t>Memory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Create environments one at the time!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A8FAE-3C22-1E9F-0541-A91EBC0FA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43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9EEB05-F363-56C3-FBEE-214C39F7EC9E}"/>
              </a:ext>
            </a:extLst>
          </p:cNvPr>
          <p:cNvSpPr txBox="1"/>
          <p:nvPr/>
        </p:nvSpPr>
        <p:spPr>
          <a:xfrm>
            <a:off x="2694039" y="4218039"/>
            <a:ext cx="659949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Create environments on a compute node!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15564263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46693-FDC5-EE67-AE65-9C37300E3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Jupyter</a:t>
            </a:r>
            <a:r>
              <a:rPr lang="en-US" dirty="0"/>
              <a:t> Lab kernels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38B07-51EA-1660-AAC6-9C92879AC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Activate environment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Install kernel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5CF65-1C3B-0291-0EBB-CB3363BBF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44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C63FE-A0B9-7CD1-7195-BF7506E4A3BB}"/>
              </a:ext>
            </a:extLst>
          </p:cNvPr>
          <p:cNvSpPr txBox="1"/>
          <p:nvPr/>
        </p:nvSpPr>
        <p:spPr>
          <a:xfrm>
            <a:off x="1313049" y="2455302"/>
            <a:ext cx="6877222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mamba activate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hpccm</a:t>
            </a:r>
            <a:endParaRPr lang="en-US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1052CC-844B-B4B7-29A8-E714067698B6}"/>
              </a:ext>
            </a:extLst>
          </p:cNvPr>
          <p:cNvSpPr txBox="1"/>
          <p:nvPr/>
        </p:nvSpPr>
        <p:spPr>
          <a:xfrm>
            <a:off x="1313049" y="4022301"/>
            <a:ext cx="6877222" cy="132343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 -m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ipykernel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install --user \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--env PYTHONPATH ''         \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--name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ai_tools_fine_tuning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--display-name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ai_tools_fine_tuning</a:t>
            </a:r>
            <a:endParaRPr lang="en-US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556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ECD35-B025-8994-C62B-3090CDB8E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definition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A81AE-664D-CF07-5514-9229471C2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hpccm</a:t>
            </a:r>
            <a:r>
              <a:rPr lang="en-US" dirty="0"/>
              <a:t>/</a:t>
            </a:r>
            <a:r>
              <a:rPr lang="en-US" dirty="0" err="1"/>
              <a:t>Apptainer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DFAE5-79FC-BF0B-0B72-7935E93E7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45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E82D5D4-2CF6-53AF-3FF1-C0397EB5508D}"/>
              </a:ext>
            </a:extLst>
          </p:cNvPr>
          <p:cNvGrpSpPr/>
          <p:nvPr/>
        </p:nvGrpSpPr>
        <p:grpSpPr>
          <a:xfrm>
            <a:off x="395750" y="2493963"/>
            <a:ext cx="6624176" cy="3693319"/>
            <a:chOff x="1415847" y="2290917"/>
            <a:chExt cx="6624176" cy="369331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09698C-F001-025A-EA21-30A7F378096F}"/>
                </a:ext>
              </a:extLst>
            </p:cNvPr>
            <p:cNvSpPr txBox="1"/>
            <p:nvPr/>
          </p:nvSpPr>
          <p:spPr>
            <a:xfrm>
              <a:off x="1415847" y="2290917"/>
              <a:ext cx="6624176" cy="36933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'''Recipe to create either a Docker container or Singularity image</a:t>
              </a:r>
            </a:p>
            <a:p>
              <a:r>
                <a:rPr lang="en-US" dirty="0"/>
                <a:t>for a container to run </a:t>
              </a:r>
              <a:r>
                <a:rPr lang="en-US" dirty="0" err="1"/>
                <a:t>Ollama</a:t>
              </a:r>
              <a:r>
                <a:rPr lang="en-US" dirty="0"/>
                <a:t> tools.</a:t>
              </a:r>
            </a:p>
            <a:p>
              <a:endParaRPr lang="en-US" dirty="0"/>
            </a:p>
            <a:p>
              <a:r>
                <a:rPr lang="en-US" dirty="0"/>
                <a:t>Usage:</a:t>
              </a:r>
            </a:p>
            <a:p>
              <a:r>
                <a:rPr lang="en-US" dirty="0"/>
                <a:t>    $ </a:t>
              </a:r>
              <a:r>
                <a:rPr lang="en-US" dirty="0" err="1"/>
                <a:t>hpccm</a:t>
              </a:r>
              <a:r>
                <a:rPr lang="en-US" dirty="0"/>
                <a:t>  --recipe ollama.py  --format docker</a:t>
              </a:r>
            </a:p>
            <a:p>
              <a:r>
                <a:rPr lang="en-US" dirty="0"/>
                <a:t>    $ </a:t>
              </a:r>
              <a:r>
                <a:rPr lang="en-US" dirty="0" err="1"/>
                <a:t>hpccm</a:t>
              </a:r>
              <a:r>
                <a:rPr lang="en-US" dirty="0"/>
                <a:t>  --recipe ollama.py  --format singularity</a:t>
              </a:r>
            </a:p>
            <a:p>
              <a:r>
                <a:rPr lang="en-US" dirty="0"/>
                <a:t>'''</a:t>
              </a:r>
            </a:p>
            <a:p>
              <a:endParaRPr lang="en-US" dirty="0"/>
            </a:p>
            <a:p>
              <a:r>
                <a:rPr lang="en-US" dirty="0"/>
                <a:t># Choose a base image</a:t>
              </a:r>
            </a:p>
            <a:p>
              <a:r>
                <a:rPr lang="en-US" dirty="0"/>
                <a:t>Stage0.baseimage('</a:t>
              </a:r>
              <a:r>
                <a:rPr lang="en-US" dirty="0" err="1"/>
                <a:t>ollama</a:t>
              </a:r>
              <a:r>
                <a:rPr lang="en-US" dirty="0"/>
                <a:t>/</a:t>
              </a:r>
              <a:r>
                <a:rPr lang="en-US" dirty="0" err="1"/>
                <a:t>ollama:latest</a:t>
              </a:r>
              <a:r>
                <a:rPr lang="en-US" dirty="0"/>
                <a:t>')</a:t>
              </a:r>
            </a:p>
            <a:p>
              <a:endParaRPr lang="en-US" dirty="0"/>
            </a:p>
            <a:p>
              <a:r>
                <a:rPr lang="en-US" dirty="0"/>
                <a:t># add run script, i.e., start bash</a:t>
              </a:r>
            </a:p>
            <a:p>
              <a:r>
                <a:rPr lang="en-US" dirty="0"/>
                <a:t>Stage0 += </a:t>
              </a:r>
              <a:r>
                <a:rPr lang="en-US" dirty="0" err="1"/>
                <a:t>runscript</a:t>
              </a:r>
              <a:r>
                <a:rPr lang="en-US" dirty="0"/>
                <a:t>(commands=['</a:t>
              </a:r>
              <a:r>
                <a:rPr lang="en-US" dirty="0" err="1"/>
                <a:t>ollama</a:t>
              </a:r>
              <a:r>
                <a:rPr lang="en-US" dirty="0"/>
                <a:t>'])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42BF0CE-730B-E3E8-53EF-1F2A100BEB6E}"/>
                </a:ext>
              </a:extLst>
            </p:cNvPr>
            <p:cNvSpPr txBox="1"/>
            <p:nvPr/>
          </p:nvSpPr>
          <p:spPr>
            <a:xfrm>
              <a:off x="6611038" y="5614904"/>
              <a:ext cx="142539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Ollama.py</a:t>
              </a:r>
              <a:endParaRPr lang="LID4096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0FFCFAB-6117-68CC-4082-9385D3BC7E35}"/>
              </a:ext>
            </a:extLst>
          </p:cNvPr>
          <p:cNvSpPr txBox="1"/>
          <p:nvPr/>
        </p:nvSpPr>
        <p:spPr>
          <a:xfrm>
            <a:off x="6437362" y="3493462"/>
            <a:ext cx="4916438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hpccm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--recipe ollama.py   \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--format singularity \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&gt;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ollama.recipe</a:t>
            </a:r>
            <a:endParaRPr lang="en-US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083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48876-AC8C-4B05-3F19-69AFA0274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creation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E4511-6944-0C5A-CD99-B2DA3BEA9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7FA6-5826-4EA5-8536-11A903012ABC}" type="slidenum">
              <a:rPr lang="LID4096" smtClean="0"/>
              <a:t>46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B054229-75A8-1637-F3AF-4451EF542208}"/>
              </a:ext>
            </a:extLst>
          </p:cNvPr>
          <p:cNvGrpSpPr/>
          <p:nvPr/>
        </p:nvGrpSpPr>
        <p:grpSpPr>
          <a:xfrm>
            <a:off x="525966" y="1340646"/>
            <a:ext cx="8579069" cy="5355312"/>
            <a:chOff x="1415847" y="2290917"/>
            <a:chExt cx="8579069" cy="535531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B35A6B-93D0-6C31-E86E-2CC5A19549B2}"/>
                </a:ext>
              </a:extLst>
            </p:cNvPr>
            <p:cNvSpPr txBox="1"/>
            <p:nvPr/>
          </p:nvSpPr>
          <p:spPr>
            <a:xfrm>
              <a:off x="1415847" y="2290917"/>
              <a:ext cx="8579069" cy="53553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#!/usr/bin/env -S bash -l</a:t>
              </a:r>
            </a:p>
            <a:p>
              <a:r>
                <a:rPr lang="en-US" dirty="0"/>
                <a:t>#SBATCH --account=</a:t>
              </a:r>
              <a:r>
                <a:rPr lang="en-US" dirty="0" err="1"/>
                <a:t>lp_gpgpu_training</a:t>
              </a:r>
              <a:endParaRPr lang="en-US" dirty="0"/>
            </a:p>
            <a:p>
              <a:r>
                <a:rPr lang="en-US" dirty="0"/>
                <a:t>#SBATCH --nodes=1  --</a:t>
              </a:r>
              <a:r>
                <a:rPr lang="en-US" dirty="0" err="1"/>
                <a:t>ntasks</a:t>
              </a:r>
              <a:r>
                <a:rPr lang="en-US" dirty="0"/>
                <a:t>=1  --</a:t>
              </a:r>
              <a:r>
                <a:rPr lang="en-US" dirty="0" err="1"/>
                <a:t>gpus</a:t>
              </a:r>
              <a:r>
                <a:rPr lang="en-US" dirty="0"/>
                <a:t>-per-node=1</a:t>
              </a:r>
            </a:p>
            <a:p>
              <a:r>
                <a:rPr lang="en-US" dirty="0"/>
                <a:t>#SBATCH --time=00:30:00</a:t>
              </a:r>
            </a:p>
            <a:p>
              <a:r>
                <a:rPr lang="en-US" dirty="0"/>
                <a:t>#SBATCH --cluster=genius  --partition=gpu_p100</a:t>
              </a:r>
            </a:p>
            <a:p>
              <a:endParaRPr lang="en-US" dirty="0"/>
            </a:p>
            <a:p>
              <a:r>
                <a:rPr lang="en-US" dirty="0"/>
                <a:t>if [ -z $RECIPE ]</a:t>
              </a:r>
            </a:p>
            <a:p>
              <a:r>
                <a:rPr lang="en-US" dirty="0"/>
                <a:t>then</a:t>
              </a:r>
            </a:p>
            <a:p>
              <a:r>
                <a:rPr lang="en-US" dirty="0"/>
                <a:t>    (&gt;&amp;2 echo "RECIPE not set")</a:t>
              </a:r>
            </a:p>
            <a:p>
              <a:r>
                <a:rPr lang="en-US" dirty="0"/>
                <a:t>    exit 1</a:t>
              </a:r>
            </a:p>
            <a:p>
              <a:r>
                <a:rPr lang="en-US" dirty="0"/>
                <a:t>fi</a:t>
              </a:r>
            </a:p>
            <a:p>
              <a:endParaRPr lang="en-US" dirty="0"/>
            </a:p>
            <a:p>
              <a:r>
                <a:rPr lang="en-US" dirty="0"/>
                <a:t>IMAGE=$(</a:t>
              </a:r>
              <a:r>
                <a:rPr lang="en-US" dirty="0" err="1"/>
                <a:t>basename</a:t>
              </a:r>
              <a:r>
                <a:rPr lang="en-US" dirty="0"/>
                <a:t> "${RECIPE%.*}.</a:t>
              </a:r>
              <a:r>
                <a:rPr lang="en-US" dirty="0" err="1"/>
                <a:t>sif</a:t>
              </a:r>
              <a:r>
                <a:rPr lang="en-US" dirty="0"/>
                <a:t>")</a:t>
              </a:r>
            </a:p>
            <a:p>
              <a:r>
                <a:rPr lang="en-US" dirty="0"/>
                <a:t>export APPTAINER_TMPDIR=$VSC_SCRATCH/</a:t>
              </a:r>
              <a:r>
                <a:rPr lang="en-US" dirty="0" err="1"/>
                <a:t>singularity_tmp</a:t>
              </a:r>
              <a:endParaRPr lang="en-US" dirty="0"/>
            </a:p>
            <a:p>
              <a:r>
                <a:rPr lang="en-US" dirty="0" err="1"/>
                <a:t>mkdir</a:t>
              </a:r>
              <a:r>
                <a:rPr lang="en-US" dirty="0"/>
                <a:t> -p $APPTAINER_TMPDIR</a:t>
              </a:r>
            </a:p>
            <a:p>
              <a:r>
                <a:rPr lang="en-US" dirty="0"/>
                <a:t>export APPTAINER_CACHEDIR=$VSC_SCRATCH/</a:t>
              </a:r>
              <a:r>
                <a:rPr lang="en-US" dirty="0" err="1"/>
                <a:t>singularity_cache</a:t>
              </a:r>
              <a:endParaRPr lang="en-US" dirty="0"/>
            </a:p>
            <a:p>
              <a:r>
                <a:rPr lang="en-US" dirty="0" err="1"/>
                <a:t>mkdir</a:t>
              </a:r>
              <a:r>
                <a:rPr lang="en-US" dirty="0"/>
                <a:t> -p $APPTAINER_CACHEDIR</a:t>
              </a:r>
            </a:p>
            <a:p>
              <a:endParaRPr lang="en-US" dirty="0"/>
            </a:p>
            <a:p>
              <a:r>
                <a:rPr lang="en-US" dirty="0" err="1"/>
                <a:t>apptainer</a:t>
              </a:r>
              <a:r>
                <a:rPr lang="en-US" dirty="0"/>
                <a:t> build --</a:t>
              </a:r>
              <a:r>
                <a:rPr lang="en-US" dirty="0" err="1"/>
                <a:t>nv</a:t>
              </a:r>
              <a:r>
                <a:rPr lang="en-US" dirty="0"/>
                <a:t> --force --</a:t>
              </a:r>
              <a:r>
                <a:rPr lang="en-US" dirty="0" err="1"/>
                <a:t>fakeroot</a:t>
              </a:r>
              <a:r>
                <a:rPr lang="en-US" dirty="0"/>
                <a:t> $IMAGE $RECIPE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4D516F-98D3-3FEF-BFDF-BDE3FBC9F0C1}"/>
                </a:ext>
              </a:extLst>
            </p:cNvPr>
            <p:cNvSpPr txBox="1"/>
            <p:nvPr/>
          </p:nvSpPr>
          <p:spPr>
            <a:xfrm>
              <a:off x="6915227" y="2293929"/>
              <a:ext cx="3079689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apptainer_build.slurm</a:t>
              </a:r>
              <a:endParaRPr lang="LID4096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1CF449D-E61E-DBD2-637B-6F4970C7AC88}"/>
              </a:ext>
            </a:extLst>
          </p:cNvPr>
          <p:cNvSpPr txBox="1"/>
          <p:nvPr/>
        </p:nvSpPr>
        <p:spPr>
          <a:xfrm>
            <a:off x="4562475" y="3177659"/>
            <a:ext cx="7391399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sbatch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--export=ALL,RECIPE=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ollama.recipse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\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apptainer_build.slurm</a:t>
            </a:r>
            <a:endParaRPr lang="en-US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92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Custom 9">
      <a:dk1>
        <a:srgbClr val="333639"/>
      </a:dk1>
      <a:lt1>
        <a:srgbClr val="F4F5FC"/>
      </a:lt1>
      <a:dk2>
        <a:srgbClr val="353A42"/>
      </a:dk2>
      <a:lt2>
        <a:srgbClr val="FFFFFF"/>
      </a:lt2>
      <a:accent1>
        <a:srgbClr val="DB6C30"/>
      </a:accent1>
      <a:accent2>
        <a:srgbClr val="DB6C30"/>
      </a:accent2>
      <a:accent3>
        <a:srgbClr val="DB6C30"/>
      </a:accent3>
      <a:accent4>
        <a:srgbClr val="DB6C30"/>
      </a:accent4>
      <a:accent5>
        <a:srgbClr val="DB6C30"/>
      </a:accent5>
      <a:accent6>
        <a:srgbClr val="AAB2BD"/>
      </a:accent6>
      <a:hlink>
        <a:srgbClr val="F8960D"/>
      </a:hlink>
      <a:folHlink>
        <a:srgbClr val="D70444"/>
      </a:folHlink>
    </a:clrScheme>
    <a:fontScheme name="VSC">
      <a:majorFont>
        <a:latin typeface="FlandersArtSans-Bold"/>
        <a:ea typeface=""/>
        <a:cs typeface=""/>
      </a:majorFont>
      <a:minorFont>
        <a:latin typeface="FlandersArtSans-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2588</Words>
  <Application>Microsoft Office PowerPoint</Application>
  <PresentationFormat>Widescreen</PresentationFormat>
  <Paragraphs>491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9" baseType="lpstr">
      <vt:lpstr>Aptos</vt:lpstr>
      <vt:lpstr>Aptos Display</vt:lpstr>
      <vt:lpstr>Arial</vt:lpstr>
      <vt:lpstr>Cambria Math</vt:lpstr>
      <vt:lpstr>Courier New</vt:lpstr>
      <vt:lpstr>FlandersArtSans-Bold</vt:lpstr>
      <vt:lpstr>FlandersArtSans-Medium</vt:lpstr>
      <vt:lpstr>FlandersArtSans-Regular</vt:lpstr>
      <vt:lpstr>Lucida Sans Typewriter</vt:lpstr>
      <vt:lpstr>Optimistic Display Medium</vt:lpstr>
      <vt:lpstr>Symbol</vt:lpstr>
      <vt:lpstr>Office Theme</vt:lpstr>
      <vt:lpstr>1_Office Theme</vt:lpstr>
      <vt:lpstr>Fine-tuning</vt:lpstr>
      <vt:lpstr>PowerPoint Presentation</vt:lpstr>
      <vt:lpstr>Overview</vt:lpstr>
      <vt:lpstr>Getting ready</vt:lpstr>
      <vt:lpstr>GitHub repository</vt:lpstr>
      <vt:lpstr>Hugging Face account</vt:lpstr>
      <vt:lpstr>Hugging Face gated repositories</vt:lpstr>
      <vt:lpstr>Fine tuning</vt:lpstr>
      <vt:lpstr>Why fine-tuning?</vt:lpstr>
      <vt:lpstr>Number of parameters</vt:lpstr>
      <vt:lpstr>Adapters</vt:lpstr>
      <vt:lpstr>Low-order Rank Adaptation (LoRA)</vt:lpstr>
      <vt:lpstr>Squeezing even more: QLoRA</vt:lpstr>
      <vt:lpstr>Shrink your model: quantization</vt:lpstr>
      <vt:lpstr>Network representation for training</vt:lpstr>
      <vt:lpstr>Quantization</vt:lpstr>
      <vt:lpstr>32-bit floating point representation</vt:lpstr>
      <vt:lpstr>16-bit floating point representation</vt:lpstr>
      <vt:lpstr>16-bit brain floating point representation</vt:lpstr>
      <vt:lpstr>8-bit integer representation</vt:lpstr>
      <vt:lpstr>n-bit integers</vt:lpstr>
      <vt:lpstr>Normalized 4-bit floating point representation</vt:lpstr>
      <vt:lpstr>Quantization methods</vt:lpstr>
      <vt:lpstr>Quantization-aware training</vt:lpstr>
      <vt:lpstr>k-quant</vt:lpstr>
      <vt:lpstr>Quantization using LLaMa.cpp</vt:lpstr>
      <vt:lpstr>Assessing accuracy: perplexity</vt:lpstr>
      <vt:lpstr>Perplexity using LLaMa.cpp</vt:lpstr>
      <vt:lpstr>Perplexity using LLaMa.cpp</vt:lpstr>
      <vt:lpstr>Comparison F16 versus Q3_K_S</vt:lpstr>
      <vt:lpstr>Benchmarking performance</vt:lpstr>
      <vt:lpstr>Benchmarking performance</vt:lpstr>
      <vt:lpstr>Conclusions</vt:lpstr>
      <vt:lpstr>Conclusions</vt:lpstr>
      <vt:lpstr>References</vt:lpstr>
      <vt:lpstr>References</vt:lpstr>
      <vt:lpstr>Getting models &amp; data sets</vt:lpstr>
      <vt:lpstr>Hugging Face gate &amp; private models</vt:lpstr>
      <vt:lpstr>Hugging Face data sets</vt:lpstr>
      <vt:lpstr>Installing software</vt:lpstr>
      <vt:lpstr>Installing MiniForge3</vt:lpstr>
      <vt:lpstr>Environment for hpccm</vt:lpstr>
      <vt:lpstr>Environments for code examples</vt:lpstr>
      <vt:lpstr>Installing Jupyter Lab kernels</vt:lpstr>
      <vt:lpstr>Image definition</vt:lpstr>
      <vt:lpstr>Image creation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Geert Jan Bex</dc:creator>
  <cp:lastModifiedBy>Geert Jan Bex</cp:lastModifiedBy>
  <cp:revision>71</cp:revision>
  <dcterms:created xsi:type="dcterms:W3CDTF">2024-10-24T07:20:14Z</dcterms:created>
  <dcterms:modified xsi:type="dcterms:W3CDTF">2026-01-30T07:29:42Z</dcterms:modified>
</cp:coreProperties>
</file>