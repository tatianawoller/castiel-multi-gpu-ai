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46"/>
  </p:notesMasterIdLst>
  <p:sldIdLst>
    <p:sldId id="314" r:id="rId2"/>
    <p:sldId id="550" r:id="rId3"/>
    <p:sldId id="548" r:id="rId4"/>
    <p:sldId id="502" r:id="rId5"/>
    <p:sldId id="462" r:id="rId6"/>
    <p:sldId id="536" r:id="rId7"/>
    <p:sldId id="503" r:id="rId8"/>
    <p:sldId id="430" r:id="rId9"/>
    <p:sldId id="463" r:id="rId10"/>
    <p:sldId id="464" r:id="rId11"/>
    <p:sldId id="465" r:id="rId12"/>
    <p:sldId id="514" r:id="rId13"/>
    <p:sldId id="546" r:id="rId14"/>
    <p:sldId id="479" r:id="rId15"/>
    <p:sldId id="489" r:id="rId16"/>
    <p:sldId id="490" r:id="rId17"/>
    <p:sldId id="518" r:id="rId18"/>
    <p:sldId id="517" r:id="rId19"/>
    <p:sldId id="521" r:id="rId20"/>
    <p:sldId id="519" r:id="rId21"/>
    <p:sldId id="520" r:id="rId22"/>
    <p:sldId id="537" r:id="rId23"/>
    <p:sldId id="524" r:id="rId24"/>
    <p:sldId id="527" r:id="rId25"/>
    <p:sldId id="523" r:id="rId26"/>
    <p:sldId id="526" r:id="rId27"/>
    <p:sldId id="525" r:id="rId28"/>
    <p:sldId id="528" r:id="rId29"/>
    <p:sldId id="529" r:id="rId30"/>
    <p:sldId id="530" r:id="rId31"/>
    <p:sldId id="531" r:id="rId32"/>
    <p:sldId id="532" r:id="rId33"/>
    <p:sldId id="534" r:id="rId34"/>
    <p:sldId id="535" r:id="rId35"/>
    <p:sldId id="533" r:id="rId36"/>
    <p:sldId id="552" r:id="rId37"/>
    <p:sldId id="553" r:id="rId38"/>
    <p:sldId id="554" r:id="rId39"/>
    <p:sldId id="539" r:id="rId40"/>
    <p:sldId id="541" r:id="rId41"/>
    <p:sldId id="540" r:id="rId42"/>
    <p:sldId id="547" r:id="rId43"/>
    <p:sldId id="549" r:id="rId44"/>
    <p:sldId id="542" r:id="rId45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03" autoAdjust="0"/>
    <p:restoredTop sz="94660"/>
  </p:normalViewPr>
  <p:slideViewPr>
    <p:cSldViewPr snapToGrid="0">
      <p:cViewPr varScale="1">
        <p:scale>
          <a:sx n="149" d="100"/>
          <a:sy n="149" d="100"/>
        </p:scale>
        <p:origin x="744" y="11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9E301C-B518-4A99-80B5-8004CB30009A}" type="datetimeFigureOut">
              <a:rPr lang="en-NL" smtClean="0"/>
              <a:t>01/29/2026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011EDB-57D6-4007-99DC-0F471263F1E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3922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44D7F65-5299-4383-99A9-3EF851E1080D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nl-NL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37406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011EDB-57D6-4007-99DC-0F471263F1E1}" type="slidenum">
              <a:rPr lang="en-NL" smtClean="0"/>
              <a:t>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754110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011EDB-57D6-4007-99DC-0F471263F1E1}" type="slidenum">
              <a:rPr lang="en-NL" smtClean="0"/>
              <a:t>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53817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011EDB-57D6-4007-99DC-0F471263F1E1}" type="slidenum">
              <a:rPr lang="en-NL" smtClean="0"/>
              <a:t>16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311822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011EDB-57D6-4007-99DC-0F471263F1E1}" type="slidenum">
              <a:rPr lang="en-NL" smtClean="0"/>
              <a:t>21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15698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w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29-1-2026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 dirty="0"/>
              <a:t>Plaats hier de titel van de presentatie</a:t>
            </a:r>
            <a:endParaRPr lang="en-US" dirty="0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 dirty="0"/>
              <a:t>Plaats hier de naam van </a:t>
            </a:r>
            <a:br>
              <a:rPr lang="nl-NL" dirty="0"/>
            </a:br>
            <a:r>
              <a:rPr lang="nl-NL" dirty="0"/>
              <a:t>De spreker óf subtitel</a:t>
            </a:r>
            <a:endParaRPr lang="en-US" dirty="0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54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29-1-2026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69951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29-1-2026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02835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29-1-2026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12180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29-1-2026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90007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29-1-2026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07109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29-1-2026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6945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29-1-2026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3522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29-1-2026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56949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29-1-2026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7066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29-1-2026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7193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29-1-2026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41798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29-1-2026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93671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29-1-2026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93283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29-1-2026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99513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29-1-2026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 dirty="0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Naam + achternaam</a:t>
            </a:r>
          </a:p>
          <a:p>
            <a:pPr lvl="0"/>
            <a:endParaRPr lang="nl-NL" noProof="0" dirty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 err="1"/>
              <a:t>Social</a:t>
            </a:r>
            <a:r>
              <a:rPr lang="nl-NL" dirty="0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1578926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31825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6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 dirty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 dirty="0"/>
              <a:t>JU-LEVEL1=</a:t>
            </a:r>
            <a:r>
              <a:rPr lang="nl-NL" noProof="0" dirty="0" err="1"/>
              <a:t>Bullet</a:t>
            </a:r>
            <a:r>
              <a:rPr lang="nl-NL" noProof="0" dirty="0"/>
              <a:t> oranje</a:t>
            </a:r>
          </a:p>
          <a:p>
            <a:pPr lvl="1"/>
            <a:r>
              <a:rPr lang="nl-NL" noProof="0" dirty="0"/>
              <a:t>JU-LEVEL2=</a:t>
            </a:r>
            <a:r>
              <a:rPr lang="nl-NL" noProof="0" dirty="0" err="1"/>
              <a:t>Bullet</a:t>
            </a:r>
            <a:r>
              <a:rPr lang="nl-NL" noProof="0" dirty="0"/>
              <a:t> rood</a:t>
            </a:r>
          </a:p>
          <a:p>
            <a:pPr lvl="2"/>
            <a:r>
              <a:rPr lang="nl-NL" noProof="0" dirty="0"/>
              <a:t>JU-LEVEL3=</a:t>
            </a:r>
            <a:r>
              <a:rPr lang="nl-NL" noProof="0" dirty="0" err="1"/>
              <a:t>Bullet</a:t>
            </a:r>
            <a:r>
              <a:rPr lang="nl-NL" noProof="0" dirty="0"/>
              <a:t> blauw</a:t>
            </a:r>
          </a:p>
          <a:p>
            <a:pPr lvl="3"/>
            <a:r>
              <a:rPr lang="nl-NL" noProof="0" dirty="0"/>
              <a:t>JU-LEVEL4=</a:t>
            </a:r>
            <a:r>
              <a:rPr lang="nl-NL" noProof="0" dirty="0" err="1"/>
              <a:t>Bullet</a:t>
            </a:r>
            <a:r>
              <a:rPr lang="nl-NL" noProof="0" dirty="0"/>
              <a:t> groen</a:t>
            </a:r>
          </a:p>
          <a:p>
            <a:pPr lvl="4"/>
            <a:r>
              <a:rPr lang="nl-NL" noProof="0" dirty="0"/>
              <a:t>JU-LEVEL5=Leestekst</a:t>
            </a:r>
          </a:p>
          <a:p>
            <a:pPr lvl="5"/>
            <a:r>
              <a:rPr lang="nl-NL" noProof="0" dirty="0"/>
              <a:t>JU-LEVEL6=Subtitel</a:t>
            </a:r>
          </a:p>
          <a:p>
            <a:pPr lvl="6"/>
            <a:r>
              <a:rPr lang="nl-NL" noProof="0" dirty="0"/>
              <a:t>JU-LEVEL7=Sub-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JU-LEVEL8=Nummers</a:t>
            </a:r>
          </a:p>
          <a:p>
            <a:pPr lvl="8"/>
            <a:r>
              <a:rPr lang="nl-NL" noProof="0" dirty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29-1-2026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130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NCCS/castiel-multi-gpu-ai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tutorials/recipes/recipes/tuning_guide.html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microsoft.com/office/2007/relationships/hdphoto" Target="../media/hdphoto4.wdp"/><Relationship Id="rId3" Type="http://schemas.openxmlformats.org/officeDocument/2006/relationships/image" Target="../media/image19.jpeg"/><Relationship Id="rId7" Type="http://schemas.microsoft.com/office/2007/relationships/hdphoto" Target="../media/hdphoto1.wdp"/><Relationship Id="rId12" Type="http://schemas.openxmlformats.org/officeDocument/2006/relationships/image" Target="../media/image25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microsoft.com/office/2007/relationships/hdphoto" Target="../media/hdphoto3.wdp"/><Relationship Id="rId5" Type="http://schemas.openxmlformats.org/officeDocument/2006/relationships/image" Target="../media/image21.jpeg"/><Relationship Id="rId10" Type="http://schemas.openxmlformats.org/officeDocument/2006/relationships/image" Target="../media/image24.png"/><Relationship Id="rId4" Type="http://schemas.openxmlformats.org/officeDocument/2006/relationships/image" Target="../media/image20.jpeg"/><Relationship Id="rId9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13" Type="http://schemas.microsoft.com/office/2007/relationships/hdphoto" Target="../media/hdphoto2.wdp"/><Relationship Id="rId3" Type="http://schemas.openxmlformats.org/officeDocument/2006/relationships/image" Target="../media/image5.png"/><Relationship Id="rId7" Type="http://schemas.openxmlformats.org/officeDocument/2006/relationships/image" Target="../media/image19.jpeg"/><Relationship Id="rId12" Type="http://schemas.openxmlformats.org/officeDocument/2006/relationships/image" Target="../media/image23.png"/><Relationship Id="rId17" Type="http://schemas.microsoft.com/office/2007/relationships/hdphoto" Target="../media/hdphoto4.wdp"/><Relationship Id="rId2" Type="http://schemas.openxmlformats.org/officeDocument/2006/relationships/image" Target="../media/image4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microsoft.com/office/2007/relationships/hdphoto" Target="../media/hdphoto1.wdp"/><Relationship Id="rId5" Type="http://schemas.openxmlformats.org/officeDocument/2006/relationships/image" Target="../media/image7.png"/><Relationship Id="rId15" Type="http://schemas.microsoft.com/office/2007/relationships/hdphoto" Target="../media/hdphoto3.wdp"/><Relationship Id="rId10" Type="http://schemas.openxmlformats.org/officeDocument/2006/relationships/image" Target="../media/image22.png"/><Relationship Id="rId4" Type="http://schemas.openxmlformats.org/officeDocument/2006/relationships/image" Target="../media/image6.png"/><Relationship Id="rId9" Type="http://schemas.openxmlformats.org/officeDocument/2006/relationships/image" Target="../media/image21.jpeg"/><Relationship Id="rId1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13" Type="http://schemas.openxmlformats.org/officeDocument/2006/relationships/image" Target="../media/image30.png"/><Relationship Id="rId3" Type="http://schemas.openxmlformats.org/officeDocument/2006/relationships/image" Target="../media/image5.png"/><Relationship Id="rId7" Type="http://schemas.openxmlformats.org/officeDocument/2006/relationships/image" Target="../media/image18.jpeg"/><Relationship Id="rId12" Type="http://schemas.openxmlformats.org/officeDocument/2006/relationships/image" Target="../media/image2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jpeg"/><Relationship Id="rId11" Type="http://schemas.openxmlformats.org/officeDocument/2006/relationships/image" Target="../media/image28.png"/><Relationship Id="rId5" Type="http://schemas.openxmlformats.org/officeDocument/2006/relationships/image" Target="../media/image7.png"/><Relationship Id="rId10" Type="http://schemas.openxmlformats.org/officeDocument/2006/relationships/image" Target="../media/image27.png"/><Relationship Id="rId4" Type="http://schemas.openxmlformats.org/officeDocument/2006/relationships/image" Target="../media/image6.png"/><Relationship Id="rId9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discuss.pytorch.org/t/multiple-node-multiple-worker-allreduce/98869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docs/stable/distributed.html#backends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://blog.ezyang.com/2020/09/lets-talk-about-the-pytorch-dispatcher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edium.com/@casparvanleeuwen/why-efficientnet-is-not-very-computationally-efficient-505fc08087b9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tutorials/intermediate/ddp_tutorial.html#comparison-between-dataparallel-and-distributeddataparallel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tutorials/beginner/ddp_series_multigpu.html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distributed.html#torch.distributed.init_process_group" TargetMode="External"/><Relationship Id="rId2" Type="http://schemas.openxmlformats.org/officeDocument/2006/relationships/hyperlink" Target="https://pytorch.org/docs/stable/distributed.html#backends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tutorials/beginner/ddp_series_multigpu.html#constructing-the-process-group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docs/stable/data.html?highlight=distributedsampler#torch.utils.data.distributed.DistributedSampler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docs/stable/data.html?highlight=distributedsampler#torch.utils.data.distributed.DistributedSampler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tutorials/beginner/ddp_series_fault_tolerance.html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NCCS/castiel-multi-gpu-ai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hpc-wiki.info/hpc/Scaling#Strong_Scaling_2" TargetMode="External"/><Relationship Id="rId2" Type="http://schemas.openxmlformats.org/officeDocument/2006/relationships/hyperlink" Target="https://hpc-wiki.info/hpc/Scaling#Strong_Scaling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docs/stable/elastic/run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nvidia.com/deeplearning/nccl/user-guide/docs/env.html#nccl-algo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spaces/nanotron/ultrascale-playbook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Placeholder 21">
            <a:extLst>
              <a:ext uri="{FF2B5EF4-FFF2-40B4-BE49-F238E27FC236}">
                <a16:creationId xmlns:a16="http://schemas.microsoft.com/office/drawing/2014/main" id="{9F5197FE-496E-D64A-A834-A08133B6E9B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F489F854-1B18-4521-B332-A14A4D8B0442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r>
              <a:rPr lang="nl-NL" sz="3200" dirty="0" err="1"/>
              <a:t>PyTorch</a:t>
            </a:r>
            <a:r>
              <a:rPr lang="nl-NL" sz="3200" dirty="0"/>
              <a:t> Distributed data parallel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0E88CE3C-D5D2-4760-B29E-A97C9E422DEF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1013091" y="2183753"/>
            <a:ext cx="5131456" cy="974116"/>
          </a:xfrm>
        </p:spPr>
        <p:txBody>
          <a:bodyPr/>
          <a:lstStyle/>
          <a:p>
            <a:r>
              <a:rPr lang="nl-NL" dirty="0"/>
              <a:t>Caspar van Leeuwen</a:t>
            </a:r>
          </a:p>
          <a:p>
            <a:r>
              <a:rPr lang="nl-NL" dirty="0"/>
              <a:t>High Performance Machine Learning Consultant</a:t>
            </a:r>
          </a:p>
          <a:p>
            <a:r>
              <a:rPr lang="nl-NL" dirty="0"/>
              <a:t>SURF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08394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D4FA3-BBC6-B5B8-C341-61C3302D8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EFCE5-07EF-7807-4732-A9A410CE4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Material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F8E323-618B-206C-08B8-4DC38373D1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The </a:t>
            </a:r>
            <a:r>
              <a:rPr lang="nl-NL" dirty="0" err="1"/>
              <a:t>material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session</a:t>
            </a:r>
            <a:r>
              <a:rPr lang="nl-NL" dirty="0"/>
              <a:t> (slides &amp; </a:t>
            </a:r>
            <a:r>
              <a:rPr lang="nl-NL" dirty="0" err="1"/>
              <a:t>exercise</a:t>
            </a:r>
            <a:r>
              <a:rPr lang="nl-NL" dirty="0"/>
              <a:t>)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obtained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GitHub: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r>
              <a:rPr lang="nl-NL" dirty="0"/>
              <a:t>git </a:t>
            </a:r>
            <a:r>
              <a:rPr lang="nl-NL" dirty="0" err="1"/>
              <a:t>clone</a:t>
            </a:r>
            <a:r>
              <a:rPr lang="nl-NL" dirty="0"/>
              <a:t> </a:t>
            </a:r>
            <a:r>
              <a:rPr lang="nl-NL" dirty="0">
                <a:hlinkClick r:id="rId2"/>
              </a:rPr>
              <a:t>https://github.com/ENCCS/castiel-multi-gpu-ai</a:t>
            </a:r>
            <a:r>
              <a:rPr lang="nl-NL" dirty="0"/>
              <a:t> </a:t>
            </a:r>
          </a:p>
          <a:p>
            <a:pPr marL="536575" lvl="1" indent="-250825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39D5C9-5331-8650-FEED-3824FABC700A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AE2E36-FA28-5A16-AFC6-97E4A70F5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4007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B5448-0A1D-628B-DC99-FBC46670A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358B6-84F1-9978-66C2-9E43359E1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Goal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35351A-FD1E-69BA-88C2-3F81689419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Understand…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What</a:t>
            </a:r>
            <a:r>
              <a:rPr lang="nl-NL" dirty="0"/>
              <a:t> data-parallel training </a:t>
            </a:r>
            <a:r>
              <a:rPr lang="nl-NL" i="1" dirty="0"/>
              <a:t>is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How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use</a:t>
            </a:r>
            <a:r>
              <a:rPr lang="nl-NL" dirty="0"/>
              <a:t> </a:t>
            </a:r>
            <a:r>
              <a:rPr lang="nl-NL" dirty="0" err="1"/>
              <a:t>PyTorch</a:t>
            </a:r>
            <a:r>
              <a:rPr lang="nl-NL" dirty="0"/>
              <a:t> Distributed Data Parallel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(A </a:t>
            </a:r>
            <a:r>
              <a:rPr lang="nl-NL" dirty="0" err="1"/>
              <a:t>little</a:t>
            </a:r>
            <a:r>
              <a:rPr lang="nl-NL" dirty="0"/>
              <a:t> of )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PyTorch</a:t>
            </a:r>
            <a:r>
              <a:rPr lang="nl-NL" dirty="0"/>
              <a:t> DDP does ‘</a:t>
            </a:r>
            <a:r>
              <a:rPr lang="nl-NL" dirty="0" err="1"/>
              <a:t>under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hood</a:t>
            </a:r>
            <a:r>
              <a:rPr lang="nl-NL" dirty="0"/>
              <a:t>’</a:t>
            </a:r>
          </a:p>
          <a:p>
            <a:pPr marL="285750" lvl="1" indent="0">
              <a:buNone/>
            </a:pPr>
            <a:endParaRPr lang="nl-NL" dirty="0"/>
          </a:p>
          <a:p>
            <a:pPr marL="536575" lvl="1" indent="-250825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597384-F40E-1538-7696-287E21D9890B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3AE039-3187-F4AF-A673-49ADEBF0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56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A2F64F83-5415-6EA6-4BA9-DAEBF3518AB2}"/>
              </a:ext>
            </a:extLst>
          </p:cNvPr>
          <p:cNvGrpSpPr/>
          <p:nvPr/>
        </p:nvGrpSpPr>
        <p:grpSpPr>
          <a:xfrm>
            <a:off x="328209" y="881438"/>
            <a:ext cx="9660711" cy="5414579"/>
            <a:chOff x="280584" y="762173"/>
            <a:chExt cx="9660711" cy="5414579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091C6BE-6F0A-81A1-6B87-9A0C7A1543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18830"/>
            <a:stretch>
              <a:fillRect/>
            </a:stretch>
          </p:blipFill>
          <p:spPr>
            <a:xfrm>
              <a:off x="280584" y="790534"/>
              <a:ext cx="9424933" cy="4462643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470DC9F-770C-C20F-5324-1E9A7BE90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84760"/>
            <a:stretch>
              <a:fillRect/>
            </a:stretch>
          </p:blipFill>
          <p:spPr>
            <a:xfrm>
              <a:off x="516362" y="5338861"/>
              <a:ext cx="9424933" cy="837891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B43DDD4-0DD6-9433-DE83-6DA10358E649}"/>
                </a:ext>
              </a:extLst>
            </p:cNvPr>
            <p:cNvSpPr txBox="1"/>
            <p:nvPr/>
          </p:nvSpPr>
          <p:spPr>
            <a:xfrm>
              <a:off x="7510647" y="762173"/>
              <a:ext cx="33813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*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E54F03-C8F0-47D1-88E1-B72F9E882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Parallelization: why?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18CD1C-65FC-4E2B-A4E1-1D5ABDE05D9F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97D20A-BE7E-4A4E-9E45-78BC83638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411D876-6A4C-4A87-A292-6C5FF61A72F6}"/>
              </a:ext>
            </a:extLst>
          </p:cNvPr>
          <p:cNvCxnSpPr>
            <a:cxnSpLocks/>
          </p:cNvCxnSpPr>
          <p:nvPr/>
        </p:nvCxnSpPr>
        <p:spPr>
          <a:xfrm flipH="1">
            <a:off x="4314825" y="594571"/>
            <a:ext cx="1590675" cy="890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BBD25AB-2CA0-47FB-A207-C02EEBAC8C14}"/>
              </a:ext>
            </a:extLst>
          </p:cNvPr>
          <p:cNvSpPr txBox="1"/>
          <p:nvPr/>
        </p:nvSpPr>
        <p:spPr>
          <a:xfrm>
            <a:off x="4931013" y="280694"/>
            <a:ext cx="5239448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black"/>
                </a:solidFill>
                <a:latin typeface="Calibri"/>
              </a:rPr>
              <a:t>5000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years @ 1 A100 GPU / 2000 years @ 1 H100 GPU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8F8042-14FD-C960-7D07-9436C8D0A779}"/>
              </a:ext>
            </a:extLst>
          </p:cNvPr>
          <p:cNvSpPr txBox="1"/>
          <p:nvPr/>
        </p:nvSpPr>
        <p:spPr>
          <a:xfrm>
            <a:off x="985138" y="6153150"/>
            <a:ext cx="6091283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/>
              <a:t>* very rough estimates, made by an LLM…</a:t>
            </a:r>
          </a:p>
          <a:p>
            <a:r>
              <a:rPr lang="en-US" sz="1600" dirty="0"/>
              <a:t>** </a:t>
            </a:r>
            <a:r>
              <a:rPr lang="en-US" sz="1600" dirty="0">
                <a:solidFill>
                  <a:prstClr val="black"/>
                </a:solidFill>
              </a:rPr>
              <a:t>Assuming pure FP16 Tensor Core operations @ theoretical throughput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96945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Parallelization: why?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nl-NL" dirty="0" err="1"/>
              <a:t>Faster</a:t>
            </a:r>
            <a:r>
              <a:rPr lang="nl-NL" dirty="0"/>
              <a:t> </a:t>
            </a:r>
            <a:r>
              <a:rPr lang="nl-NL" dirty="0" err="1"/>
              <a:t>trainings</a:t>
            </a:r>
            <a:r>
              <a:rPr lang="nl-NL" dirty="0"/>
              <a:t> …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Enables</a:t>
            </a:r>
            <a:r>
              <a:rPr lang="nl-NL" dirty="0"/>
              <a:t> </a:t>
            </a:r>
            <a:r>
              <a:rPr lang="nl-NL" dirty="0" err="1"/>
              <a:t>learning</a:t>
            </a:r>
            <a:r>
              <a:rPr lang="nl-NL" dirty="0"/>
              <a:t> on </a:t>
            </a:r>
            <a:r>
              <a:rPr lang="nl-NL" dirty="0" err="1"/>
              <a:t>larger</a:t>
            </a:r>
            <a:r>
              <a:rPr lang="nl-NL" dirty="0"/>
              <a:t> datasets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Enables</a:t>
            </a:r>
            <a:r>
              <a:rPr lang="nl-NL" dirty="0"/>
              <a:t> </a:t>
            </a:r>
            <a:r>
              <a:rPr lang="nl-NL" dirty="0" err="1"/>
              <a:t>improved</a:t>
            </a:r>
            <a:r>
              <a:rPr lang="nl-NL" dirty="0"/>
              <a:t> </a:t>
            </a:r>
            <a:r>
              <a:rPr lang="nl-NL" dirty="0" err="1"/>
              <a:t>accuracy</a:t>
            </a:r>
            <a:r>
              <a:rPr lang="nl-NL" dirty="0"/>
              <a:t> </a:t>
            </a:r>
            <a:r>
              <a:rPr lang="nl-NL" dirty="0" err="1"/>
              <a:t>through</a:t>
            </a:r>
            <a:r>
              <a:rPr lang="nl-NL" dirty="0"/>
              <a:t> </a:t>
            </a:r>
            <a:r>
              <a:rPr lang="nl-NL" dirty="0" err="1"/>
              <a:t>better</a:t>
            </a:r>
            <a:r>
              <a:rPr lang="nl-NL" dirty="0"/>
              <a:t> </a:t>
            </a:r>
            <a:r>
              <a:rPr lang="nl-NL" dirty="0" err="1"/>
              <a:t>hyperparemeter</a:t>
            </a:r>
            <a:r>
              <a:rPr lang="nl-NL" dirty="0"/>
              <a:t> </a:t>
            </a:r>
            <a:r>
              <a:rPr lang="nl-NL" dirty="0" err="1"/>
              <a:t>tuning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Enables</a:t>
            </a:r>
            <a:r>
              <a:rPr lang="nl-NL" dirty="0"/>
              <a:t> </a:t>
            </a:r>
            <a:r>
              <a:rPr lang="nl-NL" dirty="0" err="1"/>
              <a:t>larger</a:t>
            </a:r>
            <a:r>
              <a:rPr lang="nl-NL" dirty="0"/>
              <a:t>, more complex </a:t>
            </a:r>
            <a:r>
              <a:rPr lang="nl-NL" dirty="0" err="1"/>
              <a:t>models</a:t>
            </a:r>
            <a:endParaRPr lang="nl-NL" dirty="0"/>
          </a:p>
          <a:p>
            <a:pPr marL="285750" lvl="1" indent="0">
              <a:buNone/>
            </a:pPr>
            <a:endParaRPr lang="nl-NL" dirty="0"/>
          </a:p>
          <a:p>
            <a:pPr marL="536575" lvl="1" indent="-250825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4704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D524F-59F4-5731-564E-75BD2D699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E2965-8310-07BE-E705-EF4C55726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But </a:t>
            </a:r>
            <a:r>
              <a:rPr lang="nl-NL" dirty="0" err="1"/>
              <a:t>before</a:t>
            </a:r>
            <a:r>
              <a:rPr lang="nl-NL" dirty="0"/>
              <a:t> we go parallel…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F430CE-ED4D-2E95-F909-32803F185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nl-NL" dirty="0" err="1"/>
              <a:t>Optimize</a:t>
            </a:r>
            <a:r>
              <a:rPr lang="nl-NL" dirty="0"/>
              <a:t>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serial</a:t>
            </a:r>
            <a:r>
              <a:rPr lang="nl-NL" dirty="0"/>
              <a:t> code!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Make </a:t>
            </a:r>
            <a:r>
              <a:rPr lang="nl-NL" dirty="0" err="1"/>
              <a:t>sure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exploit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hardware features of </a:t>
            </a:r>
            <a:r>
              <a:rPr lang="nl-NL" dirty="0" err="1"/>
              <a:t>your</a:t>
            </a:r>
            <a:r>
              <a:rPr lang="nl-NL" dirty="0"/>
              <a:t> GPU (e.g.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, tensor </a:t>
            </a:r>
            <a:r>
              <a:rPr lang="nl-NL" dirty="0" err="1"/>
              <a:t>cores</a:t>
            </a:r>
            <a:r>
              <a:rPr lang="nl-NL" dirty="0"/>
              <a:t>, </a:t>
            </a:r>
            <a:r>
              <a:rPr lang="nl-NL" dirty="0" err="1"/>
              <a:t>etc</a:t>
            </a:r>
            <a:r>
              <a:rPr lang="nl-NL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Compile</a:t>
            </a:r>
            <a:r>
              <a:rPr lang="nl-NL" dirty="0"/>
              <a:t>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models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torch.compile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Avoid</a:t>
            </a:r>
            <a:r>
              <a:rPr lang="nl-NL" dirty="0"/>
              <a:t> </a:t>
            </a:r>
            <a:r>
              <a:rPr lang="nl-NL" dirty="0" err="1"/>
              <a:t>unnecessary</a:t>
            </a:r>
            <a:r>
              <a:rPr lang="nl-NL" dirty="0"/>
              <a:t> CPU-GPU transfers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Profile </a:t>
            </a:r>
            <a:r>
              <a:rPr lang="nl-NL" dirty="0" err="1"/>
              <a:t>your</a:t>
            </a:r>
            <a:r>
              <a:rPr lang="nl-NL" dirty="0"/>
              <a:t> code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identify</a:t>
            </a:r>
            <a:r>
              <a:rPr lang="nl-NL" dirty="0"/>
              <a:t> bottlenecks (e.g. I/O)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Check out </a:t>
            </a:r>
            <a:r>
              <a:rPr lang="nl-NL" dirty="0">
                <a:hlinkClick r:id="rId2"/>
              </a:rPr>
              <a:t>https://pytorch.org/tutorials/recipes/recipes/tuning_guide.html</a:t>
            </a:r>
            <a:r>
              <a:rPr lang="nl-NL" dirty="0"/>
              <a:t> </a:t>
            </a:r>
          </a:p>
          <a:p>
            <a:pPr marL="285750" lvl="1" indent="0">
              <a:buNone/>
            </a:pPr>
            <a:endParaRPr lang="nl-NL" dirty="0"/>
          </a:p>
          <a:p>
            <a:pPr marL="536575" lvl="1" indent="-250825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E2D758-750F-6331-E997-86E1EB15ACAF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275987-08B5-19AD-E875-911C92308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7012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Isosceles Triangle 213">
            <a:extLst>
              <a:ext uri="{FF2B5EF4-FFF2-40B4-BE49-F238E27FC236}">
                <a16:creationId xmlns:a16="http://schemas.microsoft.com/office/drawing/2014/main" id="{60646051-B76A-579E-89C3-26F13539F7A9}"/>
              </a:ext>
            </a:extLst>
          </p:cNvPr>
          <p:cNvSpPr/>
          <p:nvPr/>
        </p:nvSpPr>
        <p:spPr>
          <a:xfrm>
            <a:off x="2523587" y="1827862"/>
            <a:ext cx="4970463" cy="3936696"/>
          </a:xfrm>
          <a:prstGeom prst="triangle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972072-E4A7-4A2B-A779-BF9F4E8ED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Parallelization: when?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E0EA02-C016-4211-B2D5-E4C2110D0FD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BC3CDA-7BD3-4BF8-9385-351DC2BEF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46B820FB-8170-74F9-3A15-10947D3589BE}"/>
              </a:ext>
            </a:extLst>
          </p:cNvPr>
          <p:cNvCxnSpPr>
            <a:cxnSpLocks/>
          </p:cNvCxnSpPr>
          <p:nvPr/>
        </p:nvCxnSpPr>
        <p:spPr>
          <a:xfrm>
            <a:off x="2523588" y="5767850"/>
            <a:ext cx="5632482" cy="11164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0B8D4FE6-F80D-DDB1-249B-AC0679D0C8A8}"/>
              </a:ext>
            </a:extLst>
          </p:cNvPr>
          <p:cNvSpPr txBox="1"/>
          <p:nvPr/>
        </p:nvSpPr>
        <p:spPr>
          <a:xfrm>
            <a:off x="4505667" y="5893333"/>
            <a:ext cx="100630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dirty="0"/>
              <a:t>Model size</a:t>
            </a:r>
            <a:endParaRPr lang="en-NL" dirty="0" err="1"/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FC8DD995-0090-8C87-9E94-EC1E390E6F7B}"/>
              </a:ext>
            </a:extLst>
          </p:cNvPr>
          <p:cNvSpPr txBox="1"/>
          <p:nvPr/>
        </p:nvSpPr>
        <p:spPr>
          <a:xfrm rot="16200000">
            <a:off x="1714471" y="3535264"/>
            <a:ext cx="89729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dirty="0"/>
              <a:t>Input size</a:t>
            </a:r>
            <a:endParaRPr lang="en-NL" dirty="0" err="1"/>
          </a:p>
        </p:txBody>
      </p:sp>
      <p:sp>
        <p:nvSpPr>
          <p:cNvPr id="212" name="Isosceles Triangle 211">
            <a:extLst>
              <a:ext uri="{FF2B5EF4-FFF2-40B4-BE49-F238E27FC236}">
                <a16:creationId xmlns:a16="http://schemas.microsoft.com/office/drawing/2014/main" id="{FA5ED07B-79E4-F1B7-48AA-653BC47EC59E}"/>
              </a:ext>
            </a:extLst>
          </p:cNvPr>
          <p:cNvSpPr/>
          <p:nvPr/>
        </p:nvSpPr>
        <p:spPr>
          <a:xfrm>
            <a:off x="2544799" y="3923202"/>
            <a:ext cx="2307220" cy="1841356"/>
          </a:xfrm>
          <a:prstGeom prst="triangle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2F8576C4-7242-A40C-6520-2E047B90AEEA}"/>
              </a:ext>
            </a:extLst>
          </p:cNvPr>
          <p:cNvCxnSpPr>
            <a:cxnSpLocks/>
          </p:cNvCxnSpPr>
          <p:nvPr/>
        </p:nvCxnSpPr>
        <p:spPr>
          <a:xfrm flipV="1">
            <a:off x="2523588" y="1560587"/>
            <a:ext cx="23372" cy="4226355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5AE26FF8-D306-3998-E2B2-49EDD28C2113}"/>
              </a:ext>
            </a:extLst>
          </p:cNvPr>
          <p:cNvSpPr txBox="1"/>
          <p:nvPr/>
        </p:nvSpPr>
        <p:spPr>
          <a:xfrm>
            <a:off x="2667000" y="5076825"/>
            <a:ext cx="113332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cap="all" dirty="0"/>
              <a:t>Single GPU</a:t>
            </a:r>
            <a:endParaRPr lang="en-NL" cap="all" dirty="0" err="1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4F0BECF-6885-0385-47EA-B0F61BAC0802}"/>
              </a:ext>
            </a:extLst>
          </p:cNvPr>
          <p:cNvSpPr txBox="1"/>
          <p:nvPr/>
        </p:nvSpPr>
        <p:spPr>
          <a:xfrm>
            <a:off x="3698409" y="4322355"/>
            <a:ext cx="149470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cap="all" dirty="0"/>
              <a:t>Multiple GPUs</a:t>
            </a:r>
            <a:endParaRPr lang="en-NL" cap="all" dirty="0" err="1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7B7FBCD5-7F88-4841-34C8-D241B2577BD4}"/>
              </a:ext>
            </a:extLst>
          </p:cNvPr>
          <p:cNvSpPr txBox="1"/>
          <p:nvPr/>
        </p:nvSpPr>
        <p:spPr>
          <a:xfrm>
            <a:off x="4833053" y="2904887"/>
            <a:ext cx="294619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cap="all" dirty="0"/>
              <a:t>Computationally infeasible</a:t>
            </a:r>
            <a:endParaRPr lang="en-NL" cap="all" dirty="0" err="1"/>
          </a:p>
        </p:txBody>
      </p:sp>
    </p:spTree>
    <p:extLst>
      <p:ext uri="{BB962C8B-B14F-4D97-AF65-F5344CB8AC3E}">
        <p14:creationId xmlns:p14="http://schemas.microsoft.com/office/powerpoint/2010/main" val="732402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Parallelization</a:t>
            </a:r>
            <a:r>
              <a:rPr lang="nl-NL" dirty="0"/>
              <a:t>: </a:t>
            </a:r>
            <a:r>
              <a:rPr lang="nl-NL" dirty="0" err="1"/>
              <a:t>the</a:t>
            </a:r>
            <a:r>
              <a:rPr lang="nl-NL" dirty="0"/>
              <a:t> basics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nl-NL" dirty="0" err="1"/>
              <a:t>What</a:t>
            </a:r>
            <a:r>
              <a:rPr lang="nl-NL" dirty="0"/>
              <a:t> is parallel computing?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Multiple processors or computers working on a single computational problem</a:t>
            </a:r>
            <a:endParaRPr lang="nl-NL" dirty="0"/>
          </a:p>
          <a:p>
            <a:pPr marL="536575" lvl="1" indent="-250825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2926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Parallelization</a:t>
            </a:r>
            <a:r>
              <a:rPr lang="nl-NL" dirty="0"/>
              <a:t>: </a:t>
            </a:r>
            <a:r>
              <a:rPr lang="nl-NL" dirty="0" err="1"/>
              <a:t>the</a:t>
            </a:r>
            <a:r>
              <a:rPr lang="nl-NL" dirty="0"/>
              <a:t> basics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Serial computing</a:t>
            </a:r>
            <a:endParaRPr lang="nl-NL" dirty="0"/>
          </a:p>
          <a:p>
            <a:pPr marL="536575" lvl="1" indent="-250825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07160" y="3729837"/>
            <a:ext cx="1448398" cy="621579"/>
          </a:xfrm>
          <a:prstGeom prst="rect">
            <a:avLst/>
          </a:prstGeom>
          <a:solidFill>
            <a:srgbClr val="AEDB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Processor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3524040" y="4099290"/>
            <a:ext cx="13858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8216" y="3621447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Apply filter()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7088728" y="4083827"/>
            <a:ext cx="5184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Afbeeldingsresultaat voor cats and dog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00820" y="5212821"/>
            <a:ext cx="1320391" cy="825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Afbeeldingsresultaat voor cats and dog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00820" y="4279347"/>
            <a:ext cx="1268818" cy="842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Afbeeldingsresultaat voor cats and dog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00820" y="3301767"/>
            <a:ext cx="1210406" cy="907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0" descr="Afbeeldingsresultaat voor cats and dogs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015"/>
          <a:stretch/>
        </p:blipFill>
        <p:spPr bwMode="auto">
          <a:xfrm>
            <a:off x="1700820" y="2334881"/>
            <a:ext cx="1366760" cy="892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fbeeldingsresultaat voor cats and dogs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WatercolorSponge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81651" y="2261658"/>
            <a:ext cx="1320391" cy="825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4" descr="Afbeeldingsresultaat voor cats and dogs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WatercolorSponge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81651" y="3189410"/>
            <a:ext cx="1268818" cy="842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6" descr="Afbeeldingsresultaat voor cats and dogs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artisticWatercolorSponge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81651" y="4132054"/>
            <a:ext cx="1210406" cy="907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0" descr="Afbeeldingsresultaat voor cats and dogs"/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artisticWatercolorSponge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6015"/>
          <a:stretch/>
        </p:blipFill>
        <p:spPr bwMode="auto">
          <a:xfrm>
            <a:off x="7781651" y="5145324"/>
            <a:ext cx="1366760" cy="892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/>
          <p:cNvSpPr txBox="1"/>
          <p:nvPr/>
        </p:nvSpPr>
        <p:spPr>
          <a:xfrm>
            <a:off x="2029182" y="186310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8109" y="186310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2591821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Parallelization</a:t>
            </a:r>
            <a:r>
              <a:rPr lang="nl-NL" dirty="0"/>
              <a:t>: </a:t>
            </a:r>
            <a:r>
              <a:rPr lang="nl-NL" dirty="0" err="1"/>
              <a:t>the</a:t>
            </a:r>
            <a:r>
              <a:rPr lang="nl-NL" dirty="0"/>
              <a:t> basics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Parallel computing</a:t>
            </a:r>
            <a:endParaRPr lang="nl-NL" dirty="0"/>
          </a:p>
          <a:p>
            <a:pPr marL="536575" lvl="1" indent="-250825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3"/>
          <p:cNvSpPr txBox="1">
            <a:spLocks noChangeArrowheads="1"/>
          </p:cNvSpPr>
          <p:nvPr/>
        </p:nvSpPr>
        <p:spPr>
          <a:xfrm>
            <a:off x="287336" y="1558799"/>
            <a:ext cx="2292902" cy="564851"/>
          </a:xfrm>
          <a:prstGeom prst="rect">
            <a:avLst/>
          </a:prstGeom>
        </p:spPr>
        <p:txBody>
          <a:bodyPr>
            <a:normAutofit/>
          </a:bodyPr>
          <a:lstStyle>
            <a:lvl1pPr marL="2698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Tx/>
              <a:buBlip>
                <a:blip r:embed="rId2"/>
              </a:buBlip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98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Tx/>
              <a:buBlip>
                <a:blip r:embed="rId3"/>
              </a:buBlip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698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Blip>
                <a:blip r:embed="rId4"/>
              </a:buBlip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98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Blip>
                <a:blip r:embed="rId5"/>
              </a:buBlip>
              <a:tabLst/>
              <a:defRPr sz="2000" b="0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3400" indent="-2714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Font typeface="Calibri" panose="020F0502020204030204" pitchFamily="34" charset="0"/>
              <a:buChar char="→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938" indent="-2619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6575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2000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A7600"/>
              </a:buClr>
              <a:buSzTx/>
              <a:buFont typeface="Arial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69875" marR="0" lvl="0" indent="-269875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A7600"/>
              </a:buClr>
              <a:buSzTx/>
              <a:buFontTx/>
              <a:buBlip>
                <a:blip r:embed="rId2"/>
              </a:buBlip>
              <a:tabLst/>
              <a:defRPr/>
            </a:pPr>
            <a:endParaRPr kumimoji="0" lang="en-US" altLang="nl-NL" sz="1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69875" marR="0" lvl="0" indent="-269875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A7600"/>
              </a:buClr>
              <a:buSzTx/>
              <a:buFont typeface="Arial" charset="0"/>
              <a:buNone/>
              <a:tabLst/>
              <a:defRPr/>
            </a:pPr>
            <a:endParaRPr kumimoji="0" lang="en-US" altLang="nl-NL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69875" marR="0" lvl="0" indent="-269875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A7600"/>
              </a:buClr>
              <a:buSzTx/>
              <a:buFont typeface="Arial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387240" y="3355986"/>
            <a:ext cx="1448398" cy="621579"/>
          </a:xfrm>
          <a:prstGeom prst="rect">
            <a:avLst/>
          </a:prstGeom>
          <a:solidFill>
            <a:srgbClr val="AEDB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Processor</a:t>
            </a:r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3504120" y="3725439"/>
            <a:ext cx="13858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538296" y="3247596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Apply filter()</a:t>
            </a:r>
          </a:p>
        </p:txBody>
      </p:sp>
      <p:cxnSp>
        <p:nvCxnSpPr>
          <p:cNvPr id="27" name="Straight Arrow Connector 26"/>
          <p:cNvCxnSpPr/>
          <p:nvPr/>
        </p:nvCxnSpPr>
        <p:spPr>
          <a:xfrm>
            <a:off x="7068808" y="3709976"/>
            <a:ext cx="5184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" descr="Afbeeldingsresultaat voor cats and dogs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80900" y="5252725"/>
            <a:ext cx="1320391" cy="825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4" descr="Afbeeldingsresultaat voor cats and dogs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80900" y="4319251"/>
            <a:ext cx="1268818" cy="842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6" descr="Afbeeldingsresultaat voor cats and dogs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80900" y="3341671"/>
            <a:ext cx="1210406" cy="907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10" descr="Afbeeldingsresultaat voor cats and dogs"/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015"/>
          <a:stretch/>
        </p:blipFill>
        <p:spPr bwMode="auto">
          <a:xfrm>
            <a:off x="1680900" y="2374785"/>
            <a:ext cx="1366760" cy="892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Afbeeldingsresultaat voor cats and dogs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artisticWatercolorSponge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61731" y="2301562"/>
            <a:ext cx="1320391" cy="825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4" descr="Afbeeldingsresultaat voor cats and dogs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artisticWatercolorSponge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61731" y="3229314"/>
            <a:ext cx="1268818" cy="842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6" descr="Afbeeldingsresultaat voor cats and dogs"/>
          <p:cNvPicPr>
            <a:picLocks noChangeAspect="1" noChangeArrowheads="1"/>
          </p:cNvPicPr>
          <p:nvPr/>
        </p:nvPicPr>
        <p:blipFill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artisticWatercolorSponge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61731" y="4171958"/>
            <a:ext cx="1210406" cy="907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10" descr="Afbeeldingsresultaat voor cats and dogs"/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WatercolorSponge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6015"/>
          <a:stretch/>
        </p:blipFill>
        <p:spPr bwMode="auto">
          <a:xfrm>
            <a:off x="7761731" y="5185228"/>
            <a:ext cx="1366760" cy="892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/>
          <p:cNvSpPr txBox="1"/>
          <p:nvPr/>
        </p:nvSpPr>
        <p:spPr>
          <a:xfrm>
            <a:off x="2009262" y="190300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8189" y="190300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Output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87240" y="2409952"/>
            <a:ext cx="1448398" cy="621579"/>
          </a:xfrm>
          <a:prstGeom prst="rect">
            <a:avLst/>
          </a:prstGeom>
          <a:solidFill>
            <a:srgbClr val="AEDB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Processor</a:t>
            </a:r>
          </a:p>
        </p:txBody>
      </p:sp>
      <p:cxnSp>
        <p:nvCxnSpPr>
          <p:cNvPr id="39" name="Straight Arrow Connector 38"/>
          <p:cNvCxnSpPr/>
          <p:nvPr/>
        </p:nvCxnSpPr>
        <p:spPr>
          <a:xfrm>
            <a:off x="3504120" y="2779405"/>
            <a:ext cx="13858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538296" y="2301562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Apply filter()</a:t>
            </a:r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7068808" y="2763942"/>
            <a:ext cx="5184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5387240" y="4319251"/>
            <a:ext cx="1448398" cy="621579"/>
          </a:xfrm>
          <a:prstGeom prst="rect">
            <a:avLst/>
          </a:prstGeom>
          <a:solidFill>
            <a:srgbClr val="AEDB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Processor</a:t>
            </a:r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3504120" y="4688704"/>
            <a:ext cx="13858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538296" y="4210861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Apply filter()</a:t>
            </a:r>
          </a:p>
        </p:txBody>
      </p:sp>
      <p:cxnSp>
        <p:nvCxnSpPr>
          <p:cNvPr id="45" name="Straight Arrow Connector 44"/>
          <p:cNvCxnSpPr/>
          <p:nvPr/>
        </p:nvCxnSpPr>
        <p:spPr>
          <a:xfrm>
            <a:off x="7068808" y="4673241"/>
            <a:ext cx="5184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5387240" y="5286796"/>
            <a:ext cx="1448398" cy="621579"/>
          </a:xfrm>
          <a:prstGeom prst="rect">
            <a:avLst/>
          </a:prstGeom>
          <a:solidFill>
            <a:srgbClr val="AEDB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Processor</a:t>
            </a:r>
          </a:p>
        </p:txBody>
      </p:sp>
      <p:cxnSp>
        <p:nvCxnSpPr>
          <p:cNvPr id="47" name="Straight Arrow Connector 46"/>
          <p:cNvCxnSpPr/>
          <p:nvPr/>
        </p:nvCxnSpPr>
        <p:spPr>
          <a:xfrm>
            <a:off x="3504120" y="5656249"/>
            <a:ext cx="13858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538296" y="5178406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Apply filter()</a:t>
            </a:r>
          </a:p>
        </p:txBody>
      </p:sp>
      <p:cxnSp>
        <p:nvCxnSpPr>
          <p:cNvPr id="49" name="Straight Arrow Connector 48"/>
          <p:cNvCxnSpPr/>
          <p:nvPr/>
        </p:nvCxnSpPr>
        <p:spPr>
          <a:xfrm>
            <a:off x="7068808" y="5640786"/>
            <a:ext cx="5184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1503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Parallelization</a:t>
            </a:r>
            <a:r>
              <a:rPr lang="nl-NL" dirty="0"/>
              <a:t>: </a:t>
            </a:r>
            <a:r>
              <a:rPr lang="nl-NL" dirty="0" err="1"/>
              <a:t>the</a:t>
            </a:r>
            <a:r>
              <a:rPr lang="nl-NL" dirty="0"/>
              <a:t> basics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514140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Benefits: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Solve computationally intensive problems (speedup)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Solve problems that don’t fit a single memory (multiple computers)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Requirements: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Problem should be divisible in smaller tasks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Considerations for problem decomposition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How can I limit the need for communication? (smaller overhead = bigger speedup)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How does my partitioning affect memory consumption?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How does partitioning affect my algorithm, e.g. convergence behavior?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3"/>
          <p:cNvSpPr txBox="1">
            <a:spLocks noChangeArrowheads="1"/>
          </p:cNvSpPr>
          <p:nvPr/>
        </p:nvSpPr>
        <p:spPr>
          <a:xfrm>
            <a:off x="287336" y="1558799"/>
            <a:ext cx="2292902" cy="564851"/>
          </a:xfrm>
          <a:prstGeom prst="rect">
            <a:avLst/>
          </a:prstGeom>
        </p:spPr>
        <p:txBody>
          <a:bodyPr>
            <a:normAutofit/>
          </a:bodyPr>
          <a:lstStyle>
            <a:lvl1pPr marL="2698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Tx/>
              <a:buBlip>
                <a:blip r:embed="rId2"/>
              </a:buBlip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98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Tx/>
              <a:buBlip>
                <a:blip r:embed="rId3"/>
              </a:buBlip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698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Blip>
                <a:blip r:embed="rId4"/>
              </a:buBlip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98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Blip>
                <a:blip r:embed="rId5"/>
              </a:buBlip>
              <a:tabLst/>
              <a:defRPr sz="2000" b="0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3400" indent="-2714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Font typeface="Calibri" panose="020F0502020204030204" pitchFamily="34" charset="0"/>
              <a:buChar char="→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938" indent="-2619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6575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2000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A7600"/>
              </a:buClr>
              <a:buSzTx/>
              <a:buFont typeface="Arial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69875" marR="0" lvl="0" indent="-269875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A7600"/>
              </a:buClr>
              <a:buSzTx/>
              <a:buFontTx/>
              <a:buBlip>
                <a:blip r:embed="rId2"/>
              </a:buBlip>
              <a:tabLst/>
              <a:defRPr/>
            </a:pPr>
            <a:endParaRPr kumimoji="0" lang="en-US" altLang="nl-NL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69875" marR="0" lvl="0" indent="-269875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A7600"/>
              </a:buClr>
              <a:buSzTx/>
              <a:buFont typeface="Arial" charset="0"/>
              <a:buNone/>
              <a:tabLst/>
              <a:defRPr/>
            </a:pPr>
            <a:endParaRPr kumimoji="0" lang="en-US" altLang="nl-NL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30733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Types of parallelization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types of parallelization exist?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Instruction level parallelism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Embarrassingly parallel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Data parallel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Model parallel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Hybrid</a:t>
            </a:r>
            <a:r>
              <a:rPr lang="nl-NL" dirty="0"/>
              <a:t> data/model </a:t>
            </a:r>
            <a:r>
              <a:rPr lang="nl-NL" dirty="0" err="1"/>
              <a:t>parallelism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 parallel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Pipeline </a:t>
            </a:r>
            <a:r>
              <a:rPr lang="nl-NL" dirty="0" err="1"/>
              <a:t>parallelism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2CE79C0-943A-E39E-CC2F-F5A03D52DAA8}"/>
              </a:ext>
            </a:extLst>
          </p:cNvPr>
          <p:cNvCxnSpPr>
            <a:cxnSpLocks/>
          </p:cNvCxnSpPr>
          <p:nvPr/>
        </p:nvCxnSpPr>
        <p:spPr>
          <a:xfrm>
            <a:off x="3808268" y="1808137"/>
            <a:ext cx="3896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98331E5-52F1-74EE-DC06-DA1BE4CDCD7F}"/>
              </a:ext>
            </a:extLst>
          </p:cNvPr>
          <p:cNvSpPr txBox="1"/>
          <p:nvPr/>
        </p:nvSpPr>
        <p:spPr>
          <a:xfrm>
            <a:off x="4488696" y="1653801"/>
            <a:ext cx="561352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Single </a:t>
            </a:r>
            <a:r>
              <a:rPr lang="nl-NL" dirty="0" err="1">
                <a:solidFill>
                  <a:prstClr val="black"/>
                </a:solidFill>
                <a:latin typeface="Calibri"/>
              </a:rPr>
              <a:t>instruction</a:t>
            </a:r>
            <a:r>
              <a:rPr lang="nl-NL" dirty="0">
                <a:solidFill>
                  <a:prstClr val="black"/>
                </a:solidFill>
                <a:latin typeface="Calibri"/>
              </a:rPr>
              <a:t> operating on e.g. </a:t>
            </a:r>
            <a:r>
              <a:rPr lang="nl-NL" dirty="0" err="1">
                <a:solidFill>
                  <a:prstClr val="black"/>
                </a:solidFill>
                <a:latin typeface="Calibri"/>
              </a:rPr>
              <a:t>entire</a:t>
            </a:r>
            <a:r>
              <a:rPr lang="nl-NL" dirty="0">
                <a:solidFill>
                  <a:prstClr val="black"/>
                </a:solidFill>
                <a:latin typeface="Calibri"/>
              </a:rPr>
              <a:t> </a:t>
            </a:r>
            <a:r>
              <a:rPr lang="nl-NL" dirty="0" err="1">
                <a:solidFill>
                  <a:prstClr val="black"/>
                </a:solidFill>
                <a:latin typeface="Calibri"/>
              </a:rPr>
              <a:t>vectors</a:t>
            </a:r>
            <a:r>
              <a:rPr lang="nl-NL" dirty="0">
                <a:solidFill>
                  <a:prstClr val="black"/>
                </a:solidFill>
                <a:latin typeface="Calibri"/>
              </a:rPr>
              <a:t> / matrices</a:t>
            </a:r>
            <a:endParaRPr kumimoji="0" lang="nl-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953F237-A994-DAAD-431E-8382F6410E88}"/>
              </a:ext>
            </a:extLst>
          </p:cNvPr>
          <p:cNvCxnSpPr>
            <a:cxnSpLocks/>
          </p:cNvCxnSpPr>
          <p:nvPr/>
        </p:nvCxnSpPr>
        <p:spPr>
          <a:xfrm>
            <a:off x="3418609" y="2234747"/>
            <a:ext cx="779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88EE653-1201-9CD8-A878-624530A99168}"/>
              </a:ext>
            </a:extLst>
          </p:cNvPr>
          <p:cNvSpPr txBox="1"/>
          <p:nvPr/>
        </p:nvSpPr>
        <p:spPr>
          <a:xfrm>
            <a:off x="4488696" y="2080411"/>
            <a:ext cx="2999988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E.g. hyper</a:t>
            </a:r>
            <a:r>
              <a:rPr lang="nl-NL" dirty="0">
                <a:solidFill>
                  <a:prstClr val="black"/>
                </a:solidFill>
                <a:latin typeface="Calibri"/>
              </a:rPr>
              <a:t>parameter </a:t>
            </a:r>
            <a:r>
              <a:rPr lang="nl-NL" dirty="0" err="1">
                <a:solidFill>
                  <a:prstClr val="black"/>
                </a:solidFill>
                <a:latin typeface="Calibri"/>
              </a:rPr>
              <a:t>grid</a:t>
            </a:r>
            <a:r>
              <a:rPr lang="nl-NL" dirty="0">
                <a:solidFill>
                  <a:prstClr val="black"/>
                </a:solidFill>
                <a:latin typeface="Calibri"/>
              </a:rPr>
              <a:t> search</a:t>
            </a:r>
            <a:endParaRPr kumimoji="0" lang="nl-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99302E6-AB2F-EB2B-CA69-2FF8DD67D42C}"/>
              </a:ext>
            </a:extLst>
          </p:cNvPr>
          <p:cNvCxnSpPr>
            <a:cxnSpLocks/>
          </p:cNvCxnSpPr>
          <p:nvPr/>
        </p:nvCxnSpPr>
        <p:spPr>
          <a:xfrm flipV="1">
            <a:off x="7282597" y="1246909"/>
            <a:ext cx="0" cy="266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1A2A384-014C-6575-D020-F11DFAD1739F}"/>
              </a:ext>
            </a:extLst>
          </p:cNvPr>
          <p:cNvSpPr txBox="1"/>
          <p:nvPr/>
        </p:nvSpPr>
        <p:spPr>
          <a:xfrm>
            <a:off x="5142464" y="811581"/>
            <a:ext cx="472885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Typically</a:t>
            </a:r>
            <a:r>
              <a:rPr kumimoji="0" lang="nl-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</a:t>
            </a:r>
            <a:r>
              <a:rPr kumimoji="0" lang="nl-N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PyTorch</a:t>
            </a:r>
            <a:r>
              <a:rPr kumimoji="0" lang="nl-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</a:t>
            </a:r>
            <a:r>
              <a:rPr kumimoji="0" lang="nl-N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TensorFlow</a:t>
            </a:r>
            <a:r>
              <a:rPr kumimoji="0" lang="nl-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…, takes care of </a:t>
            </a:r>
            <a:r>
              <a:rPr kumimoji="0" lang="nl-N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this</a:t>
            </a:r>
            <a:endParaRPr kumimoji="0" lang="nl-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93EEE52-8FCD-D5C1-80B4-D8FB71436535}"/>
              </a:ext>
            </a:extLst>
          </p:cNvPr>
          <p:cNvCxnSpPr>
            <a:cxnSpLocks/>
          </p:cNvCxnSpPr>
          <p:nvPr/>
        </p:nvCxnSpPr>
        <p:spPr>
          <a:xfrm>
            <a:off x="2275840" y="2661357"/>
            <a:ext cx="19220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AE3D7C1-EFF0-D635-BD3D-6C95C2B5619B}"/>
              </a:ext>
            </a:extLst>
          </p:cNvPr>
          <p:cNvSpPr txBox="1"/>
          <p:nvPr/>
        </p:nvSpPr>
        <p:spPr>
          <a:xfrm>
            <a:off x="4488696" y="2507021"/>
            <a:ext cx="210666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Topic of </a:t>
            </a:r>
            <a:r>
              <a:rPr kumimoji="0" lang="nl-N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this</a:t>
            </a:r>
            <a:r>
              <a:rPr kumimoji="0" lang="nl-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nl-NL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session</a:t>
            </a:r>
            <a:r>
              <a:rPr kumimoji="0" lang="nl-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nl-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Wingdings" panose="05000000000000000000" pitchFamily="2" charset="2"/>
              </a:rPr>
              <a:t></a:t>
            </a:r>
            <a:endParaRPr kumimoji="0" lang="nl-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FF9E7605-E071-2FD2-C17F-4F627E64DAF1}"/>
              </a:ext>
            </a:extLst>
          </p:cNvPr>
          <p:cNvSpPr/>
          <p:nvPr/>
        </p:nvSpPr>
        <p:spPr>
          <a:xfrm>
            <a:off x="4003097" y="2915920"/>
            <a:ext cx="389659" cy="178815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D64480-43A9-922C-ED0F-CD5202828DC9}"/>
              </a:ext>
            </a:extLst>
          </p:cNvPr>
          <p:cNvSpPr txBox="1"/>
          <p:nvPr/>
        </p:nvSpPr>
        <p:spPr>
          <a:xfrm>
            <a:off x="4509016" y="3657705"/>
            <a:ext cx="415851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800" b="0" i="0" u="none" strike="noStrike" kern="1200" cap="none" spc="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Covered</a:t>
            </a:r>
            <a:r>
              <a:rPr kumimoji="0" lang="nl-NL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in </a:t>
            </a:r>
            <a:r>
              <a:rPr kumimoji="0" lang="nl-NL" sz="1800" b="0" i="0" u="none" strike="noStrike" kern="1200" cap="none" spc="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upcoming</a:t>
            </a:r>
            <a:r>
              <a:rPr kumimoji="0" lang="nl-NL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nl-NL" sz="1800" b="0" i="0" u="none" strike="noStrike" kern="1200" cap="none" spc="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sessions</a:t>
            </a:r>
            <a:r>
              <a:rPr kumimoji="0" lang="nl-NL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in </a:t>
            </a:r>
            <a:r>
              <a:rPr kumimoji="0" lang="nl-NL" sz="1800" b="0" i="0" u="none" strike="noStrike" kern="1200" cap="none" spc="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this</a:t>
            </a:r>
            <a:r>
              <a:rPr kumimoji="0" lang="nl-NL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course</a:t>
            </a:r>
            <a:r>
              <a:rPr kumimoji="0" lang="nl-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34736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23" grpId="0"/>
      <p:bldP spid="25" grpId="0"/>
      <p:bldP spid="27" grpId="0" animBg="1"/>
      <p:bldP spid="2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551B6-FEB1-C422-C7D1-DB8E69DF1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0D7ED-DBF7-DDDB-940C-310148FE6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 Parallelism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F439D0-CE01-07AD-9963-DDD8C1583D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48938" y="833566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Train a single model, single set of hyperparameters, but </a:t>
            </a:r>
            <a:r>
              <a:rPr lang="en-US" b="1" i="1" dirty="0"/>
              <a:t>faster</a:t>
            </a: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Split the data over multiple processors (CPUs/GPUs)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Each processor holds an </a:t>
            </a:r>
            <a:r>
              <a:rPr lang="en-US" u="sng" dirty="0"/>
              <a:t>identical</a:t>
            </a:r>
            <a:r>
              <a:rPr lang="en-US" dirty="0"/>
              <a:t> copy of the model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Forward pass: calculated by each of the workers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Backward pass: gradients computed (per worker)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Communicate and aggregate gradients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Model update</a:t>
            </a:r>
          </a:p>
          <a:p>
            <a:pPr marL="536575" lvl="1" indent="-250825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487BB3-3CA0-B486-0BCD-27223495AB07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29854F-156D-95BE-AE51-D9ADE1DA9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7AC7FCC6-B8E6-55EE-FDB3-DF4C83AC3122}"/>
              </a:ext>
            </a:extLst>
          </p:cNvPr>
          <p:cNvSpPr txBox="1">
            <a:spLocks noChangeArrowheads="1"/>
          </p:cNvSpPr>
          <p:nvPr/>
        </p:nvSpPr>
        <p:spPr>
          <a:xfrm>
            <a:off x="287336" y="1558799"/>
            <a:ext cx="2292902" cy="564851"/>
          </a:xfrm>
          <a:prstGeom prst="rect">
            <a:avLst/>
          </a:prstGeom>
        </p:spPr>
        <p:txBody>
          <a:bodyPr>
            <a:normAutofit/>
          </a:bodyPr>
          <a:lstStyle>
            <a:lvl1pPr marL="2698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Tx/>
              <a:buBlip>
                <a:blip r:embed="rId2"/>
              </a:buBlip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98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Tx/>
              <a:buBlip>
                <a:blip r:embed="rId3"/>
              </a:buBlip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698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Blip>
                <a:blip r:embed="rId4"/>
              </a:buBlip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98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Blip>
                <a:blip r:embed="rId5"/>
              </a:buBlip>
              <a:tabLst/>
              <a:defRPr sz="2000" b="0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3400" indent="-2714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Font typeface="Calibri" panose="020F0502020204030204" pitchFamily="34" charset="0"/>
              <a:buChar char="→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938" indent="-2619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36575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2000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A7600"/>
              </a:buClr>
              <a:buSzTx/>
              <a:buFont typeface="Arial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69875" marR="0" lvl="0" indent="-269875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A7600"/>
              </a:buClr>
              <a:buSzTx/>
              <a:buFontTx/>
              <a:buBlip>
                <a:blip r:embed="rId2"/>
              </a:buBlip>
              <a:tabLst/>
              <a:defRPr/>
            </a:pPr>
            <a:endParaRPr kumimoji="0" lang="en-US" altLang="nl-NL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69875" marR="0" lvl="0" indent="-269875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A7600"/>
              </a:buClr>
              <a:buSzTx/>
              <a:buFont typeface="Arial" charset="0"/>
              <a:buNone/>
              <a:tabLst/>
              <a:defRPr/>
            </a:pPr>
            <a:endParaRPr kumimoji="0" lang="en-US" altLang="nl-NL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8" name="Picture 4" descr="Afbeeldingsresultaat voor cats and dogs">
            <a:extLst>
              <a:ext uri="{FF2B5EF4-FFF2-40B4-BE49-F238E27FC236}">
                <a16:creationId xmlns:a16="http://schemas.microsoft.com/office/drawing/2014/main" id="{88B4A0E1-136B-CB51-2C2D-6CE15A033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8940" y="4374342"/>
            <a:ext cx="1268818" cy="842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C9A5BF1-16ED-9068-D980-AFDB66C974A1}"/>
              </a:ext>
            </a:extLst>
          </p:cNvPr>
          <p:cNvGrpSpPr/>
          <p:nvPr/>
        </p:nvGrpSpPr>
        <p:grpSpPr>
          <a:xfrm>
            <a:off x="5079789" y="4005309"/>
            <a:ext cx="1350595" cy="827951"/>
            <a:chOff x="3221405" y="3951065"/>
            <a:chExt cx="2152502" cy="1319541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2713275A-69AF-A6E7-4D41-81EA2505DC9B}"/>
                </a:ext>
              </a:extLst>
            </p:cNvPr>
            <p:cNvSpPr/>
            <p:nvPr/>
          </p:nvSpPr>
          <p:spPr>
            <a:xfrm>
              <a:off x="3450003" y="3951065"/>
              <a:ext cx="320775" cy="32077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8275C03-C9EC-1238-A970-36F3ABA59C6B}"/>
                </a:ext>
              </a:extLst>
            </p:cNvPr>
            <p:cNvSpPr/>
            <p:nvPr/>
          </p:nvSpPr>
          <p:spPr>
            <a:xfrm>
              <a:off x="3450003" y="4450448"/>
              <a:ext cx="320775" cy="32077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B5FFBA8-AA95-D567-9237-39629FA5FFED}"/>
                </a:ext>
              </a:extLst>
            </p:cNvPr>
            <p:cNvSpPr/>
            <p:nvPr/>
          </p:nvSpPr>
          <p:spPr>
            <a:xfrm>
              <a:off x="3449582" y="4949831"/>
              <a:ext cx="320775" cy="32077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0C3CDC3-E9EF-99B1-7175-093D27D06D91}"/>
                </a:ext>
              </a:extLst>
            </p:cNvPr>
            <p:cNvSpPr/>
            <p:nvPr/>
          </p:nvSpPr>
          <p:spPr>
            <a:xfrm>
              <a:off x="4225640" y="3951065"/>
              <a:ext cx="320775" cy="32077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2D833CE5-B7E9-A87D-AB66-A975AF3683E4}"/>
                </a:ext>
              </a:extLst>
            </p:cNvPr>
            <p:cNvSpPr/>
            <p:nvPr/>
          </p:nvSpPr>
          <p:spPr>
            <a:xfrm>
              <a:off x="4225639" y="4450448"/>
              <a:ext cx="320775" cy="32077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E08CB30-6151-6F87-7390-8198AD259453}"/>
                </a:ext>
              </a:extLst>
            </p:cNvPr>
            <p:cNvSpPr/>
            <p:nvPr/>
          </p:nvSpPr>
          <p:spPr>
            <a:xfrm>
              <a:off x="4225639" y="4949831"/>
              <a:ext cx="320775" cy="32077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EE586A3-B640-FEAA-AE76-58C036ACF258}"/>
                </a:ext>
              </a:extLst>
            </p:cNvPr>
            <p:cNvSpPr/>
            <p:nvPr/>
          </p:nvSpPr>
          <p:spPr>
            <a:xfrm>
              <a:off x="5053132" y="4426911"/>
              <a:ext cx="320775" cy="32077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7A11D64-5605-9AC8-F1A6-28114E69F4E0}"/>
                </a:ext>
              </a:extLst>
            </p:cNvPr>
            <p:cNvCxnSpPr>
              <a:stCxn id="16" idx="6"/>
              <a:endCxn id="19" idx="2"/>
            </p:cNvCxnSpPr>
            <p:nvPr/>
          </p:nvCxnSpPr>
          <p:spPr>
            <a:xfrm flipV="1">
              <a:off x="3770778" y="4111453"/>
              <a:ext cx="454862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B10688B-6071-5741-7242-BC3B5958E20E}"/>
                </a:ext>
              </a:extLst>
            </p:cNvPr>
            <p:cNvCxnSpPr/>
            <p:nvPr/>
          </p:nvCxnSpPr>
          <p:spPr>
            <a:xfrm flipV="1">
              <a:off x="3770357" y="4610835"/>
              <a:ext cx="454862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EF0C165-3002-CB0C-B871-3DDFF8C960E5}"/>
                </a:ext>
              </a:extLst>
            </p:cNvPr>
            <p:cNvCxnSpPr/>
            <p:nvPr/>
          </p:nvCxnSpPr>
          <p:spPr>
            <a:xfrm flipV="1">
              <a:off x="3770357" y="5113932"/>
              <a:ext cx="454862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F539546-7B65-3CA0-37C3-8793B2A5B1E4}"/>
                </a:ext>
              </a:extLst>
            </p:cNvPr>
            <p:cNvCxnSpPr>
              <a:endCxn id="20" idx="3"/>
            </p:cNvCxnSpPr>
            <p:nvPr/>
          </p:nvCxnSpPr>
          <p:spPr>
            <a:xfrm flipV="1">
              <a:off x="3770357" y="4724246"/>
              <a:ext cx="502259" cy="39726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A40D5B4-7CEE-7559-3F7A-A0E74EA0954C}"/>
                </a:ext>
              </a:extLst>
            </p:cNvPr>
            <p:cNvCxnSpPr>
              <a:endCxn id="20" idx="1"/>
            </p:cNvCxnSpPr>
            <p:nvPr/>
          </p:nvCxnSpPr>
          <p:spPr>
            <a:xfrm>
              <a:off x="3774391" y="4116528"/>
              <a:ext cx="498224" cy="38089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94D04F4E-5532-3A99-239D-509AFE71F329}"/>
                </a:ext>
              </a:extLst>
            </p:cNvPr>
            <p:cNvCxnSpPr>
              <a:endCxn id="21" idx="1"/>
            </p:cNvCxnSpPr>
            <p:nvPr/>
          </p:nvCxnSpPr>
          <p:spPr>
            <a:xfrm>
              <a:off x="3767607" y="4110446"/>
              <a:ext cx="505009" cy="88636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45D81632-56A3-6A0B-5240-8243250D5553}"/>
                </a:ext>
              </a:extLst>
            </p:cNvPr>
            <p:cNvCxnSpPr>
              <a:endCxn id="19" idx="3"/>
            </p:cNvCxnSpPr>
            <p:nvPr/>
          </p:nvCxnSpPr>
          <p:spPr>
            <a:xfrm flipV="1">
              <a:off x="3774391" y="4224864"/>
              <a:ext cx="498225" cy="88959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AFA52BB-4A88-546E-B674-32D8240F9A3D}"/>
                </a:ext>
              </a:extLst>
            </p:cNvPr>
            <p:cNvCxnSpPr/>
            <p:nvPr/>
          </p:nvCxnSpPr>
          <p:spPr>
            <a:xfrm flipV="1">
              <a:off x="3777141" y="4173806"/>
              <a:ext cx="454862" cy="435754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7C67AF65-8FEE-656D-3FC1-A17FFFF8A350}"/>
                </a:ext>
              </a:extLst>
            </p:cNvPr>
            <p:cNvCxnSpPr/>
            <p:nvPr/>
          </p:nvCxnSpPr>
          <p:spPr>
            <a:xfrm>
              <a:off x="3770356" y="4606842"/>
              <a:ext cx="465260" cy="43817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9BF666A-71F6-F5B6-6100-E7BA954DD27B}"/>
                </a:ext>
              </a:extLst>
            </p:cNvPr>
            <p:cNvCxnSpPr>
              <a:endCxn id="23" idx="1"/>
            </p:cNvCxnSpPr>
            <p:nvPr/>
          </p:nvCxnSpPr>
          <p:spPr>
            <a:xfrm>
              <a:off x="4553330" y="4116529"/>
              <a:ext cx="546778" cy="35735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5ADE6EE-1FC1-4A85-40A6-31D660C72F21}"/>
                </a:ext>
              </a:extLst>
            </p:cNvPr>
            <p:cNvCxnSpPr>
              <a:endCxn id="23" idx="3"/>
            </p:cNvCxnSpPr>
            <p:nvPr/>
          </p:nvCxnSpPr>
          <p:spPr>
            <a:xfrm flipV="1">
              <a:off x="4549448" y="4700709"/>
              <a:ext cx="550661" cy="40974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50C450E7-998A-B83B-2ECA-5AD92894F153}"/>
                </a:ext>
              </a:extLst>
            </p:cNvPr>
            <p:cNvCxnSpPr/>
            <p:nvPr/>
          </p:nvCxnSpPr>
          <p:spPr>
            <a:xfrm flipV="1">
              <a:off x="3221405" y="4608238"/>
              <a:ext cx="220600" cy="259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895F7327-DA92-2891-601D-E06732B10302}"/>
                </a:ext>
              </a:extLst>
            </p:cNvPr>
            <p:cNvCxnSpPr/>
            <p:nvPr/>
          </p:nvCxnSpPr>
          <p:spPr>
            <a:xfrm flipV="1">
              <a:off x="3228981" y="4098930"/>
              <a:ext cx="220600" cy="259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76BB8940-742B-6F4A-797F-9B501369E3B8}"/>
                </a:ext>
              </a:extLst>
            </p:cNvPr>
            <p:cNvCxnSpPr/>
            <p:nvPr/>
          </p:nvCxnSpPr>
          <p:spPr>
            <a:xfrm flipV="1">
              <a:off x="3228981" y="5128818"/>
              <a:ext cx="220600" cy="259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5B5B193-5B1E-E8C1-9F3E-4192A6A5A637}"/>
                </a:ext>
              </a:extLst>
            </p:cNvPr>
            <p:cNvCxnSpPr>
              <a:endCxn id="23" idx="2"/>
            </p:cNvCxnSpPr>
            <p:nvPr/>
          </p:nvCxnSpPr>
          <p:spPr>
            <a:xfrm flipV="1">
              <a:off x="4546414" y="4587298"/>
              <a:ext cx="50671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BB9E607-E23D-FAF3-4E70-7B3F3C53C99C}"/>
              </a:ext>
            </a:extLst>
          </p:cNvPr>
          <p:cNvGrpSpPr/>
          <p:nvPr/>
        </p:nvGrpSpPr>
        <p:grpSpPr>
          <a:xfrm>
            <a:off x="5079789" y="5432697"/>
            <a:ext cx="1350595" cy="827951"/>
            <a:chOff x="3221405" y="3951065"/>
            <a:chExt cx="2152502" cy="1319541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5B5FDCD-C63C-FFCD-6A16-9196F566DAE1}"/>
                </a:ext>
              </a:extLst>
            </p:cNvPr>
            <p:cNvSpPr/>
            <p:nvPr/>
          </p:nvSpPr>
          <p:spPr>
            <a:xfrm>
              <a:off x="3450003" y="3951065"/>
              <a:ext cx="320775" cy="32077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B1EFC69D-00AE-ABE7-8318-83D8DA378B22}"/>
                </a:ext>
              </a:extLst>
            </p:cNvPr>
            <p:cNvSpPr/>
            <p:nvPr/>
          </p:nvSpPr>
          <p:spPr>
            <a:xfrm>
              <a:off x="3450003" y="4450448"/>
              <a:ext cx="320775" cy="32077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EA6F3B-CA6A-2328-BB75-6B5D703A0223}"/>
                </a:ext>
              </a:extLst>
            </p:cNvPr>
            <p:cNvSpPr/>
            <p:nvPr/>
          </p:nvSpPr>
          <p:spPr>
            <a:xfrm>
              <a:off x="3449582" y="4949831"/>
              <a:ext cx="320775" cy="32077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A5CBD1B-1ABE-A106-D80E-3AA0B5C232A5}"/>
                </a:ext>
              </a:extLst>
            </p:cNvPr>
            <p:cNvSpPr/>
            <p:nvPr/>
          </p:nvSpPr>
          <p:spPr>
            <a:xfrm>
              <a:off x="4225640" y="3951065"/>
              <a:ext cx="320775" cy="32077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96CA7CA-557E-C57F-C8EF-9DFDA51D9678}"/>
                </a:ext>
              </a:extLst>
            </p:cNvPr>
            <p:cNvSpPr/>
            <p:nvPr/>
          </p:nvSpPr>
          <p:spPr>
            <a:xfrm>
              <a:off x="4225639" y="4450448"/>
              <a:ext cx="320775" cy="32077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B53C0BA5-8408-ADDA-6CC8-78BD382FA4BA}"/>
                </a:ext>
              </a:extLst>
            </p:cNvPr>
            <p:cNvSpPr/>
            <p:nvPr/>
          </p:nvSpPr>
          <p:spPr>
            <a:xfrm>
              <a:off x="4225639" y="4949831"/>
              <a:ext cx="320775" cy="32077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11B7CF92-377A-86A2-0542-F68BA4530AFA}"/>
                </a:ext>
              </a:extLst>
            </p:cNvPr>
            <p:cNvSpPr/>
            <p:nvPr/>
          </p:nvSpPr>
          <p:spPr>
            <a:xfrm>
              <a:off x="5053132" y="4426911"/>
              <a:ext cx="320775" cy="32077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F0171551-E9AB-C0CF-2C5E-17E7571FBCE1}"/>
                </a:ext>
              </a:extLst>
            </p:cNvPr>
            <p:cNvCxnSpPr>
              <a:stCxn id="45" idx="6"/>
              <a:endCxn id="48" idx="2"/>
            </p:cNvCxnSpPr>
            <p:nvPr/>
          </p:nvCxnSpPr>
          <p:spPr>
            <a:xfrm flipV="1">
              <a:off x="3770778" y="4111453"/>
              <a:ext cx="454862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93BD9C3-9D3B-04BB-82F9-F890A463DEDD}"/>
                </a:ext>
              </a:extLst>
            </p:cNvPr>
            <p:cNvCxnSpPr/>
            <p:nvPr/>
          </p:nvCxnSpPr>
          <p:spPr>
            <a:xfrm flipV="1">
              <a:off x="3770357" y="4610835"/>
              <a:ext cx="454862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891E7641-A0AB-F864-1956-D3E8C9007A3B}"/>
                </a:ext>
              </a:extLst>
            </p:cNvPr>
            <p:cNvCxnSpPr/>
            <p:nvPr/>
          </p:nvCxnSpPr>
          <p:spPr>
            <a:xfrm flipV="1">
              <a:off x="3770357" y="5113932"/>
              <a:ext cx="454862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A19E7139-685F-3BD0-6E38-34780722103A}"/>
                </a:ext>
              </a:extLst>
            </p:cNvPr>
            <p:cNvCxnSpPr>
              <a:endCxn id="49" idx="3"/>
            </p:cNvCxnSpPr>
            <p:nvPr/>
          </p:nvCxnSpPr>
          <p:spPr>
            <a:xfrm flipV="1">
              <a:off x="3770357" y="4724246"/>
              <a:ext cx="502259" cy="39726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EF0AC8DC-3D78-4402-8BB2-F85D9A464589}"/>
                </a:ext>
              </a:extLst>
            </p:cNvPr>
            <p:cNvCxnSpPr>
              <a:endCxn id="49" idx="1"/>
            </p:cNvCxnSpPr>
            <p:nvPr/>
          </p:nvCxnSpPr>
          <p:spPr>
            <a:xfrm>
              <a:off x="3774391" y="4116528"/>
              <a:ext cx="498224" cy="38089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893D6FF-2275-35D4-4419-4599F985BA96}"/>
                </a:ext>
              </a:extLst>
            </p:cNvPr>
            <p:cNvCxnSpPr>
              <a:endCxn id="50" idx="1"/>
            </p:cNvCxnSpPr>
            <p:nvPr/>
          </p:nvCxnSpPr>
          <p:spPr>
            <a:xfrm>
              <a:off x="3767607" y="4110446"/>
              <a:ext cx="505009" cy="88636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6AC5C9C4-A640-7091-0058-E69754CC6D5A}"/>
                </a:ext>
              </a:extLst>
            </p:cNvPr>
            <p:cNvCxnSpPr>
              <a:endCxn id="48" idx="3"/>
            </p:cNvCxnSpPr>
            <p:nvPr/>
          </p:nvCxnSpPr>
          <p:spPr>
            <a:xfrm flipV="1">
              <a:off x="3774391" y="4224864"/>
              <a:ext cx="498225" cy="88959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FB1FB0CF-FB4D-A267-875B-635985DBDCE1}"/>
                </a:ext>
              </a:extLst>
            </p:cNvPr>
            <p:cNvCxnSpPr/>
            <p:nvPr/>
          </p:nvCxnSpPr>
          <p:spPr>
            <a:xfrm flipV="1">
              <a:off x="3777141" y="4173806"/>
              <a:ext cx="454862" cy="435754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878D8D0D-2E6D-71D8-E77C-6662ABFB8637}"/>
                </a:ext>
              </a:extLst>
            </p:cNvPr>
            <p:cNvCxnSpPr/>
            <p:nvPr/>
          </p:nvCxnSpPr>
          <p:spPr>
            <a:xfrm>
              <a:off x="3770356" y="4606842"/>
              <a:ext cx="465260" cy="43817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FB90873-90EE-8DE6-07C3-081CB76EA1EF}"/>
                </a:ext>
              </a:extLst>
            </p:cNvPr>
            <p:cNvCxnSpPr>
              <a:endCxn id="51" idx="1"/>
            </p:cNvCxnSpPr>
            <p:nvPr/>
          </p:nvCxnSpPr>
          <p:spPr>
            <a:xfrm>
              <a:off x="4553330" y="4116529"/>
              <a:ext cx="546778" cy="35735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3F2D125F-7818-13D6-8A00-FC893230E883}"/>
                </a:ext>
              </a:extLst>
            </p:cNvPr>
            <p:cNvCxnSpPr>
              <a:endCxn id="51" idx="3"/>
            </p:cNvCxnSpPr>
            <p:nvPr/>
          </p:nvCxnSpPr>
          <p:spPr>
            <a:xfrm flipV="1">
              <a:off x="4549448" y="4700709"/>
              <a:ext cx="550661" cy="40974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94A24787-2F74-FFF1-B21A-533EACC1BA8C}"/>
                </a:ext>
              </a:extLst>
            </p:cNvPr>
            <p:cNvCxnSpPr/>
            <p:nvPr/>
          </p:nvCxnSpPr>
          <p:spPr>
            <a:xfrm flipV="1">
              <a:off x="3221405" y="4608238"/>
              <a:ext cx="220600" cy="259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5F2D265D-7379-D13D-AAC7-81F9DE42BCD6}"/>
                </a:ext>
              </a:extLst>
            </p:cNvPr>
            <p:cNvCxnSpPr/>
            <p:nvPr/>
          </p:nvCxnSpPr>
          <p:spPr>
            <a:xfrm flipV="1">
              <a:off x="3228981" y="4098930"/>
              <a:ext cx="220600" cy="259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142F1BD2-B1D8-0229-4503-B50013C1906E}"/>
                </a:ext>
              </a:extLst>
            </p:cNvPr>
            <p:cNvCxnSpPr/>
            <p:nvPr/>
          </p:nvCxnSpPr>
          <p:spPr>
            <a:xfrm flipV="1">
              <a:off x="3228981" y="5128818"/>
              <a:ext cx="220600" cy="259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27556CAD-386D-17F0-B38F-3EC7679AB011}"/>
                </a:ext>
              </a:extLst>
            </p:cNvPr>
            <p:cNvCxnSpPr>
              <a:endCxn id="51" idx="2"/>
            </p:cNvCxnSpPr>
            <p:nvPr/>
          </p:nvCxnSpPr>
          <p:spPr>
            <a:xfrm flipV="1">
              <a:off x="4546414" y="4587298"/>
              <a:ext cx="50671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CFC10A20-2744-2958-DA26-0C9164BD8ECB}"/>
              </a:ext>
            </a:extLst>
          </p:cNvPr>
          <p:cNvSpPr txBox="1"/>
          <p:nvPr/>
        </p:nvSpPr>
        <p:spPr>
          <a:xfrm>
            <a:off x="8468606" y="4277068"/>
            <a:ext cx="108151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Processor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72C7171-E975-45C5-A2A0-E01BB2E89864}"/>
              </a:ext>
            </a:extLst>
          </p:cNvPr>
          <p:cNvSpPr/>
          <p:nvPr/>
        </p:nvSpPr>
        <p:spPr>
          <a:xfrm>
            <a:off x="2707125" y="5200770"/>
            <a:ext cx="7603725" cy="1260135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C102AC7-E4AE-458D-BDEE-AEE2C44C442C}"/>
              </a:ext>
            </a:extLst>
          </p:cNvPr>
          <p:cNvSpPr/>
          <p:nvPr/>
        </p:nvSpPr>
        <p:spPr>
          <a:xfrm>
            <a:off x="2717769" y="3777642"/>
            <a:ext cx="7593080" cy="1260135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274458-6386-2006-A040-478434F41C6E}"/>
              </a:ext>
            </a:extLst>
          </p:cNvPr>
          <p:cNvSpPr txBox="1"/>
          <p:nvPr/>
        </p:nvSpPr>
        <p:spPr>
          <a:xfrm>
            <a:off x="8504051" y="5733304"/>
            <a:ext cx="108151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Processor 2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C02B501D-119F-900E-41AD-44561A6858FB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1906026" y="4419285"/>
            <a:ext cx="777688" cy="13478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86D5FAF-004C-BF4F-705B-A05E05EE2929}"/>
              </a:ext>
            </a:extLst>
          </p:cNvPr>
          <p:cNvCxnSpPr>
            <a:cxnSpLocks/>
            <a:endCxn id="69" idx="1"/>
          </p:cNvCxnSpPr>
          <p:nvPr/>
        </p:nvCxnSpPr>
        <p:spPr>
          <a:xfrm>
            <a:off x="2021701" y="5098853"/>
            <a:ext cx="685424" cy="73198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Afbeeldingsresultaat voor cats and dogs">
            <a:extLst>
              <a:ext uri="{FF2B5EF4-FFF2-40B4-BE49-F238E27FC236}">
                <a16:creationId xmlns:a16="http://schemas.microsoft.com/office/drawing/2014/main" id="{F984AFA3-9CD7-EBA0-F371-C25477B4B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89513" y="4519920"/>
            <a:ext cx="1320391" cy="825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6B0D75A-2F3D-FE18-435E-0D75A9B0A4E3}"/>
                  </a:ext>
                </a:extLst>
              </p:cNvPr>
              <p:cNvSpPr txBox="1"/>
              <p:nvPr/>
            </p:nvSpPr>
            <p:spPr>
              <a:xfrm>
                <a:off x="6812661" y="4234618"/>
                <a:ext cx="11163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NL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6B0D75A-2F3D-FE18-435E-0D75A9B0A4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661" y="4234618"/>
                <a:ext cx="1116330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4EE6F7B-69DD-5268-B81A-563CA6D4DD01}"/>
                  </a:ext>
                </a:extLst>
              </p:cNvPr>
              <p:cNvSpPr txBox="1"/>
              <p:nvPr/>
            </p:nvSpPr>
            <p:spPr>
              <a:xfrm>
                <a:off x="6812661" y="5662006"/>
                <a:ext cx="11163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NL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4EE6F7B-69DD-5268-B81A-563CA6D4DD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661" y="5662006"/>
                <a:ext cx="1116330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E01A05E-5DD5-4927-A419-9CC8A0EFBB25}"/>
                  </a:ext>
                </a:extLst>
              </p:cNvPr>
              <p:cNvSpPr txBox="1"/>
              <p:nvPr/>
            </p:nvSpPr>
            <p:spPr>
              <a:xfrm>
                <a:off x="2683714" y="4101409"/>
                <a:ext cx="2562391" cy="6357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𝛻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Q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𝛻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m:rPr>
                              <m:sty m:val="p"/>
                            </m:rPr>
                            <a:rPr lang="en-US" baseline="-25000">
                              <a:latin typeface="Cambria Math" panose="02040503050406030204" pitchFamily="18" charset="0"/>
                            </a:rPr>
                            <m:t>j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E01A05E-5DD5-4927-A419-9CC8A0EFBB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3714" y="4101409"/>
                <a:ext cx="2562391" cy="63575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1B85890-BE28-EDA1-93C6-2FF52170CF32}"/>
                  </a:ext>
                </a:extLst>
              </p:cNvPr>
              <p:cNvSpPr txBox="1"/>
              <p:nvPr/>
            </p:nvSpPr>
            <p:spPr>
              <a:xfrm>
                <a:off x="2683714" y="5528797"/>
                <a:ext cx="2562391" cy="6357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𝛻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Q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𝛻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m:rPr>
                              <m:sty m:val="p"/>
                            </m:rPr>
                            <a:rPr lang="en-US" baseline="-25000">
                              <a:latin typeface="Cambria Math" panose="02040503050406030204" pitchFamily="18" charset="0"/>
                            </a:rPr>
                            <m:t>j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1B85890-BE28-EDA1-93C6-2FF52170CF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3714" y="5528797"/>
                <a:ext cx="2562391" cy="63575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04624FC-FB15-A7E4-68C6-410E4C492A45}"/>
                  </a:ext>
                </a:extLst>
              </p:cNvPr>
              <p:cNvSpPr txBox="1"/>
              <p:nvPr/>
            </p:nvSpPr>
            <p:spPr>
              <a:xfrm>
                <a:off x="2946890" y="4234618"/>
                <a:ext cx="22359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𝜂𝛻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04624FC-FB15-A7E4-68C6-410E4C492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6890" y="4234618"/>
                <a:ext cx="2235994" cy="369332"/>
              </a:xfrm>
              <a:prstGeom prst="rect">
                <a:avLst/>
              </a:prstGeom>
              <a:blipFill>
                <a:blip r:embed="rId1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03C53B4E-BD43-F77D-A702-683AD62C07AA}"/>
                  </a:ext>
                </a:extLst>
              </p:cNvPr>
              <p:cNvSpPr txBox="1"/>
              <p:nvPr/>
            </p:nvSpPr>
            <p:spPr>
              <a:xfrm>
                <a:off x="2946890" y="5662006"/>
                <a:ext cx="22359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𝜂𝛻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03C53B4E-BD43-F77D-A702-683AD62C0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6890" y="5662006"/>
                <a:ext cx="2235994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TextBox 67">
            <a:extLst>
              <a:ext uri="{FF2B5EF4-FFF2-40B4-BE49-F238E27FC236}">
                <a16:creationId xmlns:a16="http://schemas.microsoft.com/office/drawing/2014/main" id="{46879C73-DB43-76BB-1F55-01F70D20ECC8}"/>
              </a:ext>
            </a:extLst>
          </p:cNvPr>
          <p:cNvSpPr txBox="1"/>
          <p:nvPr/>
        </p:nvSpPr>
        <p:spPr>
          <a:xfrm>
            <a:off x="8103540" y="1184584"/>
            <a:ext cx="3539522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dirty="0"/>
              <a:t>NB: model is still </a:t>
            </a:r>
            <a:r>
              <a:rPr lang="en-US" u="sng" dirty="0"/>
              <a:t>identical</a:t>
            </a:r>
            <a:r>
              <a:rPr lang="en-US" dirty="0"/>
              <a:t>, since initial model </a:t>
            </a:r>
            <a:r>
              <a:rPr lang="en-US" i="1" dirty="0"/>
              <a:t>and</a:t>
            </a:r>
            <a:r>
              <a:rPr lang="en-US" dirty="0"/>
              <a:t> update were identical!</a:t>
            </a:r>
            <a:endParaRPr lang="en-NL" dirty="0" err="1"/>
          </a:p>
        </p:txBody>
      </p:sp>
    </p:spTree>
    <p:extLst>
      <p:ext uri="{BB962C8B-B14F-4D97-AF65-F5344CB8AC3E}">
        <p14:creationId xmlns:p14="http://schemas.microsoft.com/office/powerpoint/2010/main" val="1638820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4.07407E-6 L 0.23659 -0.0548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823" y="-2755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11111E-6 L 0.21536 0.1363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690" y="689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3659 -0.05486 L 0.50456 -0.05486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398" y="0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1536 0.13635 L 0.48672 0.13565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568" y="-4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5 0 E" pathEditMode="relative" ptsTypes="">
                                      <p:cBhvr>
                                        <p:cTn id="4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5 0 E" pathEditMode="relative" ptsTypes="">
                                      <p:cBhvr>
                                        <p:cTn id="42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0" grpId="2"/>
      <p:bldP spid="12" grpId="0"/>
      <p:bldP spid="12" grpId="1"/>
      <p:bldP spid="12" grpId="2"/>
      <p:bldP spid="14" grpId="0"/>
      <p:bldP spid="14" grpId="1"/>
      <p:bldP spid="42" grpId="0"/>
      <p:bldP spid="42" grpId="1"/>
      <p:bldP spid="43" grpId="0"/>
      <p:bldP spid="67" grpId="0"/>
      <p:bldP spid="6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Distributed Data Parallel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different view…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14</a:t>
            </a:fld>
            <a:endParaRPr lang="nl-NL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B0ACBC3-552F-C04E-A665-8C111CD1567A}"/>
              </a:ext>
            </a:extLst>
          </p:cNvPr>
          <p:cNvSpPr txBox="1"/>
          <p:nvPr/>
        </p:nvSpPr>
        <p:spPr>
          <a:xfrm>
            <a:off x="804481" y="2929220"/>
            <a:ext cx="1044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Worker 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B1A5C3A-FA45-5C46-9BD0-77CCCB9532D1}"/>
              </a:ext>
            </a:extLst>
          </p:cNvPr>
          <p:cNvSpPr txBox="1"/>
          <p:nvPr/>
        </p:nvSpPr>
        <p:spPr>
          <a:xfrm>
            <a:off x="804481" y="4771953"/>
            <a:ext cx="1044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Worker 2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0509458-039A-E54D-BAFE-2B73F28008E8}"/>
              </a:ext>
            </a:extLst>
          </p:cNvPr>
          <p:cNvCxnSpPr/>
          <p:nvPr/>
        </p:nvCxnSpPr>
        <p:spPr>
          <a:xfrm>
            <a:off x="927144" y="2363533"/>
            <a:ext cx="335651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82EC0C53-9946-6D42-AA53-81E7E1585209}"/>
              </a:ext>
            </a:extLst>
          </p:cNvPr>
          <p:cNvSpPr txBox="1"/>
          <p:nvPr/>
        </p:nvSpPr>
        <p:spPr>
          <a:xfrm>
            <a:off x="1005203" y="1971899"/>
            <a:ext cx="649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Time</a:t>
            </a:r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68A47D34-EBDA-C74D-A8FC-F91BE17E30A6}"/>
              </a:ext>
            </a:extLst>
          </p:cNvPr>
          <p:cNvSpPr/>
          <p:nvPr/>
        </p:nvSpPr>
        <p:spPr>
          <a:xfrm>
            <a:off x="1517111" y="3575989"/>
            <a:ext cx="4525779" cy="568795"/>
          </a:xfrm>
          <a:custGeom>
            <a:avLst/>
            <a:gdLst>
              <a:gd name="connsiteX0" fmla="*/ 7777750 w 8112750"/>
              <a:gd name="connsiteY0" fmla="*/ 0 h 723206"/>
              <a:gd name="connsiteX1" fmla="*/ 8101135 w 8112750"/>
              <a:gd name="connsiteY1" fmla="*/ 289932 h 723206"/>
              <a:gd name="connsiteX2" fmla="*/ 7409760 w 8112750"/>
              <a:gd name="connsiteY2" fmla="*/ 557561 h 723206"/>
              <a:gd name="connsiteX3" fmla="*/ 4521594 w 8112750"/>
              <a:gd name="connsiteY3" fmla="*/ 713678 h 723206"/>
              <a:gd name="connsiteX4" fmla="*/ 362189 w 8112750"/>
              <a:gd name="connsiteY4" fmla="*/ 635620 h 723206"/>
              <a:gd name="connsiteX5" fmla="*/ 484853 w 8112750"/>
              <a:gd name="connsiteY5" fmla="*/ 66907 h 723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112750" h="723206">
                <a:moveTo>
                  <a:pt x="7777750" y="0"/>
                </a:moveTo>
                <a:cubicBezTo>
                  <a:pt x="7970108" y="98502"/>
                  <a:pt x="8162467" y="197005"/>
                  <a:pt x="8101135" y="289932"/>
                </a:cubicBezTo>
                <a:cubicBezTo>
                  <a:pt x="8039803" y="382859"/>
                  <a:pt x="8006350" y="486937"/>
                  <a:pt x="7409760" y="557561"/>
                </a:cubicBezTo>
                <a:cubicBezTo>
                  <a:pt x="6813170" y="628185"/>
                  <a:pt x="4521594" y="713678"/>
                  <a:pt x="4521594" y="713678"/>
                </a:cubicBezTo>
                <a:cubicBezTo>
                  <a:pt x="3346999" y="726688"/>
                  <a:pt x="1034979" y="743415"/>
                  <a:pt x="362189" y="635620"/>
                </a:cubicBezTo>
                <a:cubicBezTo>
                  <a:pt x="-310601" y="527825"/>
                  <a:pt x="87126" y="297366"/>
                  <a:pt x="484853" y="66907"/>
                </a:cubicBez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B247C10-3A00-5640-963D-7CAC282C89D5}"/>
              </a:ext>
            </a:extLst>
          </p:cNvPr>
          <p:cNvCxnSpPr/>
          <p:nvPr/>
        </p:nvCxnSpPr>
        <p:spPr>
          <a:xfrm>
            <a:off x="5752116" y="2564849"/>
            <a:ext cx="0" cy="2915461"/>
          </a:xfrm>
          <a:prstGeom prst="line">
            <a:avLst/>
          </a:prstGeom>
          <a:ln w="317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65F0968-DDB9-8248-AE3D-FC9560638426}"/>
              </a:ext>
            </a:extLst>
          </p:cNvPr>
          <p:cNvSpPr txBox="1"/>
          <p:nvPr/>
        </p:nvSpPr>
        <p:spPr>
          <a:xfrm>
            <a:off x="4914226" y="1857886"/>
            <a:ext cx="16757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dirty="0"/>
              <a:t>Synchronization</a:t>
            </a:r>
          </a:p>
          <a:p>
            <a:pPr algn="ctr"/>
            <a:r>
              <a:rPr lang="nl-NL" dirty="0"/>
              <a:t>barrier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6884000" y="4246065"/>
            <a:ext cx="454410" cy="420537"/>
          </a:xfrm>
          <a:prstGeom prst="rect">
            <a:avLst/>
          </a:prstGeom>
          <a:solidFill>
            <a:srgbClr val="0070C0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46" name="TextBox 45"/>
          <p:cNvSpPr txBox="1"/>
          <p:nvPr/>
        </p:nvSpPr>
        <p:spPr>
          <a:xfrm>
            <a:off x="7530645" y="4311859"/>
            <a:ext cx="1290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dirty="0"/>
              <a:t>Forward pass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6884000" y="4830767"/>
            <a:ext cx="454410" cy="420537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30645" y="4765937"/>
            <a:ext cx="25151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dirty="0"/>
              <a:t>Backward pass, </a:t>
            </a:r>
          </a:p>
          <a:p>
            <a:r>
              <a:rPr lang="nl-NL" sz="1600" dirty="0" err="1"/>
              <a:t>compute</a:t>
            </a:r>
            <a:r>
              <a:rPr lang="nl-NL" sz="1600" dirty="0"/>
              <a:t> </a:t>
            </a:r>
            <a:r>
              <a:rPr lang="nl-NL" sz="1600" dirty="0" err="1"/>
              <a:t>gradient</a:t>
            </a:r>
            <a:r>
              <a:rPr lang="nl-NL" sz="1600" dirty="0"/>
              <a:t> of </a:t>
            </a:r>
            <a:r>
              <a:rPr lang="nl-NL" sz="1600" dirty="0" err="1"/>
              <a:t>layer</a:t>
            </a:r>
            <a:r>
              <a:rPr lang="nl-NL" sz="1600" dirty="0"/>
              <a:t> 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6884000" y="5480310"/>
            <a:ext cx="454410" cy="40825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34922" y="5380237"/>
            <a:ext cx="22356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dirty="0"/>
              <a:t>Backward pass, </a:t>
            </a:r>
          </a:p>
          <a:p>
            <a:r>
              <a:rPr lang="nl-NL" sz="1600" dirty="0" err="1"/>
              <a:t>communicate</a:t>
            </a:r>
            <a:r>
              <a:rPr lang="nl-NL" sz="1600" dirty="0"/>
              <a:t> </a:t>
            </a:r>
            <a:r>
              <a:rPr lang="nl-NL" sz="1600" dirty="0" err="1"/>
              <a:t>gradient</a:t>
            </a:r>
            <a:r>
              <a:rPr lang="nl-NL" sz="1600" dirty="0"/>
              <a:t> N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2097790" y="2914312"/>
            <a:ext cx="921554" cy="420537"/>
          </a:xfrm>
          <a:prstGeom prst="rect">
            <a:avLst/>
          </a:prstGeom>
          <a:solidFill>
            <a:srgbClr val="0070C0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3019344" y="2914312"/>
            <a:ext cx="454410" cy="420537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3484843" y="3346994"/>
            <a:ext cx="454410" cy="420537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N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3482513" y="2914312"/>
            <a:ext cx="527190" cy="42639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N-1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4012814" y="2914312"/>
            <a:ext cx="527190" cy="42639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…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4548392" y="2914312"/>
            <a:ext cx="527190" cy="41843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3954260" y="3346994"/>
            <a:ext cx="585744" cy="420537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N-1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4549180" y="3346994"/>
            <a:ext cx="585744" cy="420537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…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5134924" y="3346994"/>
            <a:ext cx="585744" cy="420537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1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2097790" y="4756476"/>
            <a:ext cx="765692" cy="420537"/>
          </a:xfrm>
          <a:prstGeom prst="rect">
            <a:avLst/>
          </a:prstGeom>
          <a:solidFill>
            <a:srgbClr val="0070C0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2865439" y="4756476"/>
            <a:ext cx="454410" cy="420537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3319849" y="4329450"/>
            <a:ext cx="619404" cy="420537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N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3328610" y="4756476"/>
            <a:ext cx="527190" cy="42639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N-1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3867966" y="4756476"/>
            <a:ext cx="536606" cy="42639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…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4404572" y="4756476"/>
            <a:ext cx="571261" cy="42639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3855800" y="4329450"/>
            <a:ext cx="548772" cy="420537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N-1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4404572" y="4329450"/>
            <a:ext cx="439579" cy="420537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…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4844152" y="4329450"/>
            <a:ext cx="576686" cy="420537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1</a:t>
            </a:r>
          </a:p>
        </p:txBody>
      </p:sp>
      <p:sp>
        <p:nvSpPr>
          <p:cNvPr id="69" name="Freeform 68">
            <a:extLst>
              <a:ext uri="{FF2B5EF4-FFF2-40B4-BE49-F238E27FC236}">
                <a16:creationId xmlns:a16="http://schemas.microsoft.com/office/drawing/2014/main" id="{68A47D34-EBDA-C74D-A8FC-F91BE17E30A6}"/>
              </a:ext>
            </a:extLst>
          </p:cNvPr>
          <p:cNvSpPr/>
          <p:nvPr/>
        </p:nvSpPr>
        <p:spPr>
          <a:xfrm>
            <a:off x="1592910" y="5418940"/>
            <a:ext cx="4525779" cy="568795"/>
          </a:xfrm>
          <a:custGeom>
            <a:avLst/>
            <a:gdLst>
              <a:gd name="connsiteX0" fmla="*/ 7777750 w 8112750"/>
              <a:gd name="connsiteY0" fmla="*/ 0 h 723206"/>
              <a:gd name="connsiteX1" fmla="*/ 8101135 w 8112750"/>
              <a:gd name="connsiteY1" fmla="*/ 289932 h 723206"/>
              <a:gd name="connsiteX2" fmla="*/ 7409760 w 8112750"/>
              <a:gd name="connsiteY2" fmla="*/ 557561 h 723206"/>
              <a:gd name="connsiteX3" fmla="*/ 4521594 w 8112750"/>
              <a:gd name="connsiteY3" fmla="*/ 713678 h 723206"/>
              <a:gd name="connsiteX4" fmla="*/ 362189 w 8112750"/>
              <a:gd name="connsiteY4" fmla="*/ 635620 h 723206"/>
              <a:gd name="connsiteX5" fmla="*/ 484853 w 8112750"/>
              <a:gd name="connsiteY5" fmla="*/ 66907 h 723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112750" h="723206">
                <a:moveTo>
                  <a:pt x="7777750" y="0"/>
                </a:moveTo>
                <a:cubicBezTo>
                  <a:pt x="7970108" y="98502"/>
                  <a:pt x="8162467" y="197005"/>
                  <a:pt x="8101135" y="289932"/>
                </a:cubicBezTo>
                <a:cubicBezTo>
                  <a:pt x="8039803" y="382859"/>
                  <a:pt x="8006350" y="486937"/>
                  <a:pt x="7409760" y="557561"/>
                </a:cubicBezTo>
                <a:cubicBezTo>
                  <a:pt x="6813170" y="628185"/>
                  <a:pt x="4521594" y="713678"/>
                  <a:pt x="4521594" y="713678"/>
                </a:cubicBezTo>
                <a:cubicBezTo>
                  <a:pt x="3346999" y="726688"/>
                  <a:pt x="1034979" y="743415"/>
                  <a:pt x="362189" y="635620"/>
                </a:cubicBezTo>
                <a:cubicBezTo>
                  <a:pt x="-310601" y="527825"/>
                  <a:pt x="87126" y="297366"/>
                  <a:pt x="484853" y="66907"/>
                </a:cubicBez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6884000" y="6039693"/>
            <a:ext cx="454410" cy="42053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71" name="TextBox 70"/>
          <p:cNvSpPr txBox="1"/>
          <p:nvPr/>
        </p:nvSpPr>
        <p:spPr>
          <a:xfrm>
            <a:off x="7530645" y="6105487"/>
            <a:ext cx="5734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dirty="0" err="1"/>
              <a:t>Wait</a:t>
            </a:r>
            <a:endParaRPr lang="nl-NL" sz="1600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08432CD-BC68-F246-8942-A884BAEA182C}"/>
              </a:ext>
            </a:extLst>
          </p:cNvPr>
          <p:cNvSpPr/>
          <p:nvPr/>
        </p:nvSpPr>
        <p:spPr>
          <a:xfrm>
            <a:off x="5420838" y="4329449"/>
            <a:ext cx="299830" cy="42053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73" name="TextBox 72"/>
          <p:cNvSpPr txBox="1"/>
          <p:nvPr/>
        </p:nvSpPr>
        <p:spPr>
          <a:xfrm>
            <a:off x="6919913" y="242421"/>
            <a:ext cx="4693637" cy="166199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l-NL" dirty="0"/>
              <a:t>Pro tip:</a:t>
            </a:r>
          </a:p>
          <a:p>
            <a:pPr algn="l"/>
            <a:r>
              <a:rPr lang="nl-NL" dirty="0"/>
              <a:t>- Overlap </a:t>
            </a:r>
            <a:r>
              <a:rPr lang="nl-NL" dirty="0" err="1"/>
              <a:t>communication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computation</a:t>
            </a:r>
            <a:r>
              <a:rPr lang="nl-NL" dirty="0"/>
              <a:t> (</a:t>
            </a:r>
            <a:r>
              <a:rPr lang="nl-NL" dirty="0" err="1"/>
              <a:t>don’t</a:t>
            </a:r>
            <a:r>
              <a:rPr lang="nl-NL" dirty="0"/>
              <a:t> waste </a:t>
            </a:r>
            <a:r>
              <a:rPr lang="nl-NL" dirty="0" err="1"/>
              <a:t>compute</a:t>
            </a:r>
            <a:r>
              <a:rPr lang="nl-NL" dirty="0"/>
              <a:t> </a:t>
            </a:r>
            <a:r>
              <a:rPr lang="nl-NL" dirty="0" err="1"/>
              <a:t>cycles</a:t>
            </a:r>
            <a:r>
              <a:rPr lang="nl-NL" dirty="0"/>
              <a:t> </a:t>
            </a:r>
            <a:r>
              <a:rPr lang="nl-NL" dirty="0" err="1"/>
              <a:t>waiting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communication</a:t>
            </a:r>
            <a:r>
              <a:rPr lang="nl-NL" dirty="0"/>
              <a:t>!)</a:t>
            </a:r>
          </a:p>
          <a:p>
            <a:pPr algn="l"/>
            <a:r>
              <a:rPr lang="nl-NL" dirty="0"/>
              <a:t>- </a:t>
            </a:r>
            <a:r>
              <a:rPr lang="nl-NL" i="1" dirty="0"/>
              <a:t>Most </a:t>
            </a:r>
            <a:r>
              <a:rPr lang="nl-NL" dirty="0"/>
              <a:t>(</a:t>
            </a:r>
            <a:r>
              <a:rPr lang="nl-NL" dirty="0" err="1"/>
              <a:t>distributed</a:t>
            </a:r>
            <a:r>
              <a:rPr lang="nl-NL" dirty="0"/>
              <a:t>) DL </a:t>
            </a:r>
            <a:r>
              <a:rPr lang="nl-NL" dirty="0" err="1"/>
              <a:t>frameworks</a:t>
            </a:r>
            <a:r>
              <a:rPr lang="nl-NL" dirty="0"/>
              <a:t> </a:t>
            </a:r>
            <a:r>
              <a:rPr lang="nl-NL" dirty="0" err="1"/>
              <a:t>already</a:t>
            </a:r>
            <a:r>
              <a:rPr lang="nl-NL" dirty="0"/>
              <a:t> take care of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>
                <a:sym typeface="Wingdings" panose="05000000000000000000" pitchFamily="2" charset="2"/>
              </a:rPr>
              <a:t> =&gt; </a:t>
            </a:r>
            <a:r>
              <a:rPr lang="nl-NL" dirty="0" err="1">
                <a:sym typeface="Wingdings" panose="05000000000000000000" pitchFamily="2" charset="2"/>
              </a:rPr>
              <a:t>so</a:t>
            </a:r>
            <a:r>
              <a:rPr lang="nl-NL" dirty="0">
                <a:sym typeface="Wingdings" panose="05000000000000000000" pitchFamily="2" charset="2"/>
              </a:rPr>
              <a:t> does </a:t>
            </a:r>
            <a:r>
              <a:rPr lang="nl-NL" dirty="0" err="1">
                <a:sym typeface="Wingdings" panose="05000000000000000000" pitchFamily="2" charset="2"/>
              </a:rPr>
              <a:t>PyTorch</a:t>
            </a:r>
            <a:r>
              <a:rPr lang="nl-NL" dirty="0">
                <a:sym typeface="Wingdings" panose="05000000000000000000" pitchFamily="2" charset="2"/>
              </a:rPr>
              <a:t> DDP!</a:t>
            </a:r>
            <a:endParaRPr lang="nl-NL" dirty="0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5134924" y="1937244"/>
            <a:ext cx="1704926" cy="1361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6964229" y="2890485"/>
            <a:ext cx="3576853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l-NL" dirty="0"/>
              <a:t>Pro tip 2:</a:t>
            </a:r>
          </a:p>
          <a:p>
            <a:pPr marL="285750" indent="-285750" algn="l">
              <a:buFontTx/>
              <a:buChar char="-"/>
            </a:pPr>
            <a:r>
              <a:rPr lang="nl-NL" dirty="0"/>
              <a:t>Make </a:t>
            </a:r>
            <a:r>
              <a:rPr lang="nl-NL" dirty="0" err="1"/>
              <a:t>sure</a:t>
            </a:r>
            <a:r>
              <a:rPr lang="nl-NL" dirty="0"/>
              <a:t> </a:t>
            </a:r>
            <a:r>
              <a:rPr lang="nl-NL" dirty="0" err="1"/>
              <a:t>all</a:t>
            </a:r>
            <a:r>
              <a:rPr lang="nl-NL" dirty="0"/>
              <a:t> </a:t>
            </a:r>
            <a:r>
              <a:rPr lang="nl-NL" dirty="0" err="1"/>
              <a:t>workers</a:t>
            </a:r>
            <a:r>
              <a:rPr lang="nl-NL" dirty="0"/>
              <a:t> are </a:t>
            </a:r>
            <a:r>
              <a:rPr lang="nl-NL" dirty="0" err="1"/>
              <a:t>equally</a:t>
            </a:r>
            <a:r>
              <a:rPr lang="nl-NL" dirty="0"/>
              <a:t> </a:t>
            </a:r>
            <a:r>
              <a:rPr lang="nl-NL" dirty="0" err="1"/>
              <a:t>fast</a:t>
            </a:r>
            <a:r>
              <a:rPr lang="nl-NL" dirty="0"/>
              <a:t>!</a:t>
            </a:r>
          </a:p>
        </p:txBody>
      </p:sp>
      <p:cxnSp>
        <p:nvCxnSpPr>
          <p:cNvPr id="78" name="Straight Arrow Connector 77"/>
          <p:cNvCxnSpPr/>
          <p:nvPr/>
        </p:nvCxnSpPr>
        <p:spPr>
          <a:xfrm flipH="1">
            <a:off x="5811458" y="3692849"/>
            <a:ext cx="1086879" cy="6179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625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/>
      <p:bldP spid="73" grpId="1"/>
      <p:bldP spid="7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How does </a:t>
            </a:r>
            <a:r>
              <a:rPr lang="nl-NL" dirty="0" err="1"/>
              <a:t>PyTorch</a:t>
            </a:r>
            <a:r>
              <a:rPr lang="nl-NL" dirty="0"/>
              <a:t> </a:t>
            </a:r>
            <a:r>
              <a:rPr lang="nl-NL" dirty="0" err="1"/>
              <a:t>aggregate</a:t>
            </a:r>
            <a:r>
              <a:rPr lang="nl-NL" dirty="0"/>
              <a:t> </a:t>
            </a:r>
            <a:r>
              <a:rPr lang="nl-NL" dirty="0" err="1"/>
              <a:t>gradients</a:t>
            </a:r>
            <a:r>
              <a:rPr lang="nl-NL" dirty="0"/>
              <a:t>?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dirty="0" err="1"/>
              <a:t>AllReduce</a:t>
            </a:r>
            <a:r>
              <a:rPr lang="en-US" dirty="0"/>
              <a:t> operation (with ‘sum’ as reduction operator) is defined as: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dirty="0"/>
              <a:t>But this does not define how the operation should be implemented!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15</a:t>
            </a:fld>
            <a:endParaRPr lang="nl-NL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71339"/>
              </p:ext>
            </p:extLst>
          </p:nvPr>
        </p:nvGraphicFramePr>
        <p:xfrm>
          <a:off x="2293771" y="2484120"/>
          <a:ext cx="400259" cy="1889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02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A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B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C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D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72971"/>
              </p:ext>
            </p:extLst>
          </p:nvPr>
        </p:nvGraphicFramePr>
        <p:xfrm>
          <a:off x="6437742" y="2484120"/>
          <a:ext cx="2068244" cy="1889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682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A+B+C+D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A+B+C+D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A+B+C+D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A+B+C+D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808047" y="2473848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8047" y="2924460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8047" y="3375072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8047" y="3852148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P3</a:t>
            </a:r>
          </a:p>
        </p:txBody>
      </p:sp>
      <p:cxnSp>
        <p:nvCxnSpPr>
          <p:cNvPr id="20" name="Straight Arrow Connector 19"/>
          <p:cNvCxnSpPr>
            <a:cxnSpLocks/>
          </p:cNvCxnSpPr>
          <p:nvPr/>
        </p:nvCxnSpPr>
        <p:spPr>
          <a:xfrm>
            <a:off x="3536150" y="3396983"/>
            <a:ext cx="1904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706529" y="2681939"/>
            <a:ext cx="16323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AllReduce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6C50EC-375C-9BBB-3F66-8D1B4C3E3EC0}"/>
              </a:ext>
            </a:extLst>
          </p:cNvPr>
          <p:cNvSpPr txBox="1"/>
          <p:nvPr/>
        </p:nvSpPr>
        <p:spPr>
          <a:xfrm>
            <a:off x="1664076" y="2459571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5E5EC9-5187-24BC-6C47-7729A31ED75F}"/>
              </a:ext>
            </a:extLst>
          </p:cNvPr>
          <p:cNvSpPr txBox="1"/>
          <p:nvPr/>
        </p:nvSpPr>
        <p:spPr>
          <a:xfrm>
            <a:off x="1664076" y="2910183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096859-B2BE-DABF-E825-903C02AEC0A1}"/>
              </a:ext>
            </a:extLst>
          </p:cNvPr>
          <p:cNvSpPr txBox="1"/>
          <p:nvPr/>
        </p:nvSpPr>
        <p:spPr>
          <a:xfrm>
            <a:off x="1664076" y="3360795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AE0CE3-540E-E9D0-2E49-74FE61248204}"/>
              </a:ext>
            </a:extLst>
          </p:cNvPr>
          <p:cNvSpPr txBox="1"/>
          <p:nvPr/>
        </p:nvSpPr>
        <p:spPr>
          <a:xfrm>
            <a:off x="1664076" y="3837871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P3</a:t>
            </a:r>
          </a:p>
        </p:txBody>
      </p:sp>
    </p:spTree>
    <p:extLst>
      <p:ext uri="{BB962C8B-B14F-4D97-AF65-F5344CB8AC3E}">
        <p14:creationId xmlns:p14="http://schemas.microsoft.com/office/powerpoint/2010/main" val="1469934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An </a:t>
            </a:r>
            <a:r>
              <a:rPr lang="nl-NL" dirty="0" err="1"/>
              <a:t>AllReduce</a:t>
            </a:r>
            <a:r>
              <a:rPr lang="nl-NL" dirty="0"/>
              <a:t> </a:t>
            </a:r>
            <a:r>
              <a:rPr lang="nl-NL" dirty="0" err="1"/>
              <a:t>algorithm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Example: a (typically inefficient) </a:t>
            </a:r>
            <a:r>
              <a:rPr lang="en-US" dirty="0" err="1"/>
              <a:t>AllReduce</a:t>
            </a:r>
            <a:r>
              <a:rPr lang="en-US" dirty="0"/>
              <a:t> operation could implemented like this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7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3934103"/>
              </p:ext>
            </p:extLst>
          </p:nvPr>
        </p:nvGraphicFramePr>
        <p:xfrm>
          <a:off x="4134564" y="2712720"/>
          <a:ext cx="1497204" cy="472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72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60804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A+B+C+D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3454743" y="2726233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2" name="Straight Arrow Connector 31"/>
          <p:cNvCxnSpPr/>
          <p:nvPr/>
        </p:nvCxnSpPr>
        <p:spPr>
          <a:xfrm>
            <a:off x="1766436" y="2824753"/>
            <a:ext cx="14972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1766436" y="3009706"/>
            <a:ext cx="1497204" cy="2214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cxnSpLocks/>
          </p:cNvCxnSpPr>
          <p:nvPr/>
        </p:nvCxnSpPr>
        <p:spPr>
          <a:xfrm flipV="1">
            <a:off x="1794087" y="3154217"/>
            <a:ext cx="1469553" cy="535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cxnSpLocks/>
          </p:cNvCxnSpPr>
          <p:nvPr/>
        </p:nvCxnSpPr>
        <p:spPr>
          <a:xfrm flipV="1">
            <a:off x="1766436" y="3331405"/>
            <a:ext cx="1497204" cy="8646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 flipV="1">
            <a:off x="5832208" y="2888104"/>
            <a:ext cx="14972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5832208" y="3073057"/>
            <a:ext cx="1497204" cy="2214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>
            <a:off x="5832208" y="3217568"/>
            <a:ext cx="1497204" cy="47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>
            <a:off x="5832208" y="3439015"/>
            <a:ext cx="1497204" cy="6047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21DEBEC-0AC6-0E25-669C-3669B763EF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9297448"/>
              </p:ext>
            </p:extLst>
          </p:nvPr>
        </p:nvGraphicFramePr>
        <p:xfrm>
          <a:off x="1023473" y="2612384"/>
          <a:ext cx="400259" cy="1889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02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A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B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C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D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BC942A2-2A05-8372-D94D-DEA20745C6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9022740"/>
              </p:ext>
            </p:extLst>
          </p:nvPr>
        </p:nvGraphicFramePr>
        <p:xfrm>
          <a:off x="8166703" y="2585295"/>
          <a:ext cx="2068244" cy="1889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682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A+B+C+D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A+B+C+D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A+B+C+D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A+B+C+D</a:t>
                      </a:r>
                    </a:p>
                  </a:txBody>
                  <a:tcPr marL="0" marR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EDB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71113BA-687F-4EFD-636F-B344E60E4822}"/>
              </a:ext>
            </a:extLst>
          </p:cNvPr>
          <p:cNvSpPr txBox="1"/>
          <p:nvPr/>
        </p:nvSpPr>
        <p:spPr>
          <a:xfrm>
            <a:off x="7537008" y="2575023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5AB180-C7FA-4A20-7F91-02D682CAC891}"/>
              </a:ext>
            </a:extLst>
          </p:cNvPr>
          <p:cNvSpPr txBox="1"/>
          <p:nvPr/>
        </p:nvSpPr>
        <p:spPr>
          <a:xfrm>
            <a:off x="7537008" y="3025635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8E8396-FB8A-4FA6-C199-73A504A15977}"/>
              </a:ext>
            </a:extLst>
          </p:cNvPr>
          <p:cNvSpPr txBox="1"/>
          <p:nvPr/>
        </p:nvSpPr>
        <p:spPr>
          <a:xfrm>
            <a:off x="7537008" y="3476247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BC3C8D-92B2-731C-D8F7-2821985DE902}"/>
              </a:ext>
            </a:extLst>
          </p:cNvPr>
          <p:cNvSpPr txBox="1"/>
          <p:nvPr/>
        </p:nvSpPr>
        <p:spPr>
          <a:xfrm>
            <a:off x="7537008" y="3953323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E9E3C9-9486-AA06-3C76-5E88A9EA6568}"/>
              </a:ext>
            </a:extLst>
          </p:cNvPr>
          <p:cNvSpPr txBox="1"/>
          <p:nvPr/>
        </p:nvSpPr>
        <p:spPr>
          <a:xfrm>
            <a:off x="393778" y="2587835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50D08C-635E-E63F-E93B-9456D6FFD9B8}"/>
              </a:ext>
            </a:extLst>
          </p:cNvPr>
          <p:cNvSpPr txBox="1"/>
          <p:nvPr/>
        </p:nvSpPr>
        <p:spPr>
          <a:xfrm>
            <a:off x="393778" y="3038447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75E715-AEE0-57EB-1D4D-63997579EDD4}"/>
              </a:ext>
            </a:extLst>
          </p:cNvPr>
          <p:cNvSpPr txBox="1"/>
          <p:nvPr/>
        </p:nvSpPr>
        <p:spPr>
          <a:xfrm>
            <a:off x="393778" y="3489059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926E0A-B2AC-ED15-E5B5-252B3A131CC0}"/>
              </a:ext>
            </a:extLst>
          </p:cNvPr>
          <p:cNvSpPr txBox="1"/>
          <p:nvPr/>
        </p:nvSpPr>
        <p:spPr>
          <a:xfrm>
            <a:off x="393778" y="3966135"/>
            <a:ext cx="553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P3</a:t>
            </a:r>
          </a:p>
        </p:txBody>
      </p:sp>
    </p:spTree>
    <p:extLst>
      <p:ext uri="{BB962C8B-B14F-4D97-AF65-F5344CB8AC3E}">
        <p14:creationId xmlns:p14="http://schemas.microsoft.com/office/powerpoint/2010/main" val="2900074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1A822-A6EE-7892-C5CD-15A511CF2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3ADEE-FCD8-F38F-C0A4-C77CEC2BF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So</a:t>
            </a:r>
            <a:r>
              <a:rPr lang="nl-NL" dirty="0"/>
              <a:t>: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algorithm</a:t>
            </a:r>
            <a:r>
              <a:rPr lang="nl-NL" dirty="0"/>
              <a:t> does </a:t>
            </a:r>
            <a:r>
              <a:rPr lang="nl-NL" dirty="0" err="1"/>
              <a:t>PyTorch</a:t>
            </a:r>
            <a:r>
              <a:rPr lang="nl-NL" dirty="0"/>
              <a:t> </a:t>
            </a:r>
            <a:r>
              <a:rPr lang="nl-NL" dirty="0" err="1"/>
              <a:t>use</a:t>
            </a:r>
            <a:r>
              <a:rPr lang="nl-NL" dirty="0"/>
              <a:t>?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BEB885-E461-F696-4F2E-5E722E06F5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That is up to the communication backend! (</a:t>
            </a:r>
            <a:r>
              <a:rPr lang="en-US" dirty="0">
                <a:hlinkClick r:id="rId2"/>
              </a:rPr>
              <a:t>https://discuss.pytorch.org/t/multiple-node-multiple-worker-allreduce/98869</a:t>
            </a:r>
            <a:r>
              <a:rPr lang="en-US" dirty="0"/>
              <a:t> )</a:t>
            </a:r>
          </a:p>
          <a:p>
            <a:pPr marL="0" indent="0">
              <a:buNone/>
            </a:pPr>
            <a:r>
              <a:rPr lang="en-US" dirty="0"/>
              <a:t>There are three communication backends to </a:t>
            </a:r>
            <a:r>
              <a:rPr lang="en-US" dirty="0" err="1"/>
              <a:t>PyTorch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Gloo</a:t>
            </a:r>
            <a:r>
              <a:rPr lang="en-US" dirty="0"/>
              <a:t> =&gt; Ring </a:t>
            </a:r>
            <a:r>
              <a:rPr lang="en-US" dirty="0" err="1"/>
              <a:t>AllReduce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NCCL =&gt; Tree and Ring </a:t>
            </a:r>
            <a:r>
              <a:rPr lang="en-US" dirty="0" err="1"/>
              <a:t>Allreduce</a:t>
            </a:r>
            <a:r>
              <a:rPr lang="en-US" dirty="0"/>
              <a:t> </a:t>
            </a:r>
            <a:r>
              <a:rPr lang="en-US" dirty="0" err="1"/>
              <a:t>implementions</a:t>
            </a:r>
            <a:r>
              <a:rPr lang="en-US" dirty="0"/>
              <a:t>, automatically selected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MPI =&gt; Up to the MPI library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72E0B2-EDF0-1BDB-B864-064FFE025163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1E35E2-E511-A2C4-4F0C-B47AFAB67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63519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AC13F-C4ED-ED15-AD3D-A8E746F3E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539C7-F7D8-6A54-A73D-E86C61A1B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So</a:t>
            </a:r>
            <a:r>
              <a:rPr lang="nl-NL" dirty="0"/>
              <a:t>: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communication</a:t>
            </a:r>
            <a:r>
              <a:rPr lang="nl-NL" dirty="0"/>
              <a:t> backend </a:t>
            </a:r>
            <a:r>
              <a:rPr lang="nl-NL" dirty="0" err="1"/>
              <a:t>should</a:t>
            </a:r>
            <a:r>
              <a:rPr lang="nl-NL" dirty="0"/>
              <a:t> I </a:t>
            </a:r>
            <a:r>
              <a:rPr lang="nl-NL" dirty="0" err="1"/>
              <a:t>use</a:t>
            </a:r>
            <a:r>
              <a:rPr lang="nl-NL" dirty="0"/>
              <a:t>?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86A89-71C5-764B-E93B-ABE841E9B3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Rule of thumb (</a:t>
            </a:r>
            <a:r>
              <a:rPr lang="en-NL" dirty="0">
                <a:hlinkClick r:id="rId2"/>
              </a:rPr>
              <a:t>https://pytorch.org/docs/stable/distributed.html#backends</a:t>
            </a:r>
            <a:r>
              <a:rPr lang="en-US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Nvidia GPU host: NCCL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Intel GPU host: XCCL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CPU host with </a:t>
            </a:r>
            <a:r>
              <a:rPr lang="en-US" dirty="0" err="1"/>
              <a:t>infiniband</a:t>
            </a:r>
            <a:r>
              <a:rPr lang="en-US" dirty="0"/>
              <a:t> + IP over IB enabled: </a:t>
            </a:r>
            <a:r>
              <a:rPr lang="en-US" dirty="0" err="1"/>
              <a:t>Gloo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CPU host with </a:t>
            </a:r>
            <a:r>
              <a:rPr lang="en-US" dirty="0" err="1"/>
              <a:t>infiniband</a:t>
            </a:r>
            <a:r>
              <a:rPr lang="en-US" dirty="0"/>
              <a:t>; no IP over IB: MPI (have to build PT from source!)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CPU host, no </a:t>
            </a:r>
            <a:r>
              <a:rPr lang="en-US" dirty="0" err="1"/>
              <a:t>infiniband</a:t>
            </a:r>
            <a:r>
              <a:rPr lang="en-US" dirty="0"/>
              <a:t>: </a:t>
            </a:r>
            <a:r>
              <a:rPr lang="en-US" dirty="0" err="1"/>
              <a:t>Gloo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4474D-6EB1-41B8-CC0A-107648CDF3AB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F2C5C0-BE1B-5A1D-9AB8-7B8CA6F11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7036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56F44-B2B8-95A6-EAC1-08192F626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125DD-DAAF-D8F1-9A34-A57C0F205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Why</a:t>
            </a:r>
            <a:r>
              <a:rPr lang="nl-NL" dirty="0"/>
              <a:t> NCCL is </a:t>
            </a:r>
            <a:r>
              <a:rPr lang="nl-NL" dirty="0" err="1"/>
              <a:t>the</a:t>
            </a:r>
            <a:r>
              <a:rPr lang="nl-NL" dirty="0"/>
              <a:t> best backend </a:t>
            </a:r>
            <a:r>
              <a:rPr lang="nl-NL" dirty="0" err="1"/>
              <a:t>for</a:t>
            </a:r>
            <a:r>
              <a:rPr lang="nl-NL" dirty="0"/>
              <a:t> Nvidia </a:t>
            </a:r>
            <a:r>
              <a:rPr lang="nl-NL" dirty="0" err="1"/>
              <a:t>GPUs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A8C966-6A0B-2918-EAEA-ACE76D59D0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NCCL implements multiple algorithms for </a:t>
            </a:r>
            <a:r>
              <a:rPr lang="en-US" dirty="0" err="1"/>
              <a:t>AllReduce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NCCL </a:t>
            </a:r>
            <a:r>
              <a:rPr lang="en-US" i="1" dirty="0"/>
              <a:t>knows</a:t>
            </a:r>
            <a:r>
              <a:rPr lang="en-US" dirty="0"/>
              <a:t> the connectivity between the GPUs involved (e.g. are the connected by </a:t>
            </a:r>
            <a:r>
              <a:rPr lang="en-US" dirty="0" err="1"/>
              <a:t>NVLink</a:t>
            </a:r>
            <a:r>
              <a:rPr lang="en-US" dirty="0"/>
              <a:t>, are they in the same node,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marL="542925" lvl="1">
              <a:buFont typeface="Arial" panose="020B0604020202020204" pitchFamily="34" charset="0"/>
              <a:buChar char="•"/>
            </a:pPr>
            <a:r>
              <a:rPr lang="en-US" dirty="0"/>
              <a:t>Try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nvidia-smi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topo -m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NCCL makes an </a:t>
            </a:r>
            <a:r>
              <a:rPr lang="en-US" i="1" dirty="0"/>
              <a:t>informed choice</a:t>
            </a:r>
            <a:r>
              <a:rPr lang="en-US" dirty="0"/>
              <a:t> on the best algorithm </a:t>
            </a:r>
            <a:r>
              <a:rPr lang="en-US" u="sng" dirty="0"/>
              <a:t>based on the connectivity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F4F45C-9764-8D97-A785-D724EE8F68D9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5A558D-B695-A0B2-6B96-91440441D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80428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3096-B24C-1186-267C-985B6E8AF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B5281-759F-3FB5-2F67-B7F63F6DC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Intermezzo: </a:t>
            </a:r>
            <a:r>
              <a:rPr lang="nl-NL" dirty="0" err="1"/>
              <a:t>why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PyTorch</a:t>
            </a:r>
            <a:r>
              <a:rPr lang="nl-NL" dirty="0"/>
              <a:t> </a:t>
            </a:r>
            <a:r>
              <a:rPr lang="nl-NL" dirty="0" err="1"/>
              <a:t>dispatcher</a:t>
            </a:r>
            <a:r>
              <a:rPr lang="nl-NL" dirty="0"/>
              <a:t> is a </a:t>
            </a:r>
            <a:r>
              <a:rPr lang="nl-NL" dirty="0" err="1"/>
              <a:t>blessing</a:t>
            </a:r>
            <a:r>
              <a:rPr lang="nl-NL" dirty="0"/>
              <a:t> (</a:t>
            </a:r>
            <a:r>
              <a:rPr lang="nl-NL" dirty="0" err="1"/>
              <a:t>and</a:t>
            </a:r>
            <a:r>
              <a:rPr lang="nl-NL" dirty="0"/>
              <a:t> a </a:t>
            </a:r>
            <a:r>
              <a:rPr lang="nl-NL" dirty="0" err="1"/>
              <a:t>curse</a:t>
            </a:r>
            <a:r>
              <a:rPr lang="nl-NL" dirty="0"/>
              <a:t>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CE8A02-033A-987B-BD84-08B4F07CF3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Torch call stack is </a:t>
            </a:r>
            <a:r>
              <a:rPr lang="en-US" i="1" dirty="0"/>
              <a:t>very </a:t>
            </a:r>
            <a:r>
              <a:rPr lang="en-US" dirty="0"/>
              <a:t>complex! E.g.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You call Torch function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Which calls other Python (Torch) functions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Which call C++ (Torch) functions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Which call low level libraries, often hardware specific (MKL/MKL-DNN, </a:t>
            </a:r>
            <a:r>
              <a:rPr lang="en-US" dirty="0" err="1"/>
              <a:t>CuBLAS</a:t>
            </a:r>
            <a:r>
              <a:rPr lang="en-US" dirty="0"/>
              <a:t>/</a:t>
            </a:r>
            <a:r>
              <a:rPr lang="en-US" dirty="0" err="1"/>
              <a:t>cuDNN</a:t>
            </a:r>
            <a:r>
              <a:rPr lang="en-US" dirty="0"/>
              <a:t>, NCCL, …)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blessing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low level libraries usually do things in a </a:t>
            </a:r>
            <a:r>
              <a:rPr lang="en-US" i="1" dirty="0"/>
              <a:t>very </a:t>
            </a:r>
            <a:r>
              <a:rPr lang="en-US" dirty="0"/>
              <a:t>well-optimized way!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9B8A55-7B46-F92A-B49F-00139B569DE2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3D0EA-55FC-44F3-CB97-842B5EBD1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20</a:t>
            </a:fld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B9312F-8221-E022-88C9-3DE036D1DA4F}"/>
              </a:ext>
            </a:extLst>
          </p:cNvPr>
          <p:cNvSpPr txBox="1"/>
          <p:nvPr/>
        </p:nvSpPr>
        <p:spPr>
          <a:xfrm>
            <a:off x="1993185" y="6129506"/>
            <a:ext cx="7239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dirty="0">
                <a:hlinkClick r:id="rId2"/>
              </a:rPr>
              <a:t>http://blog.ezyang.com/2020/09/lets-talk-about-the-pytorch-dispatcher/</a:t>
            </a:r>
            <a:r>
              <a:rPr lang="en-US" dirty="0"/>
              <a:t> 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227189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B94B6-81BC-345C-2A2D-D6D4AC704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DF013-AB94-9F4F-5FB6-0C3F16DEF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Intermezzo: </a:t>
            </a:r>
            <a:r>
              <a:rPr lang="nl-NL" dirty="0" err="1"/>
              <a:t>why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PyTorch</a:t>
            </a:r>
            <a:r>
              <a:rPr lang="nl-NL" dirty="0"/>
              <a:t> </a:t>
            </a:r>
            <a:r>
              <a:rPr lang="nl-NL" dirty="0" err="1"/>
              <a:t>dispatcher</a:t>
            </a:r>
            <a:r>
              <a:rPr lang="nl-NL" dirty="0"/>
              <a:t> is a </a:t>
            </a:r>
            <a:r>
              <a:rPr lang="nl-NL" dirty="0" err="1"/>
              <a:t>blessing</a:t>
            </a:r>
            <a:r>
              <a:rPr lang="nl-NL" dirty="0"/>
              <a:t> (</a:t>
            </a:r>
            <a:r>
              <a:rPr lang="nl-NL" dirty="0" err="1"/>
              <a:t>and</a:t>
            </a:r>
            <a:r>
              <a:rPr lang="nl-NL" dirty="0"/>
              <a:t> a </a:t>
            </a:r>
            <a:r>
              <a:rPr lang="nl-NL" dirty="0" err="1"/>
              <a:t>curse</a:t>
            </a:r>
            <a:r>
              <a:rPr lang="nl-NL" dirty="0"/>
              <a:t>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451705-3446-83E7-914E-935CB64EA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curse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High degree of abstraction makes it hard to predict for the programmer what will happen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Your choices matter! (but it is sometimes </a:t>
            </a:r>
            <a:r>
              <a:rPr lang="en-US" i="1" dirty="0"/>
              <a:t>very hard </a:t>
            </a:r>
            <a:r>
              <a:rPr lang="en-US" dirty="0"/>
              <a:t>to see how!)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E7F26-0988-7569-DB9C-48024E88C926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998C-1CD6-8EBF-972A-A9A5EC0E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21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10110CF-6A5F-E80D-9557-52AFD54EE4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48"/>
          <a:stretch/>
        </p:blipFill>
        <p:spPr bwMode="auto">
          <a:xfrm>
            <a:off x="4945562" y="3235960"/>
            <a:ext cx="3583897" cy="3289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FE96673-B354-DB7F-8040-66A156D114EE}"/>
              </a:ext>
            </a:extLst>
          </p:cNvPr>
          <p:cNvSpPr txBox="1"/>
          <p:nvPr/>
        </p:nvSpPr>
        <p:spPr>
          <a:xfrm>
            <a:off x="4841440" y="2889237"/>
            <a:ext cx="453790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800" b="0" i="0" u="none" strike="noStrike" kern="1200" cap="none" spc="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Grouped</a:t>
            </a:r>
            <a:r>
              <a:rPr kumimoji="0" lang="nl-NL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2D </a:t>
            </a:r>
            <a:r>
              <a:rPr kumimoji="0" lang="nl-NL" sz="1800" b="0" i="0" u="none" strike="noStrike" kern="1200" cap="none" spc="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convolution</a:t>
            </a:r>
            <a:r>
              <a:rPr kumimoji="0" lang="nl-NL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on Intel </a:t>
            </a:r>
            <a:r>
              <a:rPr kumimoji="0" lang="nl-NL" sz="1800" b="0" i="0" u="none" strike="noStrike" kern="1200" cap="none" spc="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CPUs</a:t>
            </a:r>
            <a:r>
              <a:rPr kumimoji="0" lang="nl-NL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nl-NL" sz="1800" b="0" i="0" u="none" strike="noStrike" kern="1200" cap="none" spc="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with</a:t>
            </a:r>
            <a:r>
              <a:rPr kumimoji="0" lang="nl-NL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MKL</a:t>
            </a:r>
            <a:endParaRPr kumimoji="0" lang="nl-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BABA6CB7-2BCD-2367-5044-8037E9E04C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376" t="34172" r="-233" b="34323"/>
          <a:stretch/>
        </p:blipFill>
        <p:spPr bwMode="auto">
          <a:xfrm>
            <a:off x="8545037" y="3963795"/>
            <a:ext cx="952933" cy="1036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5A44399-5E6E-66E7-D8C4-97A48D8BDC85}"/>
              </a:ext>
            </a:extLst>
          </p:cNvPr>
          <p:cNvSpPr/>
          <p:nvPr/>
        </p:nvSpPr>
        <p:spPr>
          <a:xfrm>
            <a:off x="5644019" y="3535680"/>
            <a:ext cx="447040" cy="2128609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196953-472A-8AEB-049E-05AE7A3A5C65}"/>
              </a:ext>
            </a:extLst>
          </p:cNvPr>
          <p:cNvSpPr txBox="1"/>
          <p:nvPr/>
        </p:nvSpPr>
        <p:spPr>
          <a:xfrm>
            <a:off x="1058027" y="3409797"/>
            <a:ext cx="2837123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 err="1">
                <a:solidFill>
                  <a:prstClr val="black"/>
                </a:solidFill>
                <a:latin typeface="Calibri"/>
              </a:rPr>
              <a:t>Uses</a:t>
            </a:r>
            <a:r>
              <a:rPr lang="nl-NL" dirty="0">
                <a:solidFill>
                  <a:prstClr val="black"/>
                </a:solidFill>
                <a:latin typeface="Calibri"/>
              </a:rPr>
              <a:t> </a:t>
            </a:r>
            <a:r>
              <a:rPr lang="nl-NL" dirty="0" err="1">
                <a:solidFill>
                  <a:prstClr val="black"/>
                </a:solidFill>
                <a:latin typeface="Calibri"/>
              </a:rPr>
              <a:t>optimized</a:t>
            </a:r>
            <a:r>
              <a:rPr lang="nl-NL" dirty="0">
                <a:solidFill>
                  <a:prstClr val="black"/>
                </a:solidFill>
                <a:latin typeface="Calibri"/>
              </a:rPr>
              <a:t> AVX512-based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>
                <a:solidFill>
                  <a:prstClr val="black"/>
                </a:solidFill>
                <a:latin typeface="Calibri"/>
              </a:rPr>
              <a:t> </a:t>
            </a:r>
            <a:r>
              <a:rPr lang="nl-NL" dirty="0" err="1">
                <a:solidFill>
                  <a:prstClr val="black"/>
                </a:solidFill>
                <a:latin typeface="Calibri"/>
              </a:rPr>
              <a:t>algorithm</a:t>
            </a:r>
            <a:endParaRPr lang="nl-NL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D895A46-6AF4-B828-A8F4-4B7ED484F778}"/>
              </a:ext>
            </a:extLst>
          </p:cNvPr>
          <p:cNvSpPr/>
          <p:nvPr/>
        </p:nvSpPr>
        <p:spPr>
          <a:xfrm>
            <a:off x="6017171" y="4831742"/>
            <a:ext cx="698457" cy="1219437"/>
          </a:xfrm>
          <a:prstGeom prst="ellipse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3A03A3-F0BE-8722-3319-A01D638AA400}"/>
              </a:ext>
            </a:extLst>
          </p:cNvPr>
          <p:cNvSpPr txBox="1"/>
          <p:nvPr/>
        </p:nvSpPr>
        <p:spPr>
          <a:xfrm>
            <a:off x="1058027" y="4344027"/>
            <a:ext cx="2679388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noProof="0" dirty="0" err="1">
                <a:solidFill>
                  <a:prstClr val="black"/>
                </a:solidFill>
                <a:latin typeface="Calibri"/>
              </a:rPr>
              <a:t>Uses</a:t>
            </a:r>
            <a:r>
              <a:rPr lang="nl-NL" noProof="0" dirty="0">
                <a:solidFill>
                  <a:prstClr val="black"/>
                </a:solidFill>
                <a:latin typeface="Calibri"/>
              </a:rPr>
              <a:t> </a:t>
            </a:r>
            <a:r>
              <a:rPr lang="nl-NL" noProof="0" dirty="0" err="1">
                <a:solidFill>
                  <a:prstClr val="black"/>
                </a:solidFill>
                <a:latin typeface="Calibri"/>
              </a:rPr>
              <a:t>generic</a:t>
            </a:r>
            <a:r>
              <a:rPr lang="nl-NL" noProof="0" dirty="0">
                <a:solidFill>
                  <a:prstClr val="black"/>
                </a:solidFill>
                <a:latin typeface="Calibri"/>
              </a:rPr>
              <a:t> matrix-</a:t>
            </a:r>
            <a:r>
              <a:rPr lang="nl-NL" noProof="0" dirty="0" err="1">
                <a:solidFill>
                  <a:prstClr val="black"/>
                </a:solidFill>
                <a:latin typeface="Calibri"/>
              </a:rPr>
              <a:t>multiply</a:t>
            </a:r>
            <a:endParaRPr lang="nl-NL" noProof="0" dirty="0">
              <a:solidFill>
                <a:prstClr val="black"/>
              </a:solidFill>
              <a:latin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800" b="0" i="0" u="none" strike="noStrike" kern="1200" cap="none" spc="0" normalizeH="0" baseline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algorithm</a:t>
            </a:r>
            <a:endParaRPr kumimoji="0" lang="nl-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7813B41-A84F-661B-2EA0-3645AD450BDB}"/>
              </a:ext>
            </a:extLst>
          </p:cNvPr>
          <p:cNvSpPr/>
          <p:nvPr/>
        </p:nvSpPr>
        <p:spPr>
          <a:xfrm rot="19381838">
            <a:off x="6636442" y="3482847"/>
            <a:ext cx="1946505" cy="2795651"/>
          </a:xfrm>
          <a:prstGeom prst="ellipse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168E9B-FD3A-D150-7F0B-821CEBDD6001}"/>
              </a:ext>
            </a:extLst>
          </p:cNvPr>
          <p:cNvSpPr txBox="1"/>
          <p:nvPr/>
        </p:nvSpPr>
        <p:spPr>
          <a:xfrm>
            <a:off x="1058027" y="5195041"/>
            <a:ext cx="2891048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noProof="0" dirty="0" err="1">
                <a:solidFill>
                  <a:prstClr val="black"/>
                </a:solidFill>
                <a:latin typeface="Calibri"/>
              </a:rPr>
              <a:t>Uses</a:t>
            </a:r>
            <a:r>
              <a:rPr lang="nl-NL" noProof="0" dirty="0">
                <a:solidFill>
                  <a:prstClr val="black"/>
                </a:solidFill>
                <a:latin typeface="Calibri"/>
              </a:rPr>
              <a:t> </a:t>
            </a:r>
            <a:r>
              <a:rPr lang="nl-NL" noProof="0" dirty="0" err="1">
                <a:solidFill>
                  <a:prstClr val="black"/>
                </a:solidFill>
                <a:latin typeface="Calibri"/>
              </a:rPr>
              <a:t>optimized</a:t>
            </a:r>
            <a:endParaRPr lang="nl-NL" noProof="0" dirty="0">
              <a:solidFill>
                <a:prstClr val="black"/>
              </a:solidFill>
              <a:latin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noProof="0" dirty="0">
                <a:solidFill>
                  <a:prstClr val="black"/>
                </a:solidFill>
                <a:latin typeface="Calibri"/>
              </a:rPr>
              <a:t>AVX2/AVX512-based </a:t>
            </a:r>
            <a:r>
              <a:rPr lang="nl-NL" noProof="0" dirty="0" err="1">
                <a:solidFill>
                  <a:prstClr val="black"/>
                </a:solidFill>
                <a:latin typeface="Calibri"/>
              </a:rPr>
              <a:t>algorithm</a:t>
            </a:r>
            <a:endParaRPr kumimoji="0" lang="nl-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E818D0-8100-2333-153A-04E6854DB264}"/>
              </a:ext>
            </a:extLst>
          </p:cNvPr>
          <p:cNvSpPr txBox="1"/>
          <p:nvPr/>
        </p:nvSpPr>
        <p:spPr>
          <a:xfrm>
            <a:off x="908938" y="6422236"/>
            <a:ext cx="956933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600" dirty="0">
                <a:hlinkClick r:id="rId4"/>
              </a:rPr>
              <a:t>https://medium.com/@casparvanleeuwen/why-efficientnet-is-not-very-computationally-efficient-505fc08087b9</a:t>
            </a:r>
            <a:r>
              <a:rPr lang="en-US" sz="1600" dirty="0"/>
              <a:t> </a:t>
            </a:r>
            <a:endParaRPr lang="en-NL" sz="1600" dirty="0"/>
          </a:p>
        </p:txBody>
      </p:sp>
    </p:spTree>
    <p:extLst>
      <p:ext uri="{BB962C8B-B14F-4D97-AF65-F5344CB8AC3E}">
        <p14:creationId xmlns:p14="http://schemas.microsoft.com/office/powerpoint/2010/main" val="266535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  <p:bldP spid="14" grpId="0" animBg="1"/>
      <p:bldP spid="15" grpId="0"/>
      <p:bldP spid="16" grpId="0" animBg="1"/>
      <p:bldP spid="1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20C7A-C1CD-D00C-C2A0-FA57EF0C2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BA6CE-99ED-7679-E97F-C214EA3E5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DataParallel</a:t>
            </a:r>
            <a:r>
              <a:rPr lang="nl-NL" dirty="0"/>
              <a:t> </a:t>
            </a:r>
            <a:r>
              <a:rPr lang="nl-NL" dirty="0" err="1"/>
              <a:t>vs</a:t>
            </a:r>
            <a:r>
              <a:rPr lang="nl-NL" dirty="0"/>
              <a:t> </a:t>
            </a:r>
            <a:r>
              <a:rPr lang="nl-NL" dirty="0" err="1"/>
              <a:t>DistributedDataParallel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E60321-460B-B5A3-7339-A00192D253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DataParallel</a:t>
            </a:r>
            <a:endParaRPr lang="en-US" dirty="0"/>
          </a:p>
          <a:p>
            <a:pPr marL="542925" lvl="1">
              <a:buFont typeface="Arial" panose="020B0604020202020204" pitchFamily="34" charset="0"/>
              <a:buChar char="•"/>
            </a:pPr>
            <a:r>
              <a:rPr lang="en-US" dirty="0"/>
              <a:t>Single process, multi-threaded</a:t>
            </a:r>
          </a:p>
          <a:p>
            <a:pPr marL="542925" lvl="1">
              <a:buFont typeface="Arial" panose="020B0604020202020204" pitchFamily="34" charset="0"/>
              <a:buChar char="•"/>
            </a:pPr>
            <a:r>
              <a:rPr lang="en-US" dirty="0"/>
              <a:t>Limited to single machine</a:t>
            </a:r>
          </a:p>
          <a:p>
            <a:pPr marL="542925" lvl="1">
              <a:buFont typeface="Arial" panose="020B0604020202020204" pitchFamily="34" charset="0"/>
              <a:buChar char="•"/>
            </a:pPr>
            <a:r>
              <a:rPr lang="en-US" dirty="0"/>
              <a:t>Typically slower than </a:t>
            </a:r>
            <a:r>
              <a:rPr lang="en-US" dirty="0" err="1"/>
              <a:t>DistributedDataParallel</a:t>
            </a:r>
            <a:r>
              <a:rPr lang="en-US" dirty="0"/>
              <a:t> due to Python GIL (Global Interpreter Lock)</a:t>
            </a:r>
          </a:p>
          <a:p>
            <a:pPr marL="542925" lvl="1">
              <a:buFont typeface="Arial" panose="020B0604020202020204" pitchFamily="34" charset="0"/>
              <a:buChar char="•"/>
            </a:pPr>
            <a:r>
              <a:rPr lang="en-US" dirty="0"/>
              <a:t>Cannot be combined with model parallel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DistributedDataParallel</a:t>
            </a:r>
            <a:endParaRPr lang="en-US" dirty="0"/>
          </a:p>
          <a:p>
            <a:pPr marL="542925" lvl="1">
              <a:buFont typeface="Arial" panose="020B0604020202020204" pitchFamily="34" charset="0"/>
              <a:buChar char="•"/>
            </a:pPr>
            <a:r>
              <a:rPr lang="en-US" dirty="0"/>
              <a:t>Multiple (possibly multi-threaded) processes</a:t>
            </a:r>
          </a:p>
          <a:p>
            <a:pPr marL="542925" lvl="1">
              <a:buFont typeface="Arial" panose="020B0604020202020204" pitchFamily="34" charset="0"/>
              <a:buChar char="•"/>
            </a:pPr>
            <a:r>
              <a:rPr lang="en-US" dirty="0"/>
              <a:t>Supports multiple machines</a:t>
            </a:r>
          </a:p>
          <a:p>
            <a:pPr marL="542925" lvl="1">
              <a:buFont typeface="Arial" panose="020B0604020202020204" pitchFamily="34" charset="0"/>
              <a:buChar char="•"/>
            </a:pPr>
            <a:r>
              <a:rPr lang="en-US" dirty="0"/>
              <a:t>Can be combined with model parallel</a:t>
            </a:r>
          </a:p>
          <a:p>
            <a:pPr marL="0" indent="0">
              <a:buNone/>
            </a:pPr>
            <a:r>
              <a:rPr lang="en-US" dirty="0"/>
              <a:t>See also: </a:t>
            </a:r>
            <a:r>
              <a:rPr lang="en-US" dirty="0">
                <a:hlinkClick r:id="rId2"/>
              </a:rPr>
              <a:t>https://pytorch.org/tutorials/intermediate/ddp_tutorial.html#comparison-between-dataparallel-and-distributeddataparallel</a:t>
            </a:r>
            <a:r>
              <a:rPr lang="en-US" dirty="0"/>
              <a:t>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84D35A-A57B-6F2A-D669-3DCBD89DBA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3EB28F-9C00-7F38-D3A7-EFFE2C75B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22</a:t>
            </a:fld>
            <a:endParaRPr lang="nl-NL"/>
          </a:p>
        </p:txBody>
      </p:sp>
      <p:sp>
        <p:nvSpPr>
          <p:cNvPr id="7" name="Multiplication Sign 6">
            <a:extLst>
              <a:ext uri="{FF2B5EF4-FFF2-40B4-BE49-F238E27FC236}">
                <a16:creationId xmlns:a16="http://schemas.microsoft.com/office/drawing/2014/main" id="{2CCAE06D-6973-303F-C9E5-80BB45D93D42}"/>
              </a:ext>
            </a:extLst>
          </p:cNvPr>
          <p:cNvSpPr/>
          <p:nvPr/>
        </p:nvSpPr>
        <p:spPr>
          <a:xfrm>
            <a:off x="8763700" y="1421681"/>
            <a:ext cx="1468540" cy="1468540"/>
          </a:xfrm>
          <a:prstGeom prst="mathMultiply">
            <a:avLst>
              <a:gd name="adj1" fmla="val 1363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2C5BC22-E1D2-F446-27E1-1E957D9E6AD6}"/>
              </a:ext>
            </a:extLst>
          </p:cNvPr>
          <p:cNvGrpSpPr/>
          <p:nvPr/>
        </p:nvGrpSpPr>
        <p:grpSpPr>
          <a:xfrm>
            <a:off x="9120670" y="3967780"/>
            <a:ext cx="744435" cy="790575"/>
            <a:chOff x="8161440" y="3324225"/>
            <a:chExt cx="744435" cy="790575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420F24AE-D568-534B-2FAA-E9BDCDAAC3B2}"/>
                </a:ext>
              </a:extLst>
            </p:cNvPr>
            <p:cNvSpPr/>
            <p:nvPr/>
          </p:nvSpPr>
          <p:spPr>
            <a:xfrm>
              <a:off x="8410575" y="3324225"/>
              <a:ext cx="495300" cy="790575"/>
            </a:xfrm>
            <a:prstGeom prst="parallelogram">
              <a:avLst>
                <a:gd name="adj" fmla="val 67307"/>
              </a:avLst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D3885C32-F831-C3EC-52A5-A93347323C77}"/>
                </a:ext>
              </a:extLst>
            </p:cNvPr>
            <p:cNvSpPr/>
            <p:nvPr/>
          </p:nvSpPr>
          <p:spPr>
            <a:xfrm rot="18325291">
              <a:off x="8135055" y="3573006"/>
              <a:ext cx="495300" cy="442529"/>
            </a:xfrm>
            <a:prstGeom prst="parallelogram">
              <a:avLst>
                <a:gd name="adj" fmla="val 79278"/>
              </a:avLst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</p:spTree>
    <p:extLst>
      <p:ext uri="{BB962C8B-B14F-4D97-AF65-F5344CB8AC3E}">
        <p14:creationId xmlns:p14="http://schemas.microsoft.com/office/powerpoint/2010/main" val="3790125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C9142-9F74-BE57-3A49-1963E41D8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445B8-C69A-46CE-5BC4-0EB38790B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How </a:t>
            </a:r>
            <a:r>
              <a:rPr lang="nl-NL" dirty="0" err="1"/>
              <a:t>to</a:t>
            </a:r>
            <a:r>
              <a:rPr lang="nl-NL" dirty="0"/>
              <a:t> go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regular</a:t>
            </a:r>
            <a:r>
              <a:rPr lang="nl-NL" dirty="0"/>
              <a:t> </a:t>
            </a:r>
            <a:r>
              <a:rPr lang="nl-NL" dirty="0" err="1"/>
              <a:t>PyTorch</a:t>
            </a:r>
            <a:r>
              <a:rPr lang="nl-NL" dirty="0"/>
              <a:t> code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PyTorch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DDP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8C6C43-5BA6-5BE1-DC4F-55225F268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1: Constructing the process group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2: Constructing the DDP model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3: Distributing input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4: Send data to correct GPU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5: Alter saving model checkpoint (optional)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6: Running the code: spawning multiple processes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See also: </a:t>
            </a:r>
            <a:r>
              <a:rPr lang="en-US" dirty="0">
                <a:hlinkClick r:id="rId2"/>
              </a:rPr>
              <a:t>https://pytorch.org/tutorials/beginner/ddp_series_multigpu.html</a:t>
            </a:r>
            <a:r>
              <a:rPr lang="en-US" dirty="0"/>
              <a:t>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66E61-94E5-3599-903A-B7D5A2DD7B4A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1E1ACA-EFF6-6006-3EF8-14C60A9B1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36958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FA3A8-BB72-DF34-57E1-9DC98D044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4C395-C923-2F11-A835-D3B46DFD7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Assumptions</a:t>
            </a:r>
            <a:r>
              <a:rPr lang="nl-NL" dirty="0"/>
              <a:t> in </a:t>
            </a:r>
            <a:r>
              <a:rPr lang="nl-NL" dirty="0" err="1"/>
              <a:t>this</a:t>
            </a:r>
            <a:r>
              <a:rPr lang="nl-NL" dirty="0"/>
              <a:t> tutorial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75DDBD-966F-1743-4CE3-EA5759C887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978859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 assume you are running on a SLURM cluster, and pass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cpus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-per-task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ntasks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-per-node</a:t>
            </a:r>
            <a:r>
              <a:rPr lang="en-US" dirty="0"/>
              <a:t> options when scheduling your job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Each process in the DDP training is uniquely identified by its </a:t>
            </a:r>
            <a:r>
              <a:rPr lang="en-US" i="1" dirty="0"/>
              <a:t>rank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 do pure DDP (i.e. we don’t combine with model parallelism). Thus, each rank uses 1 GPU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 will use the concept of local rank, a unique identifier of the process </a:t>
            </a:r>
            <a:r>
              <a:rPr lang="en-US" i="1" dirty="0"/>
              <a:t>on that node.</a:t>
            </a:r>
            <a:r>
              <a:rPr lang="en-US" dirty="0"/>
              <a:t> E.g. if you have global ranks 0-7 and launch 4 processes per node: global ranks 0, 1, 2, 3, 4, 5, 6, 7 will have local ranks 0, 1, 2, 3, 0, 1, 2, 3, respectively.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 want each local rank to use the GPU with the same ID as the local rank, i.e. local rank 0 will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gpu:0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CC3FAB-998A-3C1B-F468-A84C4218787D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241469-65B1-3AF5-98DA-26025771C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58064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7F492-7624-D9B9-F621-42E15896F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16510-B5C7-F902-DD76-9BAD88E1D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Step 1a: </a:t>
            </a:r>
            <a:r>
              <a:rPr lang="nl-NL" dirty="0" err="1"/>
              <a:t>Constructing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process</a:t>
            </a:r>
            <a:r>
              <a:rPr lang="nl-NL" dirty="0"/>
              <a:t> </a:t>
            </a:r>
            <a:r>
              <a:rPr lang="nl-NL" dirty="0" err="1"/>
              <a:t>group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4B9339-187F-F83A-395C-1A88DCAF07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982669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Why: parallel launchers can launch multiple processes, but these processes need to know about each others existence!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How: by calling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init_process_group</a:t>
            </a:r>
            <a:r>
              <a:rPr lang="en-US" dirty="0"/>
              <a:t>, but we need to know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world_size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</a:t>
            </a:r>
            <a:r>
              <a:rPr lang="en-US" dirty="0"/>
              <a:t> first. We can get those easily in a SLURM allocation!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We’ve chosen NCCL as backend, as per recommendation on </a:t>
            </a:r>
            <a:r>
              <a:rPr lang="en-NL" dirty="0">
                <a:hlinkClick r:id="rId2"/>
              </a:rPr>
              <a:t>https://pytorch.org/docs/stable/distributed.html#backends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N.B. There are multiple initialization methods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init_process_group</a:t>
            </a:r>
            <a:r>
              <a:rPr lang="en-US" dirty="0"/>
              <a:t>, see </a:t>
            </a:r>
            <a:r>
              <a:rPr lang="en-US" dirty="0">
                <a:hlinkClick r:id="rId3"/>
              </a:rPr>
              <a:t>https://pytorch.org/docs/stable/distributed.html#torch.distributed.init_process_group</a:t>
            </a:r>
            <a:r>
              <a:rPr lang="en-US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771B00-7D1C-E825-FBF1-6547BCC55727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35079-2A01-6CBE-0ECE-CCA4D16F0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25</a:t>
            </a:fld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58DE3C-A233-58CC-C011-721DCB7FA54D}"/>
              </a:ext>
            </a:extLst>
          </p:cNvPr>
          <p:cNvSpPr/>
          <p:nvPr/>
        </p:nvSpPr>
        <p:spPr>
          <a:xfrm>
            <a:off x="908938" y="2679700"/>
            <a:ext cx="7981062" cy="2159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>
                <a:solidFill>
                  <a:schemeClr val="tx1"/>
                </a:solidFill>
              </a:rPr>
              <a:t>def </a:t>
            </a:r>
            <a:r>
              <a:rPr lang="en-US" dirty="0" err="1">
                <a:solidFill>
                  <a:schemeClr val="tx1"/>
                </a:solidFill>
              </a:rPr>
              <a:t>ddp_setup</a:t>
            </a:r>
            <a:r>
              <a:rPr lang="en-US" dirty="0">
                <a:solidFill>
                  <a:schemeClr val="tx1"/>
                </a:solidFill>
              </a:rPr>
              <a:t>():</a:t>
            </a: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world_size</a:t>
            </a:r>
            <a:r>
              <a:rPr lang="en-US" dirty="0">
                <a:solidFill>
                  <a:schemeClr val="tx1"/>
                </a:solidFill>
              </a:rPr>
              <a:t> = int(</a:t>
            </a:r>
            <a:r>
              <a:rPr lang="en-US" dirty="0" err="1">
                <a:solidFill>
                  <a:schemeClr val="tx1"/>
                </a:solidFill>
              </a:rPr>
              <a:t>os.environ</a:t>
            </a:r>
            <a:r>
              <a:rPr lang="en-US" dirty="0">
                <a:solidFill>
                  <a:schemeClr val="tx1"/>
                </a:solidFill>
              </a:rPr>
              <a:t>["SLURM_NTASKS"])</a:t>
            </a:r>
          </a:p>
          <a:p>
            <a:r>
              <a:rPr lang="en-US" dirty="0">
                <a:solidFill>
                  <a:schemeClr val="tx1"/>
                </a:solidFill>
              </a:rPr>
              <a:t>    rank = int(</a:t>
            </a:r>
            <a:r>
              <a:rPr lang="en-US" dirty="0" err="1">
                <a:solidFill>
                  <a:schemeClr val="tx1"/>
                </a:solidFill>
              </a:rPr>
              <a:t>os.environ</a:t>
            </a:r>
            <a:r>
              <a:rPr lang="en-US" dirty="0">
                <a:solidFill>
                  <a:schemeClr val="tx1"/>
                </a:solidFill>
              </a:rPr>
              <a:t>["SLURM_PROCID"])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dist.init_process_group</a:t>
            </a:r>
            <a:r>
              <a:rPr lang="en-US" dirty="0">
                <a:solidFill>
                  <a:schemeClr val="tx1"/>
                </a:solidFill>
              </a:rPr>
              <a:t>("</a:t>
            </a:r>
            <a:r>
              <a:rPr lang="en-US" dirty="0" err="1">
                <a:solidFill>
                  <a:schemeClr val="tx1"/>
                </a:solidFill>
              </a:rPr>
              <a:t>nccl</a:t>
            </a:r>
            <a:r>
              <a:rPr lang="en-US" dirty="0">
                <a:solidFill>
                  <a:schemeClr val="tx1"/>
                </a:solidFill>
              </a:rPr>
              <a:t>", rank=rank, </a:t>
            </a:r>
            <a:r>
              <a:rPr lang="en-US" dirty="0" err="1">
                <a:solidFill>
                  <a:schemeClr val="tx1"/>
                </a:solidFill>
              </a:rPr>
              <a:t>world_size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 err="1">
                <a:solidFill>
                  <a:schemeClr val="tx1"/>
                </a:solidFill>
              </a:rPr>
              <a:t>world_size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 return rank</a:t>
            </a:r>
            <a:endParaRPr lang="en-N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7232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9500E-3C82-77D9-2CDE-B051B74FF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AD486-ECF8-9CE2-9E4E-33DB7C244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Step 1b: </a:t>
            </a:r>
            <a:r>
              <a:rPr lang="nl-NL" dirty="0" err="1"/>
              <a:t>Constructing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process</a:t>
            </a:r>
            <a:r>
              <a:rPr lang="nl-NL" dirty="0"/>
              <a:t> </a:t>
            </a:r>
            <a:r>
              <a:rPr lang="nl-NL" dirty="0" err="1"/>
              <a:t>group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11EDC6-AB68-A319-112C-FF2381D7C2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982669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set_device</a:t>
            </a:r>
            <a:r>
              <a:rPr lang="en-US" dirty="0"/>
              <a:t> before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init_process_group</a:t>
            </a:r>
            <a:r>
              <a:rPr lang="en-US" dirty="0"/>
              <a:t> to avoid hangs and/or multiple processes ending up on the default GPU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GPU:0</a:t>
            </a:r>
            <a:r>
              <a:rPr lang="en-US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Note that your code </a:t>
            </a:r>
            <a:r>
              <a:rPr lang="en-US" i="1" dirty="0"/>
              <a:t>may</a:t>
            </a:r>
            <a:r>
              <a:rPr lang="en-US" dirty="0"/>
              <a:t> work correctly without calling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set_device</a:t>
            </a:r>
            <a:r>
              <a:rPr lang="en-US" dirty="0"/>
              <a:t>, but it is recommended to avoid potential issues (see  </a:t>
            </a:r>
            <a:r>
              <a:rPr lang="en-US" dirty="0">
                <a:hlinkClick r:id="rId2"/>
              </a:rPr>
              <a:t>https://pytorch.org/tutorials/beginner/ddp_series_multigpu.html#constructing-the-process-group</a:t>
            </a:r>
            <a:r>
              <a:rPr lang="en-US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 need 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local_rank</a:t>
            </a:r>
            <a:r>
              <a:rPr lang="en-US" dirty="0"/>
              <a:t> to determine which GPU to set as device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5EB8C3-7B2E-67C4-0163-78B9635B5BDA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EE65AB-4372-EAE1-DB5E-47A9F1D13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26</a:t>
            </a:fld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16D19A-428D-815C-46C4-ACC83F342B20}"/>
              </a:ext>
            </a:extLst>
          </p:cNvPr>
          <p:cNvSpPr/>
          <p:nvPr/>
        </p:nvSpPr>
        <p:spPr>
          <a:xfrm>
            <a:off x="908938" y="3695700"/>
            <a:ext cx="7981062" cy="268036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>
                <a:solidFill>
                  <a:schemeClr val="tx1"/>
                </a:solidFill>
              </a:rPr>
              <a:t>def </a:t>
            </a:r>
            <a:r>
              <a:rPr lang="en-US" dirty="0" err="1">
                <a:solidFill>
                  <a:schemeClr val="tx1"/>
                </a:solidFill>
              </a:rPr>
              <a:t>ddp_setup</a:t>
            </a:r>
            <a:r>
              <a:rPr lang="en-US" dirty="0">
                <a:solidFill>
                  <a:schemeClr val="tx1"/>
                </a:solidFill>
              </a:rPr>
              <a:t>():</a:t>
            </a: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world_size</a:t>
            </a:r>
            <a:r>
              <a:rPr lang="en-US" dirty="0">
                <a:solidFill>
                  <a:schemeClr val="tx1"/>
                </a:solidFill>
              </a:rPr>
              <a:t> = int(</a:t>
            </a:r>
            <a:r>
              <a:rPr lang="en-US" dirty="0" err="1">
                <a:solidFill>
                  <a:schemeClr val="tx1"/>
                </a:solidFill>
              </a:rPr>
              <a:t>os.environ</a:t>
            </a:r>
            <a:r>
              <a:rPr lang="en-US" dirty="0">
                <a:solidFill>
                  <a:schemeClr val="tx1"/>
                </a:solidFill>
              </a:rPr>
              <a:t>["SLURM_NTASKS"])</a:t>
            </a:r>
          </a:p>
          <a:p>
            <a:r>
              <a:rPr lang="en-US" dirty="0">
                <a:solidFill>
                  <a:schemeClr val="tx1"/>
                </a:solidFill>
              </a:rPr>
              <a:t>    rank = int(</a:t>
            </a:r>
            <a:r>
              <a:rPr lang="en-US" dirty="0" err="1">
                <a:solidFill>
                  <a:schemeClr val="tx1"/>
                </a:solidFill>
              </a:rPr>
              <a:t>os.environ</a:t>
            </a:r>
            <a:r>
              <a:rPr lang="en-US" dirty="0">
                <a:solidFill>
                  <a:schemeClr val="tx1"/>
                </a:solidFill>
              </a:rPr>
              <a:t>["SLURM_PROCID"])</a:t>
            </a:r>
          </a:p>
          <a:p>
            <a:r>
              <a:rPr lang="en-US" dirty="0">
                <a:solidFill>
                  <a:schemeClr val="tx1"/>
                </a:solidFill>
              </a:rPr>
              <a:t>     </a:t>
            </a:r>
            <a:r>
              <a:rPr lang="en-US" dirty="0" err="1">
                <a:solidFill>
                  <a:schemeClr val="tx1"/>
                </a:solidFill>
              </a:rPr>
              <a:t>local_rank</a:t>
            </a:r>
            <a:r>
              <a:rPr lang="en-US" dirty="0">
                <a:solidFill>
                  <a:schemeClr val="tx1"/>
                </a:solidFill>
              </a:rPr>
              <a:t> = int(</a:t>
            </a:r>
            <a:r>
              <a:rPr lang="en-US" dirty="0" err="1">
                <a:solidFill>
                  <a:schemeClr val="tx1"/>
                </a:solidFill>
              </a:rPr>
              <a:t>os.environ</a:t>
            </a:r>
            <a:r>
              <a:rPr lang="en-US" dirty="0">
                <a:solidFill>
                  <a:schemeClr val="tx1"/>
                </a:solidFill>
              </a:rPr>
              <a:t>["SLURM_LOCALID"])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torch.cuda.set_device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local_rank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dist.init_process_group</a:t>
            </a:r>
            <a:r>
              <a:rPr lang="en-US" dirty="0">
                <a:solidFill>
                  <a:schemeClr val="tx1"/>
                </a:solidFill>
              </a:rPr>
              <a:t>("</a:t>
            </a:r>
            <a:r>
              <a:rPr lang="en-US" dirty="0" err="1">
                <a:solidFill>
                  <a:schemeClr val="tx1"/>
                </a:solidFill>
              </a:rPr>
              <a:t>nccl</a:t>
            </a:r>
            <a:r>
              <a:rPr lang="en-US" dirty="0">
                <a:solidFill>
                  <a:schemeClr val="tx1"/>
                </a:solidFill>
              </a:rPr>
              <a:t>", rank=rank, </a:t>
            </a:r>
            <a:r>
              <a:rPr lang="en-US" dirty="0" err="1">
                <a:solidFill>
                  <a:schemeClr val="tx1"/>
                </a:solidFill>
              </a:rPr>
              <a:t>world_size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 err="1">
                <a:solidFill>
                  <a:schemeClr val="tx1"/>
                </a:solidFill>
              </a:rPr>
              <a:t>world_size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 return rank, </a:t>
            </a:r>
            <a:r>
              <a:rPr lang="en-US" dirty="0" err="1">
                <a:solidFill>
                  <a:schemeClr val="tx1"/>
                </a:solidFill>
              </a:rPr>
              <a:t>local_rank</a:t>
            </a:r>
            <a:endParaRPr lang="en-N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0964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AE7D4-BA24-BC3A-4D49-110FA0938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2C2CE-275F-C31D-AD72-8481801B5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Step 2: </a:t>
            </a:r>
            <a:r>
              <a:rPr lang="nl-NL" dirty="0" err="1"/>
              <a:t>Constructing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DDP model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9A78C4-6B0E-77BE-AC3C-11CDC86F9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Why: after the backward pass has been done on a layer, the gradients should be aggregated between all ranks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How: by wrapping our existing (serial) model in the DDP class and telling it on which GPU this model should be kept. We can reuse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local_rank</a:t>
            </a:r>
            <a:r>
              <a:rPr lang="en-US" dirty="0"/>
              <a:t> variable from earlier.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66922A-159E-DA88-0226-045BE86280C9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5B9D95-E302-0AFA-6E63-C580A314D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27</a:t>
            </a:fld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2D4D48-AB1F-5ED9-D4DB-0654D08CC3AF}"/>
              </a:ext>
            </a:extLst>
          </p:cNvPr>
          <p:cNvSpPr/>
          <p:nvPr/>
        </p:nvSpPr>
        <p:spPr>
          <a:xfrm>
            <a:off x="921638" y="2976791"/>
            <a:ext cx="7981062" cy="431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 err="1">
                <a:solidFill>
                  <a:schemeClr val="tx1"/>
                </a:solidFill>
              </a:rPr>
              <a:t>ddp_model</a:t>
            </a:r>
            <a:r>
              <a:rPr lang="en-US" dirty="0">
                <a:solidFill>
                  <a:schemeClr val="tx1"/>
                </a:solidFill>
              </a:rPr>
              <a:t> = DDP(model, </a:t>
            </a:r>
            <a:r>
              <a:rPr lang="en-US" dirty="0" err="1">
                <a:solidFill>
                  <a:schemeClr val="tx1"/>
                </a:solidFill>
              </a:rPr>
              <a:t>device_ids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 err="1">
                <a:solidFill>
                  <a:schemeClr val="tx1"/>
                </a:solidFill>
              </a:rPr>
              <a:t>local_rank</a:t>
            </a:r>
            <a:r>
              <a:rPr lang="en-US" dirty="0">
                <a:solidFill>
                  <a:schemeClr val="tx1"/>
                </a:solidFill>
              </a:rPr>
              <a:t>)</a:t>
            </a:r>
            <a:endParaRPr lang="en-N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6203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9B60D-92E2-6F15-ADAA-D55CE3E0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F60F8-57C6-175A-5BA2-D29E1B29B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3a: Distributing input data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068621-9CFB-3D75-14A1-CE27AC605A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Why: we don’t want our N processes to do </a:t>
            </a:r>
            <a:r>
              <a:rPr lang="en-US" i="1" dirty="0"/>
              <a:t>the same work</a:t>
            </a:r>
            <a:r>
              <a:rPr lang="en-US" dirty="0"/>
              <a:t> N times, we want to </a:t>
            </a:r>
            <a:r>
              <a:rPr lang="en-US" i="1" dirty="0"/>
              <a:t>divide</a:t>
            </a:r>
            <a:r>
              <a:rPr lang="en-US" dirty="0"/>
              <a:t> our work into N smaller pieces – and have each process do one piece of 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How: by using the </a:t>
            </a:r>
            <a:r>
              <a:rPr lang="en-US" dirty="0" err="1"/>
              <a:t>DistributedSampler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See </a:t>
            </a:r>
            <a:r>
              <a:rPr lang="en-US" dirty="0">
                <a:hlinkClick r:id="rId2"/>
              </a:rPr>
              <a:t>https://pytorch.org/docs/stable/data.html?highlight=distributedsampler#torch.utils.data.distributed.DistributedSampler</a:t>
            </a:r>
            <a:r>
              <a:rPr lang="en-US" dirty="0"/>
              <a:t>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AAA5B9-FD56-4CF6-06A9-F7B4469489A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194C8C-2DE7-43D8-5C50-6A507ABCC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28</a:t>
            </a:fld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7440D3-3B72-BE87-1379-EB13A25E3198}"/>
              </a:ext>
            </a:extLst>
          </p:cNvPr>
          <p:cNvSpPr/>
          <p:nvPr/>
        </p:nvSpPr>
        <p:spPr>
          <a:xfrm>
            <a:off x="908938" y="2411508"/>
            <a:ext cx="7981062" cy="184920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 err="1">
                <a:solidFill>
                  <a:schemeClr val="tx1"/>
                </a:solidFill>
              </a:rPr>
              <a:t>train_loader</a:t>
            </a:r>
            <a:r>
              <a:rPr lang="en-US" dirty="0">
                <a:solidFill>
                  <a:schemeClr val="tx1"/>
                </a:solidFill>
              </a:rPr>
              <a:t> = </a:t>
            </a:r>
            <a:r>
              <a:rPr lang="en-US" dirty="0" err="1">
                <a:solidFill>
                  <a:schemeClr val="tx1"/>
                </a:solidFill>
              </a:rPr>
              <a:t>torch.utils.data.DataLoader</a:t>
            </a:r>
            <a:r>
              <a:rPr lang="en-US" dirty="0">
                <a:solidFill>
                  <a:schemeClr val="tx1"/>
                </a:solidFill>
              </a:rPr>
              <a:t>(</a:t>
            </a:r>
          </a:p>
          <a:p>
            <a:r>
              <a:rPr lang="en-US" dirty="0">
                <a:solidFill>
                  <a:schemeClr val="tx1"/>
                </a:solidFill>
              </a:rPr>
              <a:t>    dataset=…,</a:t>
            </a: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batch_size</a:t>
            </a:r>
            <a:r>
              <a:rPr lang="en-US" dirty="0">
                <a:solidFill>
                  <a:schemeClr val="tx1"/>
                </a:solidFill>
              </a:rPr>
              <a:t>=…,</a:t>
            </a:r>
          </a:p>
          <a:p>
            <a:r>
              <a:rPr lang="en-US" dirty="0">
                <a:solidFill>
                  <a:schemeClr val="tx1"/>
                </a:solidFill>
              </a:rPr>
              <a:t>    shuffle=False,  # We don't shuffle</a:t>
            </a:r>
          </a:p>
          <a:p>
            <a:r>
              <a:rPr lang="en-US" dirty="0">
                <a:solidFill>
                  <a:schemeClr val="tx1"/>
                </a:solidFill>
              </a:rPr>
              <a:t>    sampler=</a:t>
            </a:r>
            <a:r>
              <a:rPr lang="en-US" dirty="0" err="1">
                <a:solidFill>
                  <a:schemeClr val="tx1"/>
                </a:solidFill>
              </a:rPr>
              <a:t>DistributedSampler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train_dataset</a:t>
            </a:r>
            <a:r>
              <a:rPr lang="en-US" dirty="0">
                <a:solidFill>
                  <a:schemeClr val="tx1"/>
                </a:solidFill>
              </a:rPr>
              <a:t>), # Use the Distributed Sampler here.</a:t>
            </a:r>
          </a:p>
          <a:p>
            <a:r>
              <a:rPr lang="en-US" dirty="0">
                <a:solidFill>
                  <a:schemeClr val="tx1"/>
                </a:solidFill>
              </a:rPr>
              <a:t>)</a:t>
            </a:r>
            <a:endParaRPr lang="en-N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7363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2A4D0-C0C4-D921-DEA5-80987A2F6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9B816-E318-2688-F144-856345070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3b: Distributing input data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5EED3C-31F2-ABF6-89D1-36F96012D2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Every time we start new epoch, we have set a new seed for the distributed sampler (otherwise it would go through the samples in the same order every epoch)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See </a:t>
            </a:r>
            <a:r>
              <a:rPr lang="en-US" dirty="0">
                <a:hlinkClick r:id="rId2"/>
              </a:rPr>
              <a:t>https://pytorch.org/docs/stable/data.html?highlight=distributedsampler#torch.utils.data.distributed.DistributedSampler</a:t>
            </a:r>
            <a:r>
              <a:rPr lang="en-US" dirty="0"/>
              <a:t>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834D7A-F401-B17A-EF1B-4D2D7FEE8092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526204-7EEA-84CE-7E3A-5B8B5BECC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29</a:t>
            </a:fld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0E3AC9-CBA1-AF33-AEBD-2EF48029AE2B}"/>
              </a:ext>
            </a:extLst>
          </p:cNvPr>
          <p:cNvSpPr/>
          <p:nvPr/>
        </p:nvSpPr>
        <p:spPr>
          <a:xfrm>
            <a:off x="908938" y="2069447"/>
            <a:ext cx="7981062" cy="96914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>
                <a:solidFill>
                  <a:schemeClr val="tx1"/>
                </a:solidFill>
              </a:rPr>
              <a:t>for epoch in range(0, </a:t>
            </a:r>
            <a:r>
              <a:rPr lang="en-US" dirty="0" err="1">
                <a:solidFill>
                  <a:schemeClr val="tx1"/>
                </a:solidFill>
              </a:rPr>
              <a:t>max_epochs</a:t>
            </a:r>
            <a:r>
              <a:rPr lang="en-US" dirty="0">
                <a:solidFill>
                  <a:schemeClr val="tx1"/>
                </a:solidFill>
              </a:rPr>
              <a:t>):</a:t>
            </a: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train_loader.sampler.set_epoch</a:t>
            </a:r>
            <a:r>
              <a:rPr lang="en-US" dirty="0">
                <a:solidFill>
                  <a:schemeClr val="tx1"/>
                </a:solidFill>
              </a:rPr>
              <a:t>(epoch)</a:t>
            </a:r>
          </a:p>
          <a:p>
            <a:r>
              <a:rPr lang="en-US" dirty="0">
                <a:solidFill>
                  <a:schemeClr val="tx1"/>
                </a:solidFill>
              </a:rPr>
              <a:t>    train(…)  # Call actual training function that loops over batches</a:t>
            </a:r>
            <a:endParaRPr lang="en-N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6722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3E7B2-464E-17B3-94D9-B3D1DCC4C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32061-9ED3-2D34-98BE-A7F039228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4: Send data to correct GPU</a:t>
            </a:r>
            <a:br>
              <a:rPr lang="en-US" dirty="0"/>
            </a:b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273D4E-2577-BED6-4154-D96E2A5946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Why: our input data needs to be sent to the GPU that is assigned to our (local) rank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How: by 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.to(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674DAB-30BC-D0DA-47D6-789D87135B3A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13C197-3F98-8C3C-520A-3F10910D2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30</a:t>
            </a:fld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050561-177A-F146-782B-79C6C09C5F21}"/>
              </a:ext>
            </a:extLst>
          </p:cNvPr>
          <p:cNvSpPr/>
          <p:nvPr/>
        </p:nvSpPr>
        <p:spPr>
          <a:xfrm>
            <a:off x="908938" y="2411509"/>
            <a:ext cx="7981062" cy="10174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>
                <a:solidFill>
                  <a:schemeClr val="tx1"/>
                </a:solidFill>
              </a:rPr>
              <a:t> for </a:t>
            </a:r>
            <a:r>
              <a:rPr lang="en-US" dirty="0" err="1">
                <a:solidFill>
                  <a:schemeClr val="tx1"/>
                </a:solidFill>
              </a:rPr>
              <a:t>batch_idx</a:t>
            </a:r>
            <a:r>
              <a:rPr lang="en-US" dirty="0">
                <a:solidFill>
                  <a:schemeClr val="tx1"/>
                </a:solidFill>
              </a:rPr>
              <a:t>, (data, target) in enumerate(</a:t>
            </a:r>
            <a:r>
              <a:rPr lang="en-US" dirty="0" err="1">
                <a:solidFill>
                  <a:schemeClr val="tx1"/>
                </a:solidFill>
              </a:rPr>
              <a:t>train_loader</a:t>
            </a:r>
            <a:r>
              <a:rPr lang="en-US" dirty="0">
                <a:solidFill>
                  <a:schemeClr val="tx1"/>
                </a:solidFill>
              </a:rPr>
              <a:t>):</a:t>
            </a:r>
          </a:p>
          <a:p>
            <a:r>
              <a:rPr lang="en-US" dirty="0">
                <a:solidFill>
                  <a:schemeClr val="tx1"/>
                </a:solidFill>
              </a:rPr>
              <a:t>        data, target = data.to(</a:t>
            </a:r>
            <a:r>
              <a:rPr lang="en-US" dirty="0" err="1">
                <a:solidFill>
                  <a:schemeClr val="tx1"/>
                </a:solidFill>
              </a:rPr>
              <a:t>local_rank</a:t>
            </a:r>
            <a:r>
              <a:rPr lang="en-US" dirty="0">
                <a:solidFill>
                  <a:schemeClr val="tx1"/>
                </a:solidFill>
              </a:rPr>
              <a:t>), target.to(</a:t>
            </a:r>
            <a:r>
              <a:rPr lang="en-US" dirty="0" err="1">
                <a:solidFill>
                  <a:schemeClr val="tx1"/>
                </a:solidFill>
              </a:rPr>
              <a:t>local_rank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r>
              <a:rPr lang="en-US" dirty="0">
                <a:solidFill>
                  <a:schemeClr val="tx1"/>
                </a:solidFill>
              </a:rPr>
              <a:t>        …</a:t>
            </a:r>
            <a:endParaRPr lang="en-N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96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26B6D-34EF-9CC9-C987-785FC6BB8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2C53D-5376-E11E-2353-871977F50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5: Alter saving model checkpoint (optional)</a:t>
            </a:r>
            <a:br>
              <a:rPr lang="en-US" dirty="0"/>
            </a:b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DA7B4C-D687-6D2D-8861-374EA8DD89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Why: the DDP model’s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state_dict</a:t>
            </a:r>
            <a:r>
              <a:rPr lang="en-US" dirty="0"/>
              <a:t> contains the original model as a module. Thus, all the original model’s parameters are prefixed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module.</a:t>
            </a:r>
            <a:endParaRPr lang="en-US" dirty="0"/>
          </a:p>
          <a:p>
            <a:pPr marL="533400" lvl="1">
              <a:buFont typeface="Arial" panose="020B0604020202020204" pitchFamily="34" charset="0"/>
              <a:buChar char="•"/>
            </a:pPr>
            <a:r>
              <a:rPr lang="en-US" i="1" dirty="0"/>
              <a:t>If</a:t>
            </a:r>
            <a:r>
              <a:rPr lang="en-US" dirty="0"/>
              <a:t> you want to load this into another DDP-wrapped version of your model, that’s fine</a:t>
            </a:r>
          </a:p>
          <a:p>
            <a:pPr marL="533400" lvl="1">
              <a:buFont typeface="Arial" panose="020B0604020202020204" pitchFamily="34" charset="0"/>
              <a:buChar char="•"/>
            </a:pPr>
            <a:r>
              <a:rPr lang="en-US" i="1" dirty="0"/>
              <a:t>If </a:t>
            </a:r>
            <a:r>
              <a:rPr lang="en-US" dirty="0"/>
              <a:t>you want to load this into an unwrapped version of your module, you’d have to strip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module.</a:t>
            </a:r>
            <a:r>
              <a:rPr lang="en-US" dirty="0"/>
              <a:t> prefixes.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How: if you want to load into another DDP-wrapped version of your model, keep: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 you want to load into a serial version of your model, instead use: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AB4A-B34B-4D7D-6BE3-34CFA4A826F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C058C4-1BBE-AC8D-9132-3E88A0358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31</a:t>
            </a:fld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F58B79-5919-0567-5F8B-B71EAC6E2FAD}"/>
              </a:ext>
            </a:extLst>
          </p:cNvPr>
          <p:cNvSpPr/>
          <p:nvPr/>
        </p:nvSpPr>
        <p:spPr>
          <a:xfrm>
            <a:off x="908938" y="3960909"/>
            <a:ext cx="7981062" cy="484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torch.save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model.state_dict</a:t>
            </a:r>
            <a:r>
              <a:rPr lang="en-US" dirty="0">
                <a:solidFill>
                  <a:schemeClr val="tx1"/>
                </a:solidFill>
              </a:rPr>
              <a:t>(), "mnist_cnn.pt")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C502D6-0961-9F53-FE3A-6403927C0F1D}"/>
              </a:ext>
            </a:extLst>
          </p:cNvPr>
          <p:cNvSpPr/>
          <p:nvPr/>
        </p:nvSpPr>
        <p:spPr>
          <a:xfrm>
            <a:off x="908938" y="5390558"/>
            <a:ext cx="7981062" cy="484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torch.save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model.module.state_dict</a:t>
            </a:r>
            <a:r>
              <a:rPr lang="en-US" dirty="0">
                <a:solidFill>
                  <a:schemeClr val="tx1"/>
                </a:solidFill>
              </a:rPr>
              <a:t>(), "mnist_cnn.pt")</a:t>
            </a:r>
          </a:p>
        </p:txBody>
      </p:sp>
    </p:spTree>
    <p:extLst>
      <p:ext uri="{BB962C8B-B14F-4D97-AF65-F5344CB8AC3E}">
        <p14:creationId xmlns:p14="http://schemas.microsoft.com/office/powerpoint/2010/main" val="1493518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AC758-EBF1-8A5D-AFD1-6F355DCE1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D1DDE-F203-7664-BB35-F04A45059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6a: Running the code: spawning multiple processes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1FFEAF-074E-7D92-4ED3-989D762DBE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Why: DDP is intended for multiple processes working together – so we need to start the code multiple times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How: using </a:t>
            </a:r>
            <a:r>
              <a:rPr lang="en-US" dirty="0" err="1"/>
              <a:t>srun</a:t>
            </a:r>
            <a:r>
              <a:rPr lang="en-US" dirty="0"/>
              <a:t> as a parallel launcher after setting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MASTER_ADDR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MASTER_PORT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8B7485-DB32-6FC0-AEFD-1EC3C117F1BF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18B144-3F0B-8EFD-683F-FCACC1787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32</a:t>
            </a:fld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4F9E0B-C05C-69EF-AF4B-698B7324113C}"/>
              </a:ext>
            </a:extLst>
          </p:cNvPr>
          <p:cNvSpPr/>
          <p:nvPr/>
        </p:nvSpPr>
        <p:spPr>
          <a:xfrm>
            <a:off x="1315188" y="2898229"/>
            <a:ext cx="7981062" cy="29591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>
                <a:solidFill>
                  <a:schemeClr val="tx1"/>
                </a:solidFill>
              </a:rPr>
              <a:t>#!/bin/bash</a:t>
            </a:r>
          </a:p>
          <a:p>
            <a:r>
              <a:rPr lang="en-US" dirty="0">
                <a:solidFill>
                  <a:schemeClr val="tx1"/>
                </a:solidFill>
              </a:rPr>
              <a:t>#SBATCH --job-name=</a:t>
            </a:r>
            <a:r>
              <a:rPr lang="en-US" dirty="0" err="1">
                <a:solidFill>
                  <a:schemeClr val="tx1"/>
                </a:solidFill>
              </a:rPr>
              <a:t>mnist-ddp</a:t>
            </a:r>
            <a:r>
              <a:rPr lang="en-US" dirty="0">
                <a:solidFill>
                  <a:schemeClr val="tx1"/>
                </a:solidFill>
              </a:rPr>
              <a:t> --partition=</a:t>
            </a:r>
            <a:r>
              <a:rPr lang="en-US" dirty="0" err="1">
                <a:solidFill>
                  <a:schemeClr val="tx1"/>
                </a:solidFill>
              </a:rPr>
              <a:t>gpu</a:t>
            </a:r>
            <a:r>
              <a:rPr lang="en-US" dirty="0">
                <a:solidFill>
                  <a:schemeClr val="tx1"/>
                </a:solidFill>
              </a:rPr>
              <a:t> --time=10:00</a:t>
            </a:r>
          </a:p>
          <a:p>
            <a:r>
              <a:rPr lang="en-US" dirty="0">
                <a:solidFill>
                  <a:schemeClr val="tx1"/>
                </a:solidFill>
              </a:rPr>
              <a:t>#SBATCH --</a:t>
            </a:r>
            <a:r>
              <a:rPr lang="en-US" dirty="0" err="1">
                <a:solidFill>
                  <a:schemeClr val="tx1"/>
                </a:solidFill>
              </a:rPr>
              <a:t>ntasks</a:t>
            </a:r>
            <a:r>
              <a:rPr lang="en-US" dirty="0">
                <a:solidFill>
                  <a:schemeClr val="tx1"/>
                </a:solidFill>
              </a:rPr>
              <a:t>=8 --</a:t>
            </a:r>
            <a:r>
              <a:rPr lang="en-US" dirty="0" err="1">
                <a:solidFill>
                  <a:schemeClr val="tx1"/>
                </a:solidFill>
              </a:rPr>
              <a:t>ntasks</a:t>
            </a:r>
            <a:r>
              <a:rPr lang="en-US" dirty="0">
                <a:solidFill>
                  <a:schemeClr val="tx1"/>
                </a:solidFill>
              </a:rPr>
              <a:t>-per-node=4 --</a:t>
            </a:r>
            <a:r>
              <a:rPr lang="en-US" dirty="0" err="1">
                <a:solidFill>
                  <a:schemeClr val="tx1"/>
                </a:solidFill>
              </a:rPr>
              <a:t>gpus</a:t>
            </a:r>
            <a:r>
              <a:rPr lang="en-US" dirty="0">
                <a:solidFill>
                  <a:schemeClr val="tx1"/>
                </a:solidFill>
              </a:rPr>
              <a:t>-per-node=4 --</a:t>
            </a:r>
            <a:r>
              <a:rPr lang="en-US" dirty="0" err="1">
                <a:solidFill>
                  <a:schemeClr val="tx1"/>
                </a:solidFill>
              </a:rPr>
              <a:t>cpus</a:t>
            </a:r>
            <a:r>
              <a:rPr lang="en-US" dirty="0">
                <a:solidFill>
                  <a:schemeClr val="tx1"/>
                </a:solidFill>
              </a:rPr>
              <a:t>-per-task=18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# Pick a quasi-random port, and use the first node in the allocation as master node</a:t>
            </a:r>
          </a:p>
          <a:p>
            <a:r>
              <a:rPr lang="en-US" dirty="0">
                <a:solidFill>
                  <a:schemeClr val="tx1"/>
                </a:solidFill>
              </a:rPr>
              <a:t>export MASTER_PORT=$(expr 10000 + $(echo -n $SLURM_JOBID | tail -c 4))</a:t>
            </a:r>
          </a:p>
          <a:p>
            <a:r>
              <a:rPr lang="en-US" dirty="0" err="1">
                <a:solidFill>
                  <a:schemeClr val="tx1"/>
                </a:solidFill>
              </a:rPr>
              <a:t>master_addr</a:t>
            </a:r>
            <a:r>
              <a:rPr lang="en-US" dirty="0">
                <a:solidFill>
                  <a:schemeClr val="tx1"/>
                </a:solidFill>
              </a:rPr>
              <a:t>=$(</a:t>
            </a:r>
            <a:r>
              <a:rPr lang="en-US" dirty="0" err="1">
                <a:solidFill>
                  <a:schemeClr val="tx1"/>
                </a:solidFill>
              </a:rPr>
              <a:t>scontrol</a:t>
            </a:r>
            <a:r>
              <a:rPr lang="en-US" dirty="0">
                <a:solidFill>
                  <a:schemeClr val="tx1"/>
                </a:solidFill>
              </a:rPr>
              <a:t> show hostnames "$SLURM_JOB_NODELIST" | head -n 1)</a:t>
            </a:r>
          </a:p>
          <a:p>
            <a:r>
              <a:rPr lang="en-US" dirty="0">
                <a:solidFill>
                  <a:schemeClr val="tx1"/>
                </a:solidFill>
              </a:rPr>
              <a:t>export MASTER_ADDR=$</a:t>
            </a:r>
            <a:r>
              <a:rPr lang="en-US" dirty="0" err="1">
                <a:solidFill>
                  <a:schemeClr val="tx1"/>
                </a:solidFill>
              </a:rPr>
              <a:t>master_addr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tx1"/>
                </a:solidFill>
              </a:rPr>
              <a:t>srun</a:t>
            </a:r>
            <a:r>
              <a:rPr lang="en-US" dirty="0">
                <a:solidFill>
                  <a:schemeClr val="tx1"/>
                </a:solidFill>
              </a:rPr>
              <a:t> python mnist_classify_ddp.py &lt;</a:t>
            </a:r>
            <a:r>
              <a:rPr lang="en-US" dirty="0" err="1">
                <a:solidFill>
                  <a:schemeClr val="tx1"/>
                </a:solidFill>
              </a:rPr>
              <a:t>script_arguments</a:t>
            </a:r>
            <a:r>
              <a:rPr lang="en-US" dirty="0">
                <a:solidFill>
                  <a:schemeClr val="tx1"/>
                </a:solidFill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345320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FA903-C4E4-6567-A4AA-AEDC5B3BC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33C8D-F699-1B80-4746-C04CA70A7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6b: Running the code: spawning multiple processes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0A0389-D271-486C-E5BC-67A45C260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9483793" cy="554780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Why: DDP is intended for multiple processes working together – so we need to start the code multiple times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How: using </a:t>
            </a:r>
            <a:r>
              <a:rPr lang="en-US" dirty="0" err="1"/>
              <a:t>torchrun</a:t>
            </a:r>
            <a:r>
              <a:rPr lang="en-US" dirty="0"/>
              <a:t> as a parallel launcher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Where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mnist_classify_ddp_torchrun.py</a:t>
            </a:r>
            <a:r>
              <a:rPr lang="en-US" dirty="0">
                <a:solidFill>
                  <a:schemeClr val="tx1"/>
                </a:solidFill>
              </a:rPr>
              <a:t> has some small modifications compared to the original script…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Note the 2 tasks &amp; 1 task per node: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srun</a:t>
            </a:r>
            <a:r>
              <a:rPr lang="en-US" dirty="0"/>
              <a:t> launches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torchrun</a:t>
            </a:r>
            <a:r>
              <a:rPr lang="en-US" dirty="0"/>
              <a:t> once per node,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torchrun</a:t>
            </a:r>
            <a:r>
              <a:rPr lang="en-US" dirty="0"/>
              <a:t> itself then launches 4 processes</a:t>
            </a:r>
            <a:endParaRPr lang="en-US" dirty="0">
              <a:solidFill>
                <a:schemeClr val="tx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E8A106-67E4-2F26-1632-B597E44B11DB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D36601-5FFC-DF7F-676D-831C98633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33</a:t>
            </a:fld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EF2080-4CB8-885F-16D0-F022C07CAB0F}"/>
              </a:ext>
            </a:extLst>
          </p:cNvPr>
          <p:cNvSpPr/>
          <p:nvPr/>
        </p:nvSpPr>
        <p:spPr>
          <a:xfrm>
            <a:off x="712650" y="2428062"/>
            <a:ext cx="9590850" cy="24741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>
                <a:solidFill>
                  <a:schemeClr val="tx1"/>
                </a:solidFill>
              </a:rPr>
              <a:t>#!/bin/bash</a:t>
            </a:r>
          </a:p>
          <a:p>
            <a:r>
              <a:rPr lang="en-US" dirty="0">
                <a:solidFill>
                  <a:schemeClr val="tx1"/>
                </a:solidFill>
              </a:rPr>
              <a:t>#SBATCH --job-name=</a:t>
            </a:r>
            <a:r>
              <a:rPr lang="en-US" dirty="0" err="1">
                <a:solidFill>
                  <a:schemeClr val="tx1"/>
                </a:solidFill>
              </a:rPr>
              <a:t>mnist-ddp</a:t>
            </a:r>
            <a:r>
              <a:rPr lang="en-US" dirty="0">
                <a:solidFill>
                  <a:schemeClr val="tx1"/>
                </a:solidFill>
              </a:rPr>
              <a:t> --partition=</a:t>
            </a:r>
            <a:r>
              <a:rPr lang="en-US" dirty="0" err="1">
                <a:solidFill>
                  <a:schemeClr val="tx1"/>
                </a:solidFill>
              </a:rPr>
              <a:t>gpu</a:t>
            </a:r>
            <a:r>
              <a:rPr lang="en-US" dirty="0">
                <a:solidFill>
                  <a:schemeClr val="tx1"/>
                </a:solidFill>
              </a:rPr>
              <a:t> --time=10:00</a:t>
            </a:r>
          </a:p>
          <a:p>
            <a:r>
              <a:rPr lang="en-US" dirty="0">
                <a:solidFill>
                  <a:schemeClr val="tx1"/>
                </a:solidFill>
              </a:rPr>
              <a:t>#SBATCH </a:t>
            </a:r>
            <a:r>
              <a:rPr lang="en-US" b="1" dirty="0">
                <a:solidFill>
                  <a:schemeClr val="tx1"/>
                </a:solidFill>
              </a:rPr>
              <a:t>--</a:t>
            </a:r>
            <a:r>
              <a:rPr lang="en-US" b="1" dirty="0" err="1">
                <a:solidFill>
                  <a:schemeClr val="tx1"/>
                </a:solidFill>
              </a:rPr>
              <a:t>ntasks</a:t>
            </a:r>
            <a:r>
              <a:rPr lang="en-US" b="1" dirty="0">
                <a:solidFill>
                  <a:schemeClr val="tx1"/>
                </a:solidFill>
              </a:rPr>
              <a:t>=2 --</a:t>
            </a:r>
            <a:r>
              <a:rPr lang="en-US" b="1" dirty="0" err="1">
                <a:solidFill>
                  <a:schemeClr val="tx1"/>
                </a:solidFill>
              </a:rPr>
              <a:t>ntasks</a:t>
            </a:r>
            <a:r>
              <a:rPr lang="en-US" b="1" dirty="0">
                <a:solidFill>
                  <a:schemeClr val="tx1"/>
                </a:solidFill>
              </a:rPr>
              <a:t>-per-node=1</a:t>
            </a:r>
            <a:r>
              <a:rPr lang="en-US" dirty="0">
                <a:solidFill>
                  <a:schemeClr val="tx1"/>
                </a:solidFill>
              </a:rPr>
              <a:t> --</a:t>
            </a:r>
            <a:r>
              <a:rPr lang="en-US" dirty="0" err="1">
                <a:solidFill>
                  <a:schemeClr val="tx1"/>
                </a:solidFill>
              </a:rPr>
              <a:t>gpus</a:t>
            </a:r>
            <a:r>
              <a:rPr lang="en-US" dirty="0">
                <a:solidFill>
                  <a:schemeClr val="tx1"/>
                </a:solidFill>
              </a:rPr>
              <a:t>-per-node=4 --</a:t>
            </a:r>
            <a:r>
              <a:rPr lang="en-US" dirty="0" err="1">
                <a:solidFill>
                  <a:schemeClr val="tx1"/>
                </a:solidFill>
              </a:rPr>
              <a:t>cpus</a:t>
            </a:r>
            <a:r>
              <a:rPr lang="en-US" dirty="0">
                <a:solidFill>
                  <a:schemeClr val="tx1"/>
                </a:solidFill>
              </a:rPr>
              <a:t>-per-task=18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tx1"/>
                </a:solidFill>
              </a:rPr>
              <a:t>head_node_ip</a:t>
            </a:r>
            <a:r>
              <a:rPr lang="en-US" dirty="0">
                <a:solidFill>
                  <a:schemeClr val="tx1"/>
                </a:solidFill>
              </a:rPr>
              <a:t>=$(hostname --</a:t>
            </a:r>
            <a:r>
              <a:rPr lang="en-US" dirty="0" err="1">
                <a:solidFill>
                  <a:schemeClr val="tx1"/>
                </a:solidFill>
              </a:rPr>
              <a:t>ip</a:t>
            </a:r>
            <a:r>
              <a:rPr lang="en-US" dirty="0">
                <a:solidFill>
                  <a:schemeClr val="tx1"/>
                </a:solidFill>
              </a:rPr>
              <a:t>-address)</a:t>
            </a:r>
          </a:p>
          <a:p>
            <a:r>
              <a:rPr lang="en-US" dirty="0">
                <a:solidFill>
                  <a:schemeClr val="tx1"/>
                </a:solidFill>
              </a:rPr>
              <a:t>OMP_NUM_THREADS=18 </a:t>
            </a:r>
            <a:r>
              <a:rPr lang="en-US" dirty="0" err="1">
                <a:solidFill>
                  <a:schemeClr val="tx1"/>
                </a:solidFill>
              </a:rPr>
              <a:t>srun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torchrun</a:t>
            </a:r>
            <a:r>
              <a:rPr lang="en-US" dirty="0">
                <a:solidFill>
                  <a:schemeClr val="tx1"/>
                </a:solidFill>
              </a:rPr>
              <a:t> --</a:t>
            </a:r>
            <a:r>
              <a:rPr lang="en-US" dirty="0" err="1">
                <a:solidFill>
                  <a:schemeClr val="tx1"/>
                </a:solidFill>
              </a:rPr>
              <a:t>nproc_per_node</a:t>
            </a:r>
            <a:r>
              <a:rPr lang="en-US" dirty="0">
                <a:solidFill>
                  <a:schemeClr val="tx1"/>
                </a:solidFill>
              </a:rPr>
              <a:t>=4 --</a:t>
            </a:r>
            <a:r>
              <a:rPr lang="en-US" dirty="0" err="1">
                <a:solidFill>
                  <a:schemeClr val="tx1"/>
                </a:solidFill>
              </a:rPr>
              <a:t>nnodes</a:t>
            </a:r>
            <a:r>
              <a:rPr lang="en-US" dirty="0">
                <a:solidFill>
                  <a:schemeClr val="tx1"/>
                </a:solidFill>
              </a:rPr>
              <a:t> 2 --</a:t>
            </a:r>
            <a:r>
              <a:rPr lang="en-US" dirty="0" err="1">
                <a:solidFill>
                  <a:schemeClr val="tx1"/>
                </a:solidFill>
              </a:rPr>
              <a:t>rdzv_id</a:t>
            </a:r>
            <a:r>
              <a:rPr lang="en-US" dirty="0">
                <a:solidFill>
                  <a:schemeClr val="tx1"/>
                </a:solidFill>
              </a:rPr>
              <a:t> 1234 --</a:t>
            </a:r>
            <a:r>
              <a:rPr lang="en-US" dirty="0" err="1">
                <a:solidFill>
                  <a:schemeClr val="tx1"/>
                </a:solidFill>
              </a:rPr>
              <a:t>rdzv_backend</a:t>
            </a:r>
            <a:r>
              <a:rPr lang="en-US" dirty="0">
                <a:solidFill>
                  <a:schemeClr val="tx1"/>
                </a:solidFill>
              </a:rPr>
              <a:t> c10d --</a:t>
            </a:r>
            <a:r>
              <a:rPr lang="en-US" dirty="0" err="1">
                <a:solidFill>
                  <a:schemeClr val="tx1"/>
                </a:solidFill>
              </a:rPr>
              <a:t>rdzv_endpoint</a:t>
            </a:r>
            <a:r>
              <a:rPr lang="en-US" dirty="0">
                <a:solidFill>
                  <a:schemeClr val="tx1"/>
                </a:solidFill>
              </a:rPr>
              <a:t> $head_node_ip:29500 mnist_classify_ddp_torchrun.py &lt;</a:t>
            </a:r>
            <a:r>
              <a:rPr lang="en-US" dirty="0" err="1">
                <a:solidFill>
                  <a:schemeClr val="tx1"/>
                </a:solidFill>
              </a:rPr>
              <a:t>script_arguments</a:t>
            </a:r>
            <a:r>
              <a:rPr lang="en-US" dirty="0">
                <a:solidFill>
                  <a:schemeClr val="tx1"/>
                </a:solidFill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725942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E90B9-50F1-C8B3-AD9C-B6EEDC338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21770-6457-F2DE-8202-A8F9438EE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6b: Running the code: spawning multiple processes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9AE26C-09E3-1B84-EDF2-98FF0A630C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Where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mnist_classify_ddp_torchrun.py</a:t>
            </a:r>
            <a:r>
              <a:rPr lang="en-US" dirty="0">
                <a:solidFill>
                  <a:schemeClr val="tx1"/>
                </a:solidFill>
              </a:rPr>
              <a:t> has some small modifications compared to the original script: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N.B. we still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local_rank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</a:t>
            </a:r>
            <a:r>
              <a:rPr lang="en-US" dirty="0"/>
              <a:t> from the environment because we use them elsewhere in the code, e.g. in our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.to(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statements</a:t>
            </a:r>
            <a:endParaRPr lang="en-US" dirty="0">
              <a:solidFill>
                <a:schemeClr val="tx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2454A3-2793-6A3B-6814-D985DD4CA80D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3A9111-F578-D138-C200-341F3AC2D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34</a:t>
            </a:fld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876EE1-54D9-781E-7F26-259FFFB6168E}"/>
              </a:ext>
            </a:extLst>
          </p:cNvPr>
          <p:cNvSpPr/>
          <p:nvPr/>
        </p:nvSpPr>
        <p:spPr>
          <a:xfrm>
            <a:off x="712650" y="2097862"/>
            <a:ext cx="9590850" cy="23598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>
                <a:solidFill>
                  <a:schemeClr val="tx1"/>
                </a:solidFill>
              </a:rPr>
              <a:t>def </a:t>
            </a:r>
            <a:r>
              <a:rPr lang="en-US" dirty="0" err="1">
                <a:solidFill>
                  <a:schemeClr val="tx1"/>
                </a:solidFill>
              </a:rPr>
              <a:t>ddp_setup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  <a:p>
            <a:r>
              <a:rPr lang="en-US" dirty="0">
                <a:solidFill>
                  <a:schemeClr val="tx1"/>
                </a:solidFill>
              </a:rPr>
              <a:t>    # These get set by </a:t>
            </a:r>
            <a:r>
              <a:rPr lang="en-US" dirty="0" err="1">
                <a:solidFill>
                  <a:schemeClr val="tx1"/>
                </a:solidFill>
              </a:rPr>
              <a:t>torchrun</a:t>
            </a:r>
            <a:r>
              <a:rPr lang="en-US" dirty="0">
                <a:solidFill>
                  <a:schemeClr val="tx1"/>
                </a:solidFill>
              </a:rPr>
              <a:t>, let's get them from the environment:</a:t>
            </a: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local_rank</a:t>
            </a:r>
            <a:r>
              <a:rPr lang="en-US" dirty="0">
                <a:solidFill>
                  <a:schemeClr val="tx1"/>
                </a:solidFill>
              </a:rPr>
              <a:t> = int(</a:t>
            </a:r>
            <a:r>
              <a:rPr lang="en-US" dirty="0" err="1">
                <a:solidFill>
                  <a:schemeClr val="tx1"/>
                </a:solidFill>
              </a:rPr>
              <a:t>os.environ</a:t>
            </a:r>
            <a:r>
              <a:rPr lang="en-US" dirty="0">
                <a:solidFill>
                  <a:schemeClr val="tx1"/>
                </a:solidFill>
              </a:rPr>
              <a:t>["LOCAL_RANK"])</a:t>
            </a:r>
          </a:p>
          <a:p>
            <a:r>
              <a:rPr lang="en-US" dirty="0">
                <a:solidFill>
                  <a:schemeClr val="tx1"/>
                </a:solidFill>
              </a:rPr>
              <a:t>    rank = int(</a:t>
            </a:r>
            <a:r>
              <a:rPr lang="en-US" dirty="0" err="1">
                <a:solidFill>
                  <a:schemeClr val="tx1"/>
                </a:solidFill>
              </a:rPr>
              <a:t>os.environ</a:t>
            </a:r>
            <a:r>
              <a:rPr lang="en-US" dirty="0">
                <a:solidFill>
                  <a:schemeClr val="tx1"/>
                </a:solidFill>
              </a:rPr>
              <a:t>["RANK"])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 # no need to pass them explicitly anymore to the </a:t>
            </a:r>
            <a:r>
              <a:rPr lang="en-US" dirty="0" err="1">
                <a:solidFill>
                  <a:schemeClr val="tx1"/>
                </a:solidFill>
              </a:rPr>
              <a:t>init_process_group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  <a:r>
              <a:rPr lang="en-US" dirty="0" err="1">
                <a:solidFill>
                  <a:schemeClr val="tx1"/>
                </a:solidFill>
              </a:rPr>
              <a:t>dist.init_process_group</a:t>
            </a:r>
            <a:r>
              <a:rPr lang="en-US" dirty="0">
                <a:solidFill>
                  <a:schemeClr val="tx1"/>
                </a:solidFill>
              </a:rPr>
              <a:t>(backend="</a:t>
            </a:r>
            <a:r>
              <a:rPr lang="en-US" dirty="0" err="1">
                <a:solidFill>
                  <a:schemeClr val="tx1"/>
                </a:solidFill>
              </a:rPr>
              <a:t>nccl</a:t>
            </a:r>
            <a:r>
              <a:rPr lang="en-US" dirty="0">
                <a:solidFill>
                  <a:schemeClr val="tx1"/>
                </a:solidFill>
              </a:rPr>
              <a:t>")</a:t>
            </a:r>
          </a:p>
          <a:p>
            <a:r>
              <a:rPr lang="en-US" dirty="0">
                <a:solidFill>
                  <a:schemeClr val="tx1"/>
                </a:solidFill>
              </a:rPr>
              <a:t>    return rank, </a:t>
            </a:r>
            <a:r>
              <a:rPr lang="en-US" dirty="0" err="1">
                <a:solidFill>
                  <a:schemeClr val="tx1"/>
                </a:solidFill>
              </a:rPr>
              <a:t>local_rank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8284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AF0E8-6211-ED39-DE8F-33157F73D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94394-3D1E-E174-9687-8C7D6B694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6: Running the code: spawning multiple processes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2236BC-AD77-796C-2319-B957BA5A83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950919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You could even use things like </a:t>
            </a:r>
            <a:r>
              <a:rPr lang="en-US" dirty="0" err="1"/>
              <a:t>mpirun</a:t>
            </a:r>
            <a:r>
              <a:rPr lang="en-US" dirty="0"/>
              <a:t>, or other ways of spawning multiple processes, </a:t>
            </a:r>
            <a:r>
              <a:rPr lang="en-US" i="1" dirty="0"/>
              <a:t>as long as you adapt your code accordingly</a:t>
            </a:r>
            <a:r>
              <a:rPr lang="en-US" dirty="0"/>
              <a:t> so that it is able to determine the rank and local rank for the current process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So… which should I use? Depends on personal preference, needs,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srun</a:t>
            </a:r>
            <a:r>
              <a:rPr lang="en-US" dirty="0"/>
              <a:t>: less abstraction. Probably easier for your HPC site to help you. More clear and explicit what is happening.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torchrun</a:t>
            </a:r>
            <a:r>
              <a:rPr lang="en-US" dirty="0"/>
              <a:t>: more abstraction, but also more functionality. Can automatically restart if single ranks fail (with </a:t>
            </a:r>
            <a:r>
              <a:rPr lang="en-US" dirty="0" err="1"/>
              <a:t>srun</a:t>
            </a:r>
            <a:r>
              <a:rPr lang="en-US" dirty="0"/>
              <a:t>, you’d have to manually submit a new job &amp; restart from checkpoint). Probably easier for the Torch community to help you. See </a:t>
            </a:r>
            <a:r>
              <a:rPr lang="en-US" dirty="0">
                <a:hlinkClick r:id="rId2"/>
              </a:rPr>
              <a:t>https://pytorch.org/tutorials/beginner/ddp_series_fault_tolerance.html</a:t>
            </a:r>
            <a:r>
              <a:rPr lang="en-US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Word-of-warning: I saw a 5% (single node) – 25% (</a:t>
            </a:r>
            <a:r>
              <a:rPr lang="en-US" dirty="0" err="1"/>
              <a:t>multinode</a:t>
            </a:r>
            <a:r>
              <a:rPr lang="en-US" dirty="0"/>
              <a:t>) performance decrease when using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torchrun</a:t>
            </a:r>
            <a:r>
              <a:rPr lang="en-US" dirty="0"/>
              <a:t> on our </a:t>
            </a:r>
            <a:r>
              <a:rPr lang="en-US" dirty="0" err="1"/>
              <a:t>mnist</a:t>
            </a:r>
            <a:r>
              <a:rPr lang="en-US" dirty="0"/>
              <a:t> example code, for which I haven’t found a cause yet =&gt; one of the downsides of more abstraction…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32B469-1345-5F0D-B39A-BBD89F0E800A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2DDB0E-0136-E087-E1DD-87669A721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8922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9DE25-2AF0-7829-0905-DD923B3E2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0DD13-592A-7934-D7AA-ADABDAAB4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Material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8F2CF0-6C1D-E2D6-74DC-83FA1F626E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The </a:t>
            </a:r>
            <a:r>
              <a:rPr lang="nl-NL" dirty="0" err="1"/>
              <a:t>material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session</a:t>
            </a:r>
            <a:r>
              <a:rPr lang="nl-NL" dirty="0"/>
              <a:t> (slides &amp; </a:t>
            </a:r>
            <a:r>
              <a:rPr lang="nl-NL" dirty="0" err="1"/>
              <a:t>exercise</a:t>
            </a:r>
            <a:r>
              <a:rPr lang="nl-NL" dirty="0"/>
              <a:t>)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obtained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GitHub: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r>
              <a:rPr lang="nl-NL" dirty="0"/>
              <a:t>git </a:t>
            </a:r>
            <a:r>
              <a:rPr lang="nl-NL" dirty="0" err="1"/>
              <a:t>clone</a:t>
            </a:r>
            <a:r>
              <a:rPr lang="nl-NL" dirty="0"/>
              <a:t> </a:t>
            </a:r>
            <a:r>
              <a:rPr lang="nl-NL" dirty="0">
                <a:hlinkClick r:id="rId2"/>
              </a:rPr>
              <a:t>https://github.com/ENCCS/castiel-multi-gpu-ai</a:t>
            </a:r>
            <a:r>
              <a:rPr lang="nl-NL" dirty="0"/>
              <a:t> </a:t>
            </a:r>
          </a:p>
          <a:p>
            <a:pPr marL="536575" lvl="1" indent="-250825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A4AAF6-41DF-BE11-9851-408B6AEE3B2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17FF6C-67E1-7E93-8DB8-1470304C6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8072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B87B1-4D79-FE7F-4365-0C3E2530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26979-ABDF-64B1-7E2C-2EA3D18A0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1: run the serial MNIST classification code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FCEE3E-9520-B68A-8299-16435E3FFA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872922"/>
            <a:ext cx="10085311" cy="498440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You’ll find the serial code in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mnist_classify.py</a:t>
            </a:r>
            <a:r>
              <a:rPr lang="en-US" sz="18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First, create an interactive allocation with 2 GPUs: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salloc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--partition=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boost_usr_prod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--account=tra26_castiel2 --time=10:00 --nodes=1 --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ntasks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-per-node=2 --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gpus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-per-node=2 --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cpus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-per-task=8 --reservation=s_tra_castiel2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Load the software environment: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module load profile/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deeplrn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&amp;&amp; module load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cineca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-ai/4.3.0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Try to run the serial code: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srun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–n 1 python3 mnist_classify.py --batch-size 128 --epochs 5 --data-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$FAST/data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84AC40-5F74-66E5-21A3-C11AFCE78C12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E2593C-36DA-EF02-ADB9-21D6A763F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7500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6CC5E-589A-4D54-FFF0-33EA4D9E1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8E292-2529-8C6C-DE75-37525A1A8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2: implement DDP on serial MNIST classification code 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517572-0701-096F-2DE2-EFBC63C59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872922"/>
            <a:ext cx="10085311" cy="498440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Once you have a successful serial run, try to go through the 6 steps to alter the code to make things run in parallel. You can run your modified script on 2 GPUs using: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srun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–n 2 python3 &lt;my_DDP_script.py&gt; --batch-size 128 --epochs 5 --data-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$FAST/data</a:t>
            </a:r>
            <a:endParaRPr lang="en-US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Hint: Don’t forget to set the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MASTER_ADDR</a:t>
            </a:r>
            <a:r>
              <a:rPr lang="en-US" sz="1800" dirty="0"/>
              <a:t> and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MASTER_PORT</a:t>
            </a:r>
            <a:r>
              <a:rPr lang="en-US" sz="1800" dirty="0"/>
              <a:t>!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Hint2: to accurately time the code, add a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dist.barrier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1800" dirty="0"/>
              <a:t> </a:t>
            </a:r>
            <a:r>
              <a:rPr lang="en-US" sz="1800" i="1" dirty="0"/>
              <a:t>before</a:t>
            </a:r>
            <a:r>
              <a:rPr lang="en-US" sz="1800" dirty="0"/>
              <a:t> every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time.time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1800" dirty="0"/>
              <a:t> invocation. WARNING: you’d never to this in production runs, as unnecessary barriers may increase your overall computation time – this is just so we can time </a:t>
            </a:r>
            <a:r>
              <a:rPr lang="en-US" sz="1800" i="1" dirty="0"/>
              <a:t>this section </a:t>
            </a:r>
            <a:r>
              <a:rPr lang="en-US" sz="1800" dirty="0"/>
              <a:t>of the code accurately!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Do you see any speedup? How much? Is it enough to justify using 2 times more resources?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78FCCF-3D83-5C95-35FF-D68291829D4F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203C9A-30C8-2A06-381C-70B0393D0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2823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9CE1D-FB0D-68CD-B628-DFA530C36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91BD-7D1F-206B-0FAF-159BE22CF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Bonus Exercise 1: Try a scaling run on 1, 2, 4, and 8 GPUs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03C033-EAA3-CD22-9A88-6A96520386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872922"/>
            <a:ext cx="10085311" cy="498440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First, release your 2-GPU allocation from the previous exercise by running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exit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Then, create a job script for your 2-GPU run. List the same arguments to SLURM in your #SBATCH statements, then load the module environment, then launch your 2-GPU python script with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srun</a:t>
            </a:r>
            <a:r>
              <a:rPr lang="en-US" sz="18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Submit your job script and verify that it completes successfully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Now, scale up: alter your job script so that it runs on 4 and 8 GPUs. Note: we fewer nodes than students! The more students release their 2-GPU interactive allocation, the faster these jobs will be scheduled…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Determine the strong scaling speedup and efficiency on 1, 2, 4 and 8 GPUs and create a scaling plot. See </a:t>
            </a:r>
            <a:r>
              <a:rPr lang="en-US" sz="1800" dirty="0">
                <a:hlinkClick r:id="rId2"/>
              </a:rPr>
              <a:t>https://hpc-wiki.info/hpc/Scaling#Strong_Scaling</a:t>
            </a:r>
            <a:r>
              <a:rPr lang="en-US" sz="1800" dirty="0"/>
              <a:t> and </a:t>
            </a:r>
            <a:r>
              <a:rPr lang="en-US" sz="1800" dirty="0">
                <a:hlinkClick r:id="rId3"/>
              </a:rPr>
              <a:t>https://hpc-wiki.info/hpc/Scaling#Strong_Scaling_2</a:t>
            </a:r>
            <a:endParaRPr lang="en-US" sz="1800" dirty="0"/>
          </a:p>
          <a:p>
            <a:pPr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E78DB4-C8BF-76B2-5479-C4D9894FF919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7EA0B8-1806-0FA1-66BB-794B50E6E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1635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F3E0-50B3-A537-38FA-9FED599F8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68205-7A5D-CA83-D72C-B94DB0991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Bonus Exercises 2: Try to run with </a:t>
            </a:r>
            <a:r>
              <a:rPr lang="en-US" dirty="0" err="1"/>
              <a:t>torchrun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5E09E7-D683-BE6A-1566-3A76995202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872922"/>
            <a:ext cx="10085311" cy="498440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Check </a:t>
            </a:r>
            <a:r>
              <a:rPr lang="en-US" sz="1800" dirty="0">
                <a:hlinkClick r:id="rId2"/>
              </a:rPr>
              <a:t>https://pytorch.org/docs/stable/elastic/run.html</a:t>
            </a:r>
            <a:r>
              <a:rPr lang="en-US" sz="1800" dirty="0"/>
              <a:t> for the arguments to </a:t>
            </a:r>
            <a:r>
              <a:rPr lang="en-US" sz="1800" dirty="0" err="1"/>
              <a:t>torchrun</a:t>
            </a:r>
            <a:endParaRPr lang="en-US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You can use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head_node_ip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=$(hostname --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-address)</a:t>
            </a:r>
            <a:r>
              <a:rPr lang="en-US" sz="1800" dirty="0"/>
              <a:t> to get the IP of the head node of your allocation, and use that as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rdzv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-endpoint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You will need to set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OMP_NUM_THREADS</a:t>
            </a:r>
            <a:r>
              <a:rPr lang="en-US" sz="1800" dirty="0"/>
              <a:t>, otherwise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torchrun</a:t>
            </a:r>
            <a:r>
              <a:rPr lang="en-US" sz="1800" dirty="0"/>
              <a:t> uses only 1 thread for each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torchrun</a:t>
            </a:r>
            <a:r>
              <a:rPr lang="en-US" sz="1800" dirty="0"/>
              <a:t> process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To start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torchrun</a:t>
            </a:r>
            <a:r>
              <a:rPr lang="en-US" sz="1800" dirty="0"/>
              <a:t> on multiple nodes, you’d need to wrap it in an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srun</a:t>
            </a:r>
            <a:r>
              <a:rPr lang="en-US" sz="1800" dirty="0"/>
              <a:t> statement. Hint: think about how many tasks per node you’d want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srun</a:t>
            </a:r>
            <a:r>
              <a:rPr lang="en-US" sz="1800" dirty="0"/>
              <a:t> to start and make sure to set that number through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#SBATCH --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ntasks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-per-node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How much performance do you get? How does that compare to what you started with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srun</a:t>
            </a:r>
            <a:r>
              <a:rPr lang="en-US" sz="1800" dirty="0"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42B948-D9A2-24B6-DDBB-83E71123C38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23A924-9B0F-8B18-CC2F-4A49B48FA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42729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0182-F7A7-18B8-88F2-B2F711B84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4BB23-B0FD-FDE5-37D6-84F605E9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Bonus Exercises 3: Try a scaling run on 1, 2, 4, and 8 GPUs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0FBFC5-5A8F-E72B-82E8-EC64AA8C9A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872922"/>
            <a:ext cx="10085311" cy="498440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Try different reduction algorithms by setting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NCCL_ALGO</a:t>
            </a:r>
            <a:r>
              <a:rPr lang="en-US" sz="1800" dirty="0"/>
              <a:t>, see </a:t>
            </a:r>
            <a:r>
              <a:rPr lang="en-US" sz="1800" dirty="0">
                <a:hlinkClick r:id="rId2"/>
              </a:rPr>
              <a:t>https://docs.nvidia.com/deeplearning/nccl/user-guide/docs/env.html#nccl-algo</a:t>
            </a:r>
            <a:r>
              <a:rPr lang="en-US" sz="1800" dirty="0"/>
              <a:t> . Do you see any performance difference? Why (not)?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243702-150C-1D77-4A74-345667851AC1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6EB3E2-A238-B863-F77B-E0B8254C2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7305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CC26A-7103-EFEB-2C08-3B0D8D34B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C17D3-3F87-CBEA-1A8D-9442236D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Recap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F38187-072E-7A96-4D4F-C326AFA50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1: Constructing the process group =&gt; Make sure processes can </a:t>
            </a:r>
            <a:r>
              <a:rPr lang="en-US" u="sng" dirty="0"/>
              <a:t>work together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2: Constructing the DDP model =&gt; Make sure </a:t>
            </a:r>
            <a:r>
              <a:rPr lang="en-US" dirty="0" err="1"/>
              <a:t>PyTorch</a:t>
            </a:r>
            <a:r>
              <a:rPr lang="en-US" dirty="0"/>
              <a:t> automatically </a:t>
            </a:r>
            <a:r>
              <a:rPr lang="en-US" u="sng" dirty="0"/>
              <a:t>aggregates</a:t>
            </a:r>
            <a:r>
              <a:rPr lang="en-US" dirty="0"/>
              <a:t> </a:t>
            </a:r>
            <a:r>
              <a:rPr lang="en-US" u="sng" dirty="0"/>
              <a:t>gradients</a:t>
            </a:r>
            <a:r>
              <a:rPr lang="en-US" dirty="0"/>
              <a:t> before model update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3: Distributing input data =&gt; Make sure each worker sees a </a:t>
            </a:r>
            <a:r>
              <a:rPr lang="en-US" u="sng" dirty="0"/>
              <a:t>different part of the data </a:t>
            </a:r>
            <a:r>
              <a:rPr lang="en-US" dirty="0"/>
              <a:t>(i.e. does </a:t>
            </a:r>
            <a:r>
              <a:rPr lang="en-US" i="1" dirty="0"/>
              <a:t>different </a:t>
            </a:r>
            <a:r>
              <a:rPr lang="en-US" dirty="0"/>
              <a:t>work)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4: Send data to correct GPU =&gt; Make sure our </a:t>
            </a:r>
            <a:r>
              <a:rPr lang="en-US" u="sng" dirty="0"/>
              <a:t>data</a:t>
            </a:r>
            <a:r>
              <a:rPr lang="en-US" dirty="0"/>
              <a:t> goes to the </a:t>
            </a:r>
            <a:r>
              <a:rPr lang="en-US" u="sng" dirty="0"/>
              <a:t>same GPU</a:t>
            </a:r>
            <a:r>
              <a:rPr lang="en-US" dirty="0"/>
              <a:t> as our </a:t>
            </a:r>
            <a:r>
              <a:rPr lang="en-US" u="sng" dirty="0"/>
              <a:t>model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5: Alter saving model checkpoint (optional)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Step 6: Running the code: spawning multiple processes =&gt; If we want multiple processes to work together, we need to </a:t>
            </a:r>
            <a:r>
              <a:rPr lang="en-US" u="sng" dirty="0"/>
              <a:t>start multiple processes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9B9446-A7FD-DD07-0282-CDD9B3D7858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179E7C-7771-D743-DACB-5B59EB3C6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16842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E2DA9-46FE-4EEB-BC47-05F9F79A6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C51FC-20E0-4205-3C37-AE76EB723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Recap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107208-CF4C-2AF6-5303-63815101C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145098"/>
            <a:ext cx="8974163" cy="4712231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Understand…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What</a:t>
            </a:r>
            <a:r>
              <a:rPr lang="nl-NL" dirty="0"/>
              <a:t> data-parallel training </a:t>
            </a:r>
            <a:r>
              <a:rPr lang="nl-NL" i="1" dirty="0"/>
              <a:t>is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How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use</a:t>
            </a:r>
            <a:r>
              <a:rPr lang="nl-NL" dirty="0"/>
              <a:t> </a:t>
            </a:r>
            <a:r>
              <a:rPr lang="nl-NL" dirty="0" err="1"/>
              <a:t>PyTorch</a:t>
            </a:r>
            <a:r>
              <a:rPr lang="nl-NL" dirty="0"/>
              <a:t> Distributed Data Parallel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(A </a:t>
            </a:r>
            <a:r>
              <a:rPr lang="nl-NL" dirty="0" err="1"/>
              <a:t>little</a:t>
            </a:r>
            <a:r>
              <a:rPr lang="nl-NL" dirty="0"/>
              <a:t> of )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PyTorch</a:t>
            </a:r>
            <a:r>
              <a:rPr lang="nl-NL" dirty="0"/>
              <a:t> DDP does ‘</a:t>
            </a:r>
            <a:r>
              <a:rPr lang="nl-NL" dirty="0" err="1"/>
              <a:t>under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hood</a:t>
            </a:r>
            <a:r>
              <a:rPr lang="nl-NL" dirty="0"/>
              <a:t>’</a:t>
            </a:r>
          </a:p>
          <a:p>
            <a:pPr marL="285750" lvl="1" indent="0">
              <a:buNone/>
            </a:pPr>
            <a:endParaRPr lang="nl-NL" dirty="0"/>
          </a:p>
          <a:p>
            <a:pPr marL="536575" lvl="1" indent="-250825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91B0AA-D64A-9D3C-63DB-40A4B682762D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B8D1D5-B2E0-B3BB-1186-55CA7C839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D0FE45-509C-4BDF-9EDE-64426F8DF3D2}" type="slidenum">
              <a:rPr kumimoji="0" lang="nl-NL" sz="12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nl-NL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7114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CE630-FAE5-E3D2-284F-269645073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8D809-3AEC-B0C1-6055-1E59C7C9E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2823B5-6D6F-F1E6-405A-4313F745E5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872922"/>
            <a:ext cx="10085311" cy="498440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How to train LLMs at (very) large scale: </a:t>
            </a:r>
            <a:r>
              <a:rPr lang="en-US" sz="1800" dirty="0">
                <a:hlinkClick r:id="rId2"/>
              </a:rPr>
              <a:t>https://huggingface.co/spaces/nanotron/ultrascale-playbook</a:t>
            </a:r>
            <a:r>
              <a:rPr lang="en-US" sz="1800" dirty="0"/>
              <a:t>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3A28E6-795E-E8F8-A1E0-A0838A072562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571573-F3D8-0A5F-2F7E-49EA8E71B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00682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3964</Words>
  <Application>Microsoft Office PowerPoint</Application>
  <PresentationFormat>Widescreen</PresentationFormat>
  <Paragraphs>485</Paragraphs>
  <Slides>44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1" baseType="lpstr">
      <vt:lpstr>Aptos</vt:lpstr>
      <vt:lpstr>Arial</vt:lpstr>
      <vt:lpstr>Calibri</vt:lpstr>
      <vt:lpstr>Cambria Math</vt:lpstr>
      <vt:lpstr>Courier New</vt:lpstr>
      <vt:lpstr>Wingdings</vt:lpstr>
      <vt:lpstr>SURF</vt:lpstr>
      <vt:lpstr>PowerPoint Presentation</vt:lpstr>
      <vt:lpstr>Material</vt:lpstr>
      <vt:lpstr>Goal</vt:lpstr>
      <vt:lpstr>Parallelization: why?</vt:lpstr>
      <vt:lpstr>Parallelization: why?</vt:lpstr>
      <vt:lpstr>But before we go parallel…</vt:lpstr>
      <vt:lpstr>Parallelization: when?</vt:lpstr>
      <vt:lpstr>Parallelization: the basics</vt:lpstr>
      <vt:lpstr>Parallelization: the basics</vt:lpstr>
      <vt:lpstr>Parallelization: the basics</vt:lpstr>
      <vt:lpstr>Parallelization: the basics</vt:lpstr>
      <vt:lpstr>Types of parallelization</vt:lpstr>
      <vt:lpstr>Data Parallelism</vt:lpstr>
      <vt:lpstr>Distributed Data Parallel</vt:lpstr>
      <vt:lpstr>How does PyTorch aggregate gradients?</vt:lpstr>
      <vt:lpstr>An AllReduce algorithm</vt:lpstr>
      <vt:lpstr>So: what algorithm does PyTorch use?</vt:lpstr>
      <vt:lpstr>So: what communication backend should I use?</vt:lpstr>
      <vt:lpstr>Why NCCL is the best backend for Nvidia GPUs</vt:lpstr>
      <vt:lpstr>Intermezzo: why the PyTorch dispatcher is a blessing (and a curse)</vt:lpstr>
      <vt:lpstr>Intermezzo: why the PyTorch dispatcher is a blessing (and a curse)</vt:lpstr>
      <vt:lpstr>DataParallel vs DistributedDataParallel</vt:lpstr>
      <vt:lpstr>How to go from regular PyTorch code to PyTorch with DDP</vt:lpstr>
      <vt:lpstr>Assumptions in this tutorial</vt:lpstr>
      <vt:lpstr>Step 1a: Constructing the process group</vt:lpstr>
      <vt:lpstr>Step 1b: Constructing the process group</vt:lpstr>
      <vt:lpstr>Step 2: Constructing the DDP model</vt:lpstr>
      <vt:lpstr>Step 3a: Distributing input data</vt:lpstr>
      <vt:lpstr>Step 3b: Distributing input data</vt:lpstr>
      <vt:lpstr>Step 4: Send data to correct GPU </vt:lpstr>
      <vt:lpstr>Step 5: Alter saving model checkpoint (optional) </vt:lpstr>
      <vt:lpstr>Step 6a: Running the code: spawning multiple processes</vt:lpstr>
      <vt:lpstr>Step 6b: Running the code: spawning multiple processes</vt:lpstr>
      <vt:lpstr>Step 6b: Running the code: spawning multiple processes</vt:lpstr>
      <vt:lpstr>Step 6: Running the code: spawning multiple processes</vt:lpstr>
      <vt:lpstr>Material</vt:lpstr>
      <vt:lpstr>Exercise 1: run the serial MNIST classification code</vt:lpstr>
      <vt:lpstr>Exercise 2: implement DDP on serial MNIST classification code </vt:lpstr>
      <vt:lpstr>Bonus Exercise 1: Try a scaling run on 1, 2, 4, and 8 GPUs</vt:lpstr>
      <vt:lpstr>Bonus Exercises 2: Try to run with torchrun</vt:lpstr>
      <vt:lpstr>Bonus Exercises 3: Try a scaling run on 1, 2, 4, and 8 GPUs</vt:lpstr>
      <vt:lpstr>Recap</vt:lpstr>
      <vt:lpstr>Recap</vt:lpstr>
      <vt:lpstr>Further reading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Caspar van Leeuwen</dc:creator>
  <cp:lastModifiedBy>Caspar van Leeuwen</cp:lastModifiedBy>
  <cp:revision>101</cp:revision>
  <dcterms:created xsi:type="dcterms:W3CDTF">2025-02-24T18:08:26Z</dcterms:created>
  <dcterms:modified xsi:type="dcterms:W3CDTF">2026-01-29T14:43:34Z</dcterms:modified>
</cp:coreProperties>
</file>